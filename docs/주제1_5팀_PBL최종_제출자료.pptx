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0" d="100"/>
          <a:sy n="100" d="100"/>
        </p:scale>
        <p:origin x="408" y="51"/>
      </p:cViewPr>
      <p:guideLst>
        <p:guide orient="horz" pos="2157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4400" b="1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MOBIUS BOOTCAMP 1기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800" b="0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PBL 결과발표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003366"/>
                </a:solidFill>
              </a:defRPr>
            </a:pP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PBL 1 ISO26262 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5651"/>
            <a:ext cx="10972800" cy="440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200" b="0">
                <a:solidFill>
                  <a:srgbClr val="333333"/>
                </a:solidFill>
              </a:defRPr>
            </a:pPr>
            <a:r>
              <a:rPr lang="ko-KR" altLang="en-US" sz="2300">
                <a:solidFill>
                  <a:srgbClr val="000000"/>
                </a:solidFill>
                <a:latin typeface="현대하모니 M"/>
                <a:ea typeface="현대하모니 M"/>
              </a:rPr>
              <a:t>ISO 26262  </a:t>
            </a:r>
            <a:r>
              <a:rPr lang="en-US" altLang="ko-KR" sz="2300">
                <a:solidFill>
                  <a:srgbClr val="000000"/>
                </a:solidFill>
                <a:latin typeface="현대하모니 M"/>
                <a:ea typeface="현대하모니 M"/>
              </a:rPr>
              <a:t>Child Lock </a:t>
            </a:r>
            <a:r>
              <a:rPr lang="ko-KR" altLang="en-US" sz="2300">
                <a:solidFill>
                  <a:srgbClr val="000000"/>
                </a:solidFill>
                <a:latin typeface="현대하모니 M"/>
                <a:ea typeface="현대하모니 M"/>
              </a:rPr>
              <a:t>SW 시뮬레이션 프로젝트</a:t>
            </a:r>
            <a:endParaRPr lang="ko-KR" altLang="en-US" sz="2300">
              <a:solidFill>
                <a:srgbClr val="000000"/>
              </a:solidFill>
              <a:latin typeface="현대하모니 M"/>
              <a:ea typeface="현대하모니 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400" b="0">
                <a:solidFill>
                  <a:srgbClr val="808080"/>
                </a:solidFill>
              </a:defRPr>
            </a:pPr>
            <a:r>
              <a:rPr lang="ko-KR" altLang="en-US" sz="1600" b="1">
                <a:solidFill>
                  <a:schemeClr val="dk1"/>
                </a:solidFill>
                <a:latin typeface="현대하모니 B"/>
                <a:ea typeface="현대하모니 B"/>
              </a:rPr>
              <a:t>2026. 03. 2</a:t>
            </a:r>
            <a:r>
              <a:rPr lang="en-US" altLang="ko-KR" sz="1600" b="1">
                <a:solidFill>
                  <a:schemeClr val="dk1"/>
                </a:solidFill>
                <a:latin typeface="현대하모니 B"/>
                <a:ea typeface="현대하모니 B"/>
              </a:rPr>
              <a:t>3</a:t>
            </a:r>
            <a:endParaRPr lang="en-US" altLang="ko-KR" sz="1600" b="1">
              <a:solidFill>
                <a:schemeClr val="dk1"/>
              </a:solidFill>
              <a:latin typeface="현대하모니 B"/>
              <a:ea typeface="현대하모니 B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 sz="1000" b="0">
                <a:solidFill>
                  <a:srgbClr val="808080"/>
                </a:solidFill>
              </a:defRPr>
            </a:pP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현대모비스 </a:t>
            </a:r>
            <a:r>
              <a:rPr lang="ko-KR" altLang="en-US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x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LIKELION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4252939"/>
            <a:ext cx="3549276" cy="2650518"/>
          </a:xfrm>
          <a:prstGeom prst="rect">
            <a:avLst/>
          </a:prstGeom>
          <a:noFill/>
        </p:spPr>
      </p:pic>
      <p:sp>
        <p:nvSpPr>
          <p:cNvPr id="15" name="TextBox 7"/>
          <p:cNvSpPr txBox="1"/>
          <p:nvPr/>
        </p:nvSpPr>
        <p:spPr>
          <a:xfrm>
            <a:off x="457200" y="4572000"/>
            <a:ext cx="10972800" cy="56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3200" b="1">
                <a:solidFill>
                  <a:srgbClr val="333333"/>
                </a:solidFill>
              </a:defRPr>
            </a:pPr>
            <a:r>
              <a:rPr lang="ko-KR" altLang="en-US" b="0">
                <a:solidFill>
                  <a:schemeClr val="dk1"/>
                </a:solidFill>
                <a:latin typeface="현대하모니 B"/>
                <a:ea typeface="현대하모니 B"/>
              </a:rPr>
              <a:t>팀명 </a:t>
            </a:r>
            <a:r>
              <a:rPr lang="en-US" altLang="ko-KR" b="0">
                <a:solidFill>
                  <a:schemeClr val="dk1"/>
                </a:solidFill>
                <a:latin typeface="현대하모니 B"/>
                <a:ea typeface="현대하모니 B"/>
              </a:rPr>
              <a:t>:</a:t>
            </a:r>
            <a:r>
              <a:rPr lang="ko-KR" altLang="en-US" b="0">
                <a:solidFill>
                  <a:schemeClr val="dk1"/>
                </a:solidFill>
                <a:latin typeface="현대하모니 B"/>
                <a:ea typeface="현대하모니 B"/>
              </a:rPr>
              <a:t> 전차</a:t>
            </a:r>
            <a:endParaRPr lang="en-US" altLang="ko-KR" b="0">
              <a:solidFill>
                <a:schemeClr val="dk1"/>
              </a:solidFill>
              <a:latin typeface="현대하모니 L"/>
              <a:ea typeface="현대하모니 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01. 팀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소개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2/10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7408" y="1207008"/>
            <a:ext cx="3749039" cy="731520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0560" y="1261872"/>
            <a:ext cx="360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FFFFFF"/>
                </a:solidFill>
                <a:latin typeface="Malgun Gothic"/>
              </a:rPr>
              <a:t>이한결</a:t>
            </a:r>
            <a:endParaRPr sz="16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0560" y="1609344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E5FF"/>
                </a:solidFill>
                <a:latin typeface="Malgun Gothic"/>
              </a:rPr>
              <a:t>@hangyeoli  |  </a:t>
            </a:r>
            <a:r>
              <a:rPr sz="1100" b="0" dirty="0" err="1">
                <a:solidFill>
                  <a:srgbClr val="CCE5FF"/>
                </a:solidFill>
                <a:latin typeface="Malgun Gothic"/>
              </a:rPr>
              <a:t>프로젝트</a:t>
            </a:r>
            <a:r>
              <a:rPr sz="1100" b="0" dirty="0">
                <a:solidFill>
                  <a:srgbClr val="CCE5FF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CCE5FF"/>
                </a:solidFill>
                <a:latin typeface="Malgun Gothic"/>
              </a:rPr>
              <a:t>메인테이너</a:t>
            </a:r>
            <a:r>
              <a:rPr sz="1100" b="0" dirty="0">
                <a:solidFill>
                  <a:srgbClr val="CCE5FF"/>
                </a:solidFill>
                <a:latin typeface="Malgun Gothic"/>
              </a:rPr>
              <a:t> &amp; F-01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408" y="1938528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8848" y="1984248"/>
            <a:ext cx="35661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357E"/>
                </a:solidFill>
                <a:latin typeface="Malgun Gothic"/>
              </a:rPr>
              <a:t>F-01 </a:t>
            </a:r>
            <a:r>
              <a:rPr sz="1400" b="1" dirty="0" err="1">
                <a:solidFill>
                  <a:srgbClr val="00357E"/>
                </a:solidFill>
                <a:latin typeface="Malgun Gothic"/>
              </a:rPr>
              <a:t>InputMonitorAndValidator</a:t>
            </a:r>
            <a:endParaRPr sz="1400" b="1" dirty="0">
              <a:solidFill>
                <a:srgbClr val="00357E"/>
              </a:solidFill>
              <a:latin typeface="Malgun Gothi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7136" y="2441448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전체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Issues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생성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관리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(Issue #4~#13)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36" y="2697480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CMake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빌드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구성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(PR#17)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36" y="2953512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A1A2E"/>
                </a:solidFill>
                <a:latin typeface="Malgun Gothic"/>
              </a:rPr>
              <a:t>• Scope Fix &amp;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CTest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(PR#26)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5319" y="1207008"/>
            <a:ext cx="3749039" cy="7315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4278471" y="1261872"/>
            <a:ext cx="360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 dirty="0" err="1">
                <a:solidFill>
                  <a:srgbClr val="FFFFFF"/>
                </a:solidFill>
                <a:latin typeface="맑은 고딕"/>
              </a:rPr>
              <a:t>김이안</a:t>
            </a:r>
            <a:endParaRPr sz="1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78471" y="1609344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CCE5FF"/>
                </a:solidFill>
                <a:latin typeface="맑은 고딕"/>
              </a:rPr>
              <a:t>@iank1m  |  상태 결정 로직 개발자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5319" y="1938528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296759" y="1984248"/>
            <a:ext cx="35661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1">
                <a:solidFill>
                  <a:srgbClr val="005BB5"/>
                </a:solidFill>
                <a:latin typeface="맑은 고딕"/>
              </a:rPr>
              <a:t>F-02 ChildLockStateDecision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047" y="2441448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차일드락 핵심 상태 전이 로직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047" y="2697480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단독 구현 (PR#14)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047" y="2953512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ISO 26262 ASIL 설계 반영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3232" y="1207008"/>
            <a:ext cx="3749039" cy="731520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8146384" y="1261872"/>
            <a:ext cx="360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박찬석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6384" y="1609344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CCE5FF"/>
                </a:solidFill>
                <a:latin typeface="맑은 고딕"/>
              </a:rPr>
              <a:t>@p-chanseok  |  TDD 기반 제어 로직 개발자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73232" y="1938528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8164672" y="1984248"/>
            <a:ext cx="35661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1">
                <a:solidFill>
                  <a:srgbClr val="00357E"/>
                </a:solidFill>
                <a:latin typeface="맑은 고딕"/>
              </a:rPr>
              <a:t>F-03 DoorEcuCommandHandler</a:t>
            </a:r>
          </a:p>
          <a:p>
            <a:pPr lvl="0" algn="l">
              <a:defRPr/>
            </a:pPr>
            <a:r>
              <a:rPr sz="1400" b="1">
                <a:solidFill>
                  <a:srgbClr val="00357E"/>
                </a:solidFill>
                <a:latin typeface="맑은 고딕"/>
              </a:rPr>
              <a:t>F-04 RearDoorOpenBlockHandler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2959" y="2614292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 dirty="0">
                <a:solidFill>
                  <a:srgbClr val="1A1A2E"/>
                </a:solidFill>
                <a:latin typeface="맑은 고딕"/>
              </a:rPr>
              <a:t>• TDD </a:t>
            </a:r>
            <a:r>
              <a:rPr sz="1100" b="1" dirty="0" err="1">
                <a:solidFill>
                  <a:srgbClr val="1A1A2E"/>
                </a:solidFill>
                <a:latin typeface="맑은 고딕"/>
              </a:rPr>
              <a:t>방식</a:t>
            </a:r>
            <a:r>
              <a:rPr sz="1100" b="1" dirty="0">
                <a:solidFill>
                  <a:srgbClr val="1A1A2E"/>
                </a:solidFill>
                <a:latin typeface="맑은 고딕"/>
              </a:rPr>
              <a:t> Door ECU </a:t>
            </a:r>
            <a:r>
              <a:rPr sz="1100" b="1" dirty="0" err="1">
                <a:solidFill>
                  <a:srgbClr val="1A1A2E"/>
                </a:solidFill>
                <a:latin typeface="맑은 고딕"/>
              </a:rPr>
              <a:t>제어</a:t>
            </a:r>
            <a:r>
              <a:rPr sz="1100" b="1" dirty="0">
                <a:solidFill>
                  <a:srgbClr val="1A1A2E"/>
                </a:solidFill>
                <a:latin typeface="맑은 고딕"/>
              </a:rPr>
              <a:t> (PR#23)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2959" y="2863523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 dirty="0">
                <a:solidFill>
                  <a:srgbClr val="1A1A2E"/>
                </a:solidFill>
                <a:latin typeface="맑은 고딕"/>
              </a:rPr>
              <a:t>• 69/69 </a:t>
            </a:r>
            <a:r>
              <a:rPr sz="1100" b="1" dirty="0" err="1">
                <a:solidFill>
                  <a:srgbClr val="1A1A2E"/>
                </a:solidFill>
                <a:latin typeface="맑은 고딕"/>
              </a:rPr>
              <a:t>테스트</a:t>
            </a:r>
            <a:r>
              <a:rPr sz="1100" b="1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맑은 고딕"/>
              </a:rPr>
              <a:t>케이스</a:t>
            </a:r>
            <a:r>
              <a:rPr sz="1100" b="1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맑은 고딕"/>
              </a:rPr>
              <a:t>통과</a:t>
            </a:r>
            <a:r>
              <a:rPr sz="1100" b="1" dirty="0">
                <a:solidFill>
                  <a:srgbClr val="1A1A2E"/>
                </a:solidFill>
                <a:latin typeface="맑은 고딕"/>
              </a:rPr>
              <a:t> (PR#22)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408" y="3648456"/>
            <a:ext cx="3749039" cy="7315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0560" y="3703320"/>
            <a:ext cx="360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Malgun Gothic"/>
              </a:rPr>
              <a:t>이승욱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0560" y="4050792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E5FF"/>
                </a:solidFill>
                <a:latin typeface="Malgun Gothic"/>
              </a:rPr>
              <a:t>@josephuk77  |  상태 유지 &amp; 알림 개발자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7408" y="4379976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8848" y="4425696"/>
            <a:ext cx="35661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BB5"/>
                </a:solidFill>
                <a:latin typeface="Malgun Gothic"/>
              </a:rPr>
              <a:t>F-05 StatePersistenceManager
F-10 IgnitionOffStatusAlert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135" y="5135808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상태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저장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/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복구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및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시동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OFF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알림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(PR#19, #20)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0560" y="5418826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algun Gothic"/>
              </a:rPr>
              <a:t>• UML 다이어그램 문서화 (Issue#1/PR#2)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5319" y="3648456"/>
            <a:ext cx="3749039" cy="731520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4278471" y="3703320"/>
            <a:ext cx="360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김도균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8471" y="4050792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CCE5FF"/>
                </a:solidFill>
                <a:latin typeface="맑은 고딕"/>
              </a:rPr>
              <a:t>@codingSkeleton6478  |  HMI &amp; 좌석 알림 개발자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5319" y="4379976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4296759" y="4425696"/>
            <a:ext cx="35661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00357E"/>
                </a:solidFill>
                <a:latin typeface="맑은 고딕"/>
              </a:rPr>
              <a:t>F-06 HmiAndEventLogger</a:t>
            </a:r>
          </a:p>
          <a:p>
            <a:pPr lvl="0" algn="l">
              <a:defRPr/>
            </a:pPr>
            <a:r>
              <a:rPr sz="1600" b="1">
                <a:solidFill>
                  <a:srgbClr val="00357E"/>
                </a:solidFill>
                <a:latin typeface="맑은 고딕"/>
              </a:rPr>
              <a:t>F-09 RearSeatOccupancyAlert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78471" y="5177510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경고/알림 HMI 출력 로직 (PR#24)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5047" y="5435548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이벤트 로거 구현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73232" y="3648456"/>
            <a:ext cx="3749039" cy="7315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8146384" y="3703320"/>
            <a:ext cx="360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박기준 (팀장)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46384" y="4050792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CCE5FF"/>
                </a:solidFill>
                <a:latin typeface="맑은 고딕"/>
              </a:rPr>
              <a:t>@PKJthecreator  |  PM &amp; Safety 모듈 개발자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73232" y="4379976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7" name="TextBox 66"/>
          <p:cNvSpPr txBox="1"/>
          <p:nvPr/>
        </p:nvSpPr>
        <p:spPr>
          <a:xfrm>
            <a:off x="8164672" y="4425696"/>
            <a:ext cx="35661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 dirty="0">
                <a:solidFill>
                  <a:srgbClr val="005BB5"/>
                </a:solidFill>
                <a:latin typeface="맑은 고딕"/>
              </a:rPr>
              <a:t>F-07 </a:t>
            </a:r>
            <a:r>
              <a:rPr sz="1600" b="1" dirty="0" err="1">
                <a:solidFill>
                  <a:srgbClr val="005BB5"/>
                </a:solidFill>
                <a:latin typeface="맑은 고딕"/>
              </a:rPr>
              <a:t>RearRiskEvaluation</a:t>
            </a:r>
            <a:endParaRPr sz="1600" b="1" dirty="0">
              <a:solidFill>
                <a:srgbClr val="005BB5"/>
              </a:solidFill>
              <a:latin typeface="맑은 고딕"/>
            </a:endParaRPr>
          </a:p>
          <a:p>
            <a:pPr lvl="0" algn="l">
              <a:defRPr/>
            </a:pPr>
            <a:r>
              <a:rPr sz="1600" b="1" dirty="0">
                <a:solidFill>
                  <a:srgbClr val="005BB5"/>
                </a:solidFill>
                <a:latin typeface="맑은 고딕"/>
              </a:rPr>
              <a:t>F-08 </a:t>
            </a:r>
            <a:r>
              <a:rPr sz="1600" b="1" dirty="0" err="1">
                <a:solidFill>
                  <a:srgbClr val="005BB5"/>
                </a:solidFill>
                <a:latin typeface="맑은 고딕"/>
              </a:rPr>
              <a:t>RearRiskProtectionController</a:t>
            </a:r>
            <a:endParaRPr sz="1600" b="1" dirty="0">
              <a:solidFill>
                <a:srgbClr val="005BB5"/>
              </a:solidFill>
              <a:latin typeface="맑은 고딕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182959" y="5181974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후방 위험 평가/보호 핵심 ASIL B 로직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46384" y="5458631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(PR#15, PR#16) + PM 총괄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02.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정의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FFF0F0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3C3C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AS-IS (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현재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▪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문제점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1: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기계식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차일드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락의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수동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제어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불편</a:t>
            </a:r>
            <a:endParaRPr sz="1600" b="1" dirty="0">
              <a:solidFill>
                <a:srgbClr val="1A1A2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운전자가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뒷좌석에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직접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접근하여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개별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조작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필요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→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운전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중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불가</a:t>
            </a:r>
            <a:endParaRPr sz="1200" b="0" dirty="0">
              <a:solidFill>
                <a:srgbClr val="1A1A2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▪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문제점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2: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사고·충돌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발생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시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뒷좌석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탈출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지연</a:t>
            </a:r>
            <a:endParaRPr sz="1600" b="1" dirty="0">
              <a:solidFill>
                <a:srgbClr val="1A1A2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기계식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잠금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시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비상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해제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수단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없어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인명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피해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위험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가중</a:t>
            </a:r>
            <a:endParaRPr sz="1200" b="0" dirty="0">
              <a:solidFill>
                <a:srgbClr val="1A1A2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▪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문제점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3: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후방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위험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접근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정보와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하차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안전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연동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부재</a:t>
            </a:r>
            <a:endParaRPr sz="1600" b="1" dirty="0">
              <a:solidFill>
                <a:srgbClr val="1A1A2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후방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이륜차·차량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접근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중에도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뒷좌석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문이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열릴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수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있어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사고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위험</a:t>
            </a:r>
            <a:endParaRPr sz="1200" b="0" dirty="0">
              <a:solidFill>
                <a:srgbClr val="1A1A2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▪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문제점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4: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점화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OFF 시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차일드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락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상태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인지</a:t>
            </a:r>
            <a:r>
              <a:rPr sz="1600" b="1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부재</a:t>
            </a:r>
            <a:endParaRPr sz="1600" b="1" dirty="0">
              <a:solidFill>
                <a:srgbClr val="1A1A2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하차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직전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잠금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상태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미인지로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아이가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내부에서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열기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불가</a:t>
            </a:r>
            <a:endParaRPr sz="1200" b="0" dirty="0">
              <a:solidFill>
                <a:srgbClr val="1A1A2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5852160" y="2194560"/>
            <a:ext cx="548640" cy="4572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303520" cy="256032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C8C3C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TO-BE (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목표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9377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✔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목표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1: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전자식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통합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차일드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락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제어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(FG-01)</a:t>
            </a:r>
          </a:p>
          <a:p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운전석에서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원버튼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ON/OFF +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속도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기반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자동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잠금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(≥15 km/h)</a:t>
            </a:r>
          </a:p>
          <a:p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✔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목표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2: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사고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시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즉각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자동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해제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(ASIL B, FG-01)</a:t>
            </a:r>
          </a:p>
          <a:p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충돌·에어백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신호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동시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감지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시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비상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해제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최우선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수행</a:t>
            </a:r>
            <a:endParaRPr sz="1200" b="0" dirty="0">
              <a:solidFill>
                <a:srgbClr val="1A1A2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✔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목표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3: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후방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위험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연동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자동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보호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(FG-02)</a:t>
            </a:r>
          </a:p>
          <a:p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후방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레이더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연동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—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위험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감지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시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자동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잠금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유지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&amp;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운전자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경고</a:t>
            </a:r>
            <a:endParaRPr sz="1200" b="0" dirty="0">
              <a:solidFill>
                <a:srgbClr val="1A1A2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✔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목표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4: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시동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OFF /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출발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시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상태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알림</a:t>
            </a:r>
            <a:r>
              <a:rPr sz="1600" b="1" dirty="0">
                <a:solidFill>
                  <a:srgbClr val="005BB5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(FG-02)</a:t>
            </a:r>
          </a:p>
          <a:p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점화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OFF 및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출발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시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뒷좌석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점유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+ CL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상태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1회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운전자</a:t>
            </a:r>
            <a:r>
              <a:rPr sz="1200" b="0" dirty="0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200" b="0" dirty="0" err="1">
                <a:solidFill>
                  <a:srgbClr val="1A1A2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알림</a:t>
            </a:r>
            <a:endParaRPr sz="1200" b="0" dirty="0">
              <a:solidFill>
                <a:srgbClr val="1A1A2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33856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핵심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연구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질문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ISO 26262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안전을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준수하면서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승객의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편의성과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하차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안전을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모두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충족하는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
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지능형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차일드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락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제어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시스템을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어떻게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설계·구현·검증할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것인가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?
→ V-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SRS↔SDD↔Code↔Test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양방향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추적성으로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답한다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03. 솔루션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1371600"/>
          </a:xfrm>
          <a:prstGeom prst="roundRect">
            <a:avLst>
              <a:gd name="adj" fmla="val 16667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200" b="1">
                <a:solidFill>
                  <a:srgbClr val="FFFFFF"/>
                </a:solidFill>
              </a:defRPr>
            </a:pPr>
            <a:r>
              <a:rPr lang="ko-KR" altLang="en-US" sz="24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지능형 센서 및 차량 상태 연동 제어 기반의 통합 하차 안전 솔루션 (FG-01 / FG-02)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200" b="0">
                <a:solidFill>
                  <a:srgbClr val="B4C8DC"/>
                </a:solidFill>
              </a:defRPr>
            </a:pPr>
            <a:r>
              <a:rPr lang="ko-KR" altLang="en-US" sz="16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C/C++ 기반 ISO 26262 및 FMEA/HAZOP 상위 기능 안전 분석 적용 모듈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239423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FG-01: 도어 잠금 및 해제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3200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속도, 충돌, 스위치 연동 로직 적용 및 직전 상태 복구(</a:t>
            </a:r>
            <a:r>
              <a:rPr lang="ko-KR" altLang="en-US"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Safe</a:t>
            </a: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State) 제어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Oval 13"/>
          <p:cNvSpPr/>
          <p:nvPr/>
        </p:nvSpPr>
        <p:spPr>
          <a:xfrm>
            <a:off x="566928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669280" y="324661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ko-KR" altLang="en-US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FG-02: 하차 안전 보조 제어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200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후방 위험 판단 시 자동 잠금 유지 및 뒷좌석 점유/출발 상태 전환 시 운전자 알림 연동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Oval 18"/>
          <p:cNvSpPr/>
          <p:nvPr/>
        </p:nvSpPr>
        <p:spPr>
          <a:xfrm>
            <a:off x="950976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9509760" y="3264634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2336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Fail-Safe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설계 및 테스트 결함 주입 (</a:t>
            </a:r>
            <a:r>
              <a:rPr lang="ko-KR" altLang="en-US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Injection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 방어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3200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FMEA/HAZOP 기반 요구사항 분석 적용 및 </a:t>
            </a:r>
            <a:r>
              <a:rPr lang="ko-KR" altLang="en-US"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</a:t>
            </a: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Injection</a:t>
            </a: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시나리오 방어를 통한 </a:t>
            </a:r>
            <a:r>
              <a:rPr lang="ko-KR" altLang="en-US"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Fail-Safe</a:t>
            </a: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 sz="1000" b="0">
                <a:solidFill>
                  <a:srgbClr val="808080"/>
                </a:solidFill>
              </a:defRPr>
            </a:pP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결과발표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04.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기술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스택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&amp;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아키텍처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772400" cy="5029200"/>
          </a:xfrm>
          <a:prstGeom prst="roundRect">
            <a:avLst/>
          </a:prstGeom>
          <a:solidFill>
            <a:srgbClr val="FCFCFC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0" y="1188720"/>
            <a:ext cx="3474720" cy="5029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rPr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C11, C++17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574593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rPr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868682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ISO 26262, ASPICE, V-Model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워크플로우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적용</a:t>
            </a:r>
            <a:endParaRPr sz="16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0" y="3493303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rPr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38408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Google Test,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Cppcheck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(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단위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및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정적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분석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89120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rPr sz="11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6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GitHub Actions (CI 자동화), Draw.io (UML)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212080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rPr sz="11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4068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6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Ubuntu 22.04 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5/10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5520" y="1234440"/>
            <a:ext cx="45272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시스템</a:t>
            </a:r>
            <a:r>
              <a:rPr sz="2000"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sz="2000"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다이어그램</a:t>
            </a:r>
            <a:r>
              <a:rPr sz="2000"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(State Diagram)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0589"/>
            <a:ext cx="7406640" cy="43163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>
                <a:latin typeface="현대하모니 M"/>
                <a:ea typeface="현대하모니 M"/>
              </a:rPr>
              <a:t>05. 구현 결과</a:t>
            </a:r>
            <a:endParaRPr>
              <a:latin typeface="현대하모니 M"/>
              <a:ea typeface="현대하모니 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 sz="1000" b="0">
                <a:solidFill>
                  <a:srgbClr val="808080"/>
                </a:solidFill>
              </a:defRPr>
            </a:pPr>
            <a:r>
              <a:rPr>
                <a:latin typeface="현대하모니 L"/>
                <a:ea typeface="현대하모니 L"/>
              </a:rPr>
              <a:t>MOBIUS BOOTCAMP 1기 | PBL 결과발표 | 6/10</a:t>
            </a:r>
            <a:endParaRPr>
              <a:latin typeface="현대하모니 L"/>
              <a:ea typeface="현대하모니 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96532" y="914400"/>
            <a:ext cx="5669280" cy="530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21" name="Rounded Rectangle 15"/>
          <p:cNvSpPr/>
          <p:nvPr/>
        </p:nvSpPr>
        <p:spPr>
          <a:xfrm>
            <a:off x="6323013" y="914400"/>
            <a:ext cx="5669280" cy="530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1"/>
          <p:cNvSpPr txBox="1"/>
          <p:nvPr/>
        </p:nvSpPr>
        <p:spPr>
          <a:xfrm>
            <a:off x="6643053" y="2514600"/>
            <a:ext cx="274320" cy="264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endParaRPr sz="1200" b="1">
              <a:solidFill>
                <a:srgbClr val="00c853"/>
              </a:solidFill>
              <a:latin typeface="Segoe UI Symbol"/>
            </a:endParaRPr>
          </a:p>
        </p:txBody>
      </p:sp>
      <p:sp>
        <p:nvSpPr>
          <p:cNvPr id="36" name="TextBox 29"/>
          <p:cNvSpPr txBox="1"/>
          <p:nvPr/>
        </p:nvSpPr>
        <p:spPr>
          <a:xfrm>
            <a:off x="6643053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endParaRPr sz="1200" b="1">
              <a:solidFill>
                <a:srgbClr val="00c853"/>
              </a:solidFill>
              <a:latin typeface="Segoe UI Symbol"/>
            </a:endParaRPr>
          </a:p>
        </p:txBody>
      </p:sp>
      <p:sp>
        <p:nvSpPr>
          <p:cNvPr id="40" name="TextBox 33"/>
          <p:cNvSpPr txBox="1"/>
          <p:nvPr/>
        </p:nvSpPr>
        <p:spPr>
          <a:xfrm>
            <a:off x="6643053" y="33375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endParaRPr sz="1200" b="1">
              <a:solidFill>
                <a:srgbClr val="00c853"/>
              </a:solidFill>
              <a:latin typeface="Segoe UI Symbol"/>
            </a:endParaRPr>
          </a:p>
        </p:txBody>
      </p:sp>
    </p:spTree>
    <p:extLst>
      <p:ext uri="{BB962C8B-B14F-4D97-AF65-F5344CB8AC3E}">
        <p14:creationId xmlns:p14="http://schemas.microsoft.com/office/powerpoint/2010/main" val="3421810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05.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구현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결과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6/10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8675D1-D43A-50C0-B9A6-C9EA8F8650EF}"/>
              </a:ext>
            </a:extLst>
          </p:cNvPr>
          <p:cNvSpPr/>
          <p:nvPr/>
        </p:nvSpPr>
        <p:spPr>
          <a:xfrm>
            <a:off x="196532" y="914400"/>
            <a:ext cx="5669280" cy="530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616D9-8B2C-933C-8150-E45F17402557}"/>
              </a:ext>
            </a:extLst>
          </p:cNvPr>
          <p:cNvSpPr txBox="1"/>
          <p:nvPr/>
        </p:nvSpPr>
        <p:spPr>
          <a:xfrm>
            <a:off x="196532" y="1051559"/>
            <a:ext cx="5669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2000" b="1" dirty="0" err="1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시뮬레이션</a:t>
            </a:r>
            <a:r>
              <a:rPr sz="2000" b="1" dirty="0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및 </a:t>
            </a:r>
            <a:r>
              <a:rPr sz="2000" b="1" dirty="0" err="1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</a:t>
            </a:r>
            <a:r>
              <a:rPr sz="2000" b="1" dirty="0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b="1" dirty="0" err="1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검증</a:t>
            </a:r>
            <a:endParaRPr sz="2000" b="1" dirty="0">
              <a:solidFill>
                <a:srgbClr val="001F54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58821658-EED0-D11F-E858-A778A9BAF840}"/>
              </a:ext>
            </a:extLst>
          </p:cNvPr>
          <p:cNvSpPr txBox="1"/>
          <p:nvPr/>
        </p:nvSpPr>
        <p:spPr>
          <a:xfrm>
            <a:off x="379412" y="1417320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GTest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프레임워크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140개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단위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통합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100%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통과</a:t>
            </a:r>
            <a:endParaRPr sz="1400" b="0" dirty="0">
              <a:solidFill>
                <a:srgbClr val="212529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 algn="l">
              <a:defRPr/>
            </a:pP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시뮬레이션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환경의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동적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입력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차속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센서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)에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따른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정상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전이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검증</a:t>
            </a:r>
            <a:endParaRPr sz="1400" b="0" dirty="0">
              <a:solidFill>
                <a:srgbClr val="212529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31769781-3DB5-D0D3-C38D-3C6D7CDD4203}"/>
              </a:ext>
            </a:extLst>
          </p:cNvPr>
          <p:cNvSpPr/>
          <p:nvPr/>
        </p:nvSpPr>
        <p:spPr>
          <a:xfrm>
            <a:off x="379412" y="2011680"/>
            <a:ext cx="5303520" cy="173736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166A76EA-25A2-882E-1882-D1F3AC836FFD}"/>
              </a:ext>
            </a:extLst>
          </p:cNvPr>
          <p:cNvSpPr/>
          <p:nvPr/>
        </p:nvSpPr>
        <p:spPr>
          <a:xfrm>
            <a:off x="470852" y="210312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32D4D187-AD91-D44E-2151-DF2CB66CC5C2}"/>
              </a:ext>
            </a:extLst>
          </p:cNvPr>
          <p:cNvSpPr/>
          <p:nvPr/>
        </p:nvSpPr>
        <p:spPr>
          <a:xfrm>
            <a:off x="653732" y="210312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A3E01DA6-5729-A2F3-309A-B6B7D37EEFC2}"/>
              </a:ext>
            </a:extLst>
          </p:cNvPr>
          <p:cNvSpPr/>
          <p:nvPr/>
        </p:nvSpPr>
        <p:spPr>
          <a:xfrm>
            <a:off x="836612" y="210312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D6597676-6CB4-546D-BF71-6217DC0D85BF}"/>
              </a:ext>
            </a:extLst>
          </p:cNvPr>
          <p:cNvSpPr txBox="1"/>
          <p:nvPr/>
        </p:nvSpPr>
        <p:spPr>
          <a:xfrm>
            <a:off x="470852" y="228599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100">
                <a:solidFill>
                  <a:srgbClr val="E0E0E0"/>
                </a:solidFill>
                <a:latin typeface="Consolas"/>
              </a:rPr>
              <a:t>[==========] Running 140 tests from 12 test suites.</a:t>
            </a:r>
          </a:p>
          <a:p>
            <a:pPr lvl="0">
              <a:defRPr/>
            </a:pPr>
            <a:endParaRPr sz="1100">
              <a:solidFill>
                <a:srgbClr val="E0E0E0"/>
              </a:solidFill>
              <a:latin typeface="Consolas"/>
            </a:endParaRPr>
          </a:p>
          <a:p>
            <a:pPr lvl="0">
              <a:defRPr/>
            </a:pPr>
            <a:r>
              <a:rPr sz="1100">
                <a:solidFill>
                  <a:srgbClr val="81C784"/>
                </a:solidFill>
                <a:latin typeface="Consolas"/>
              </a:rPr>
              <a:t>[  PASSED  ] </a:t>
            </a:r>
            <a:r>
              <a:rPr sz="1100">
                <a:solidFill>
                  <a:srgbClr val="E0E0E0"/>
                </a:solidFill>
                <a:latin typeface="Consolas"/>
              </a:rPr>
              <a:t>140 tests.</a:t>
            </a:r>
          </a:p>
          <a:p>
            <a:pPr lvl="0">
              <a:defRPr/>
            </a:pPr>
            <a:endParaRPr sz="1100">
              <a:solidFill>
                <a:srgbClr val="E0E0E0"/>
              </a:solidFill>
              <a:latin typeface="Consolas"/>
            </a:endParaRPr>
          </a:p>
          <a:p>
            <a:pPr lvl="0">
              <a:defRPr/>
            </a:pPr>
            <a:endParaRPr sz="1100">
              <a:solidFill>
                <a:srgbClr val="E0E0E0"/>
              </a:solidFill>
              <a:latin typeface="Consolas"/>
            </a:endParaRPr>
          </a:p>
          <a:p>
            <a:pPr lvl="0">
              <a:defRPr/>
            </a:pPr>
            <a:r>
              <a:rPr sz="1100">
                <a:solidFill>
                  <a:srgbClr val="E0E0E0"/>
                </a:solidFill>
                <a:latin typeface="Consolas"/>
              </a:rPr>
              <a:t>Coverage: 100% (Branch)</a:t>
            </a:r>
          </a:p>
          <a:p>
            <a:pPr lvl="0">
              <a:defRPr/>
            </a:pPr>
            <a:endParaRPr sz="1100">
              <a:solidFill>
                <a:srgbClr val="E0E0E0"/>
              </a:solidFill>
              <a:latin typeface="Consolas"/>
            </a:endParaRPr>
          </a:p>
          <a:p>
            <a:pPr lvl="0">
              <a:defRPr/>
            </a:pPr>
            <a:r>
              <a:rPr sz="1100">
                <a:solidFill>
                  <a:srgbClr val="E0E0E0"/>
                </a:solidFill>
                <a:latin typeface="Consolas"/>
              </a:rPr>
              <a:t>Cyclomatic Complexity Average: 7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23E869DD-D9D4-DB6D-770D-648A808E7973}"/>
              </a:ext>
            </a:extLst>
          </p:cNvPr>
          <p:cNvSpPr/>
          <p:nvPr/>
        </p:nvSpPr>
        <p:spPr>
          <a:xfrm>
            <a:off x="379412" y="3931920"/>
            <a:ext cx="5303520" cy="18288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6CC0873E-8B45-6F57-93CB-C8393C044EE5}"/>
              </a:ext>
            </a:extLst>
          </p:cNvPr>
          <p:cNvSpPr txBox="1"/>
          <p:nvPr/>
        </p:nvSpPr>
        <p:spPr>
          <a:xfrm>
            <a:off x="470852" y="4023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000">
                <a:solidFill>
                  <a:srgbClr val="AAAAAA"/>
                </a:solidFill>
                <a:latin typeface="Consolas"/>
              </a:rPr>
              <a:t>=== Simulation System Log ===</a:t>
            </a:r>
          </a:p>
          <a:p>
            <a:pPr lvl="0">
              <a:defRPr/>
            </a:pPr>
            <a:endParaRPr sz="1000">
              <a:solidFill>
                <a:srgbClr val="AAAAAA"/>
              </a:solidFill>
              <a:latin typeface="Consolas"/>
            </a:endParaRPr>
          </a:p>
          <a:p>
            <a:pPr lvl="0">
              <a:defRPr/>
            </a:pPr>
            <a:r>
              <a:rPr sz="1000">
                <a:solidFill>
                  <a:srgbClr val="64B5F6"/>
                </a:solidFill>
                <a:latin typeface="Consolas"/>
              </a:rPr>
              <a:t>[VehicleSpeed: 0km/h] </a:t>
            </a:r>
            <a:r>
              <a:rPr sz="1000">
                <a:solidFill>
                  <a:srgbClr val="E0E0E0"/>
                </a:solidFill>
                <a:latin typeface="Consolas"/>
              </a:rPr>
              <a:t>UserRequest -&gt; ManualLock</a:t>
            </a:r>
          </a:p>
          <a:p>
            <a:pPr lvl="0">
              <a:defRPr/>
            </a:pPr>
            <a:r>
              <a:rPr sz="1000">
                <a:solidFill>
                  <a:srgbClr val="64B5F6"/>
                </a:solidFill>
                <a:latin typeface="Consolas"/>
              </a:rPr>
              <a:t>[VehicleSpeed: 16km/h] </a:t>
            </a:r>
            <a:r>
              <a:rPr sz="1000">
                <a:solidFill>
                  <a:srgbClr val="E0E0E0"/>
                </a:solidFill>
                <a:latin typeface="Consolas"/>
              </a:rPr>
              <a:t>-&gt; AUTO_LOCKED</a:t>
            </a:r>
          </a:p>
          <a:p>
            <a:pPr lvl="0">
              <a:defRPr/>
            </a:pPr>
            <a:r>
              <a:rPr sz="1000">
                <a:solidFill>
                  <a:srgbClr val="64B5F6"/>
                </a:solidFill>
                <a:latin typeface="Consolas"/>
              </a:rPr>
              <a:t>[CollisionDetec: TRUE] </a:t>
            </a:r>
            <a:r>
              <a:rPr sz="1000">
                <a:solidFill>
                  <a:srgbClr val="E0E0E0"/>
                </a:solidFill>
                <a:latin typeface="Consolas"/>
              </a:rPr>
              <a:t>-&gt; EMERGENCY_RELEASED</a:t>
            </a:r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6F486E3A-49AB-E5C5-336E-78B153DE38D7}"/>
              </a:ext>
            </a:extLst>
          </p:cNvPr>
          <p:cNvSpPr/>
          <p:nvPr/>
        </p:nvSpPr>
        <p:spPr>
          <a:xfrm>
            <a:off x="6323013" y="914400"/>
            <a:ext cx="5669280" cy="530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FEF027DB-C9A2-DBAD-D10A-27955CEA5300}"/>
              </a:ext>
            </a:extLst>
          </p:cNvPr>
          <p:cNvSpPr txBox="1"/>
          <p:nvPr/>
        </p:nvSpPr>
        <p:spPr>
          <a:xfrm>
            <a:off x="6323013" y="1051559"/>
            <a:ext cx="5669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2000" b="1" dirty="0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CI/CD 및 </a:t>
            </a:r>
            <a:r>
              <a:rPr sz="2000" b="1" dirty="0" err="1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형상</a:t>
            </a:r>
            <a:r>
              <a:rPr sz="2000" b="1" dirty="0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b="1" dirty="0" err="1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관리</a:t>
            </a:r>
            <a:endParaRPr sz="2000" b="1" dirty="0">
              <a:solidFill>
                <a:srgbClr val="001F54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63E73FF6-EE6E-8ACA-24A8-0C796CA80491}"/>
              </a:ext>
            </a:extLst>
          </p:cNvPr>
          <p:cNvSpPr txBox="1"/>
          <p:nvPr/>
        </p:nvSpPr>
        <p:spPr>
          <a:xfrm>
            <a:off x="6505893" y="1417320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GitHub Actions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빌드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sz="140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정적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분석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Cppcheck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자동화</a:t>
            </a:r>
            <a:endParaRPr sz="1400" b="0" dirty="0">
              <a:solidFill>
                <a:srgbClr val="212529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 algn="l">
              <a:defRPr/>
            </a:pP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및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버그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수정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후 main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브랜치로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병합하는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워크플로우</a:t>
            </a:r>
            <a:endParaRPr sz="1400" b="0" dirty="0">
              <a:solidFill>
                <a:srgbClr val="212529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" name="Rounded Rectangle 18">
            <a:extLst>
              <a:ext uri="{FF2B5EF4-FFF2-40B4-BE49-F238E27FC236}">
                <a16:creationId xmlns:a16="http://schemas.microsoft.com/office/drawing/2014/main" id="{E33DC5EB-068D-4F12-BAFA-60EF669094D6}"/>
              </a:ext>
            </a:extLst>
          </p:cNvPr>
          <p:cNvSpPr/>
          <p:nvPr/>
        </p:nvSpPr>
        <p:spPr>
          <a:xfrm>
            <a:off x="6505893" y="2011680"/>
            <a:ext cx="530352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79996AA7-A96A-AA94-83B6-4DAE77D7D013}"/>
              </a:ext>
            </a:extLst>
          </p:cNvPr>
          <p:cNvSpPr txBox="1"/>
          <p:nvPr/>
        </p:nvSpPr>
        <p:spPr>
          <a:xfrm>
            <a:off x="6597333" y="210312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212529"/>
                </a:solidFill>
                <a:latin typeface="맑은 고딕"/>
              </a:rPr>
              <a:t>GitHub Actions Pipeline</a:t>
            </a: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06E15547-9B93-7545-174C-B16328FCD553}"/>
              </a:ext>
            </a:extLst>
          </p:cNvPr>
          <p:cNvSpPr txBox="1"/>
          <p:nvPr/>
        </p:nvSpPr>
        <p:spPr>
          <a:xfrm>
            <a:off x="6597333" y="233172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900" b="0">
                <a:solidFill>
                  <a:srgbClr val="6C757D"/>
                </a:solidFill>
                <a:latin typeface="맑은 고딕"/>
              </a:rPr>
              <a:t>Commit: a1b2c3d  |  Duration: 1m 32s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5BCC606E-50DF-2208-A856-EFFEB8BCE7FE}"/>
              </a:ext>
            </a:extLst>
          </p:cNvPr>
          <p:cNvSpPr txBox="1"/>
          <p:nvPr/>
        </p:nvSpPr>
        <p:spPr>
          <a:xfrm>
            <a:off x="6643053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29" name="TextBox 22">
            <a:extLst>
              <a:ext uri="{FF2B5EF4-FFF2-40B4-BE49-F238E27FC236}">
                <a16:creationId xmlns:a16="http://schemas.microsoft.com/office/drawing/2014/main" id="{6E4E1BDA-DF73-DA82-45CE-2EC86511B6D8}"/>
              </a:ext>
            </a:extLst>
          </p:cNvPr>
          <p:cNvSpPr txBox="1"/>
          <p:nvPr/>
        </p:nvSpPr>
        <p:spPr>
          <a:xfrm>
            <a:off x="6871653" y="2542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000" b="1">
                <a:solidFill>
                  <a:srgbClr val="212529"/>
                </a:solidFill>
                <a:latin typeface="맑은 고딕"/>
              </a:rPr>
              <a:t>Build (Ubuntu)</a:t>
            </a:r>
          </a:p>
        </p:txBody>
      </p:sp>
      <p:sp>
        <p:nvSpPr>
          <p:cNvPr id="30" name="Rounded Rectangle 23">
            <a:extLst>
              <a:ext uri="{FF2B5EF4-FFF2-40B4-BE49-F238E27FC236}">
                <a16:creationId xmlns:a16="http://schemas.microsoft.com/office/drawing/2014/main" id="{77386A35-8B98-E42A-4131-2B0BD15BEA77}"/>
              </a:ext>
            </a:extLst>
          </p:cNvPr>
          <p:cNvSpPr/>
          <p:nvPr/>
        </p:nvSpPr>
        <p:spPr>
          <a:xfrm>
            <a:off x="8791893" y="263347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Rounded Rectangle 24">
            <a:extLst>
              <a:ext uri="{FF2B5EF4-FFF2-40B4-BE49-F238E27FC236}">
                <a16:creationId xmlns:a16="http://schemas.microsoft.com/office/drawing/2014/main" id="{D8A5A290-7E52-2738-5596-22FE40170D38}"/>
              </a:ext>
            </a:extLst>
          </p:cNvPr>
          <p:cNvSpPr/>
          <p:nvPr/>
        </p:nvSpPr>
        <p:spPr>
          <a:xfrm>
            <a:off x="8791893" y="263347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26921839-9285-BCA3-9960-16FC1B2EF855}"/>
              </a:ext>
            </a:extLst>
          </p:cNvPr>
          <p:cNvSpPr txBox="1"/>
          <p:nvPr/>
        </p:nvSpPr>
        <p:spPr>
          <a:xfrm>
            <a:off x="6643053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33" name="TextBox 26">
            <a:extLst>
              <a:ext uri="{FF2B5EF4-FFF2-40B4-BE49-F238E27FC236}">
                <a16:creationId xmlns:a16="http://schemas.microsoft.com/office/drawing/2014/main" id="{DF6AC30C-DC87-982F-A570-0579EE7A1884}"/>
              </a:ext>
            </a:extLst>
          </p:cNvPr>
          <p:cNvSpPr txBox="1"/>
          <p:nvPr/>
        </p:nvSpPr>
        <p:spPr>
          <a:xfrm>
            <a:off x="6871653" y="28163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000" b="1">
                <a:solidFill>
                  <a:srgbClr val="212529"/>
                </a:solidFill>
                <a:latin typeface="맑은 고딕"/>
              </a:rPr>
              <a:t>Unit Tests (GTest)</a:t>
            </a:r>
          </a:p>
        </p:txBody>
      </p:sp>
      <p:sp>
        <p:nvSpPr>
          <p:cNvPr id="34" name="Rounded Rectangle 27">
            <a:extLst>
              <a:ext uri="{FF2B5EF4-FFF2-40B4-BE49-F238E27FC236}">
                <a16:creationId xmlns:a16="http://schemas.microsoft.com/office/drawing/2014/main" id="{A819C0CE-BA39-D0D6-E9C7-97DD4C3D86DA}"/>
              </a:ext>
            </a:extLst>
          </p:cNvPr>
          <p:cNvSpPr/>
          <p:nvPr/>
        </p:nvSpPr>
        <p:spPr>
          <a:xfrm>
            <a:off x="8791893" y="290779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Rounded Rectangle 28">
            <a:extLst>
              <a:ext uri="{FF2B5EF4-FFF2-40B4-BE49-F238E27FC236}">
                <a16:creationId xmlns:a16="http://schemas.microsoft.com/office/drawing/2014/main" id="{0AB0A78A-9A72-6554-77B3-A17D19B95CD5}"/>
              </a:ext>
            </a:extLst>
          </p:cNvPr>
          <p:cNvSpPr/>
          <p:nvPr/>
        </p:nvSpPr>
        <p:spPr>
          <a:xfrm>
            <a:off x="8791893" y="290779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6" name="TextBox 29">
            <a:extLst>
              <a:ext uri="{FF2B5EF4-FFF2-40B4-BE49-F238E27FC236}">
                <a16:creationId xmlns:a16="http://schemas.microsoft.com/office/drawing/2014/main" id="{D2E7208B-CA15-D532-1458-6C6C86C57978}"/>
              </a:ext>
            </a:extLst>
          </p:cNvPr>
          <p:cNvSpPr txBox="1"/>
          <p:nvPr/>
        </p:nvSpPr>
        <p:spPr>
          <a:xfrm>
            <a:off x="6643053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37" name="TextBox 30">
            <a:extLst>
              <a:ext uri="{FF2B5EF4-FFF2-40B4-BE49-F238E27FC236}">
                <a16:creationId xmlns:a16="http://schemas.microsoft.com/office/drawing/2014/main" id="{0A8D2EED-653E-D5FF-7977-C4145AA8670F}"/>
              </a:ext>
            </a:extLst>
          </p:cNvPr>
          <p:cNvSpPr txBox="1"/>
          <p:nvPr/>
        </p:nvSpPr>
        <p:spPr>
          <a:xfrm>
            <a:off x="6871653" y="309067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000" b="1">
                <a:solidFill>
                  <a:srgbClr val="212529"/>
                </a:solidFill>
                <a:latin typeface="맑은 고딕"/>
              </a:rPr>
              <a:t>Static Analysis (Cppcheck)</a:t>
            </a:r>
          </a:p>
        </p:txBody>
      </p:sp>
      <p:sp>
        <p:nvSpPr>
          <p:cNvPr id="38" name="Rounded Rectangle 31">
            <a:extLst>
              <a:ext uri="{FF2B5EF4-FFF2-40B4-BE49-F238E27FC236}">
                <a16:creationId xmlns:a16="http://schemas.microsoft.com/office/drawing/2014/main" id="{0DAD4908-273E-1FAB-9854-8485F4B9CE8F}"/>
              </a:ext>
            </a:extLst>
          </p:cNvPr>
          <p:cNvSpPr/>
          <p:nvPr/>
        </p:nvSpPr>
        <p:spPr>
          <a:xfrm>
            <a:off x="8791893" y="318211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Rounded Rectangle 32">
            <a:extLst>
              <a:ext uri="{FF2B5EF4-FFF2-40B4-BE49-F238E27FC236}">
                <a16:creationId xmlns:a16="http://schemas.microsoft.com/office/drawing/2014/main" id="{52AEE3A4-9D58-74BD-A4AC-80C988C4354F}"/>
              </a:ext>
            </a:extLst>
          </p:cNvPr>
          <p:cNvSpPr/>
          <p:nvPr/>
        </p:nvSpPr>
        <p:spPr>
          <a:xfrm>
            <a:off x="8791893" y="318211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TextBox 33">
            <a:extLst>
              <a:ext uri="{FF2B5EF4-FFF2-40B4-BE49-F238E27FC236}">
                <a16:creationId xmlns:a16="http://schemas.microsoft.com/office/drawing/2014/main" id="{3207C66E-70F5-BCC9-8EC9-E76F385BE68A}"/>
              </a:ext>
            </a:extLst>
          </p:cNvPr>
          <p:cNvSpPr txBox="1"/>
          <p:nvPr/>
        </p:nvSpPr>
        <p:spPr>
          <a:xfrm>
            <a:off x="6643053" y="33375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41" name="TextBox 34">
            <a:extLst>
              <a:ext uri="{FF2B5EF4-FFF2-40B4-BE49-F238E27FC236}">
                <a16:creationId xmlns:a16="http://schemas.microsoft.com/office/drawing/2014/main" id="{8D33F66C-21B8-6331-DD87-E6309C09F931}"/>
              </a:ext>
            </a:extLst>
          </p:cNvPr>
          <p:cNvSpPr txBox="1"/>
          <p:nvPr/>
        </p:nvSpPr>
        <p:spPr>
          <a:xfrm>
            <a:off x="6871653" y="336499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000" b="1">
                <a:solidFill>
                  <a:srgbClr val="212529"/>
                </a:solidFill>
                <a:latin typeface="맑은 고딕"/>
              </a:rPr>
              <a:t>Code Complexity (Lizard)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1EEDEDB6-A3E3-D41B-4F56-A15BE7768455}"/>
              </a:ext>
            </a:extLst>
          </p:cNvPr>
          <p:cNvSpPr/>
          <p:nvPr/>
        </p:nvSpPr>
        <p:spPr>
          <a:xfrm>
            <a:off x="8791893" y="345643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Rounded Rectangle 36">
            <a:extLst>
              <a:ext uri="{FF2B5EF4-FFF2-40B4-BE49-F238E27FC236}">
                <a16:creationId xmlns:a16="http://schemas.microsoft.com/office/drawing/2014/main" id="{AF428F41-3A54-0159-80E4-959E805D1C1B}"/>
              </a:ext>
            </a:extLst>
          </p:cNvPr>
          <p:cNvSpPr/>
          <p:nvPr/>
        </p:nvSpPr>
        <p:spPr>
          <a:xfrm>
            <a:off x="8791893" y="345643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4" name="Rounded Rectangle 37">
            <a:extLst>
              <a:ext uri="{FF2B5EF4-FFF2-40B4-BE49-F238E27FC236}">
                <a16:creationId xmlns:a16="http://schemas.microsoft.com/office/drawing/2014/main" id="{E299507E-581F-0BF8-F17C-1E85386A7A77}"/>
              </a:ext>
            </a:extLst>
          </p:cNvPr>
          <p:cNvSpPr/>
          <p:nvPr/>
        </p:nvSpPr>
        <p:spPr>
          <a:xfrm>
            <a:off x="6505893" y="4023360"/>
            <a:ext cx="530352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5" name="TextBox 38">
            <a:extLst>
              <a:ext uri="{FF2B5EF4-FFF2-40B4-BE49-F238E27FC236}">
                <a16:creationId xmlns:a16="http://schemas.microsoft.com/office/drawing/2014/main" id="{3B8B7DE7-F7B6-6B47-4566-2D95FD0C9EEE}"/>
              </a:ext>
            </a:extLst>
          </p:cNvPr>
          <p:cNvSpPr txBox="1"/>
          <p:nvPr/>
        </p:nvSpPr>
        <p:spPr>
          <a:xfrm>
            <a:off x="6597333" y="41148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212529"/>
                </a:solidFill>
                <a:latin typeface="맑은 고딕"/>
              </a:rPr>
              <a:t>Branch Network Graph</a:t>
            </a:r>
          </a:p>
        </p:txBody>
      </p:sp>
      <p:sp>
        <p:nvSpPr>
          <p:cNvPr id="46" name="Rectangle 39">
            <a:extLst>
              <a:ext uri="{FF2B5EF4-FFF2-40B4-BE49-F238E27FC236}">
                <a16:creationId xmlns:a16="http://schemas.microsoft.com/office/drawing/2014/main" id="{5ADD1EE5-C9E3-3977-0181-C9CDD9F0CB28}"/>
              </a:ext>
            </a:extLst>
          </p:cNvPr>
          <p:cNvSpPr/>
          <p:nvPr/>
        </p:nvSpPr>
        <p:spPr>
          <a:xfrm>
            <a:off x="6780213" y="4937760"/>
            <a:ext cx="4572000" cy="457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7" name="TextBox 40">
            <a:extLst>
              <a:ext uri="{FF2B5EF4-FFF2-40B4-BE49-F238E27FC236}">
                <a16:creationId xmlns:a16="http://schemas.microsoft.com/office/drawing/2014/main" id="{6D0E4763-A868-13F1-82A4-3000D9BAF88D}"/>
              </a:ext>
            </a:extLst>
          </p:cNvPr>
          <p:cNvSpPr txBox="1"/>
          <p:nvPr/>
        </p:nvSpPr>
        <p:spPr>
          <a:xfrm>
            <a:off x="6780213" y="46634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001F54"/>
                </a:solidFill>
                <a:latin typeface="맑은 고딕"/>
              </a:rPr>
              <a:t>main</a:t>
            </a:r>
          </a:p>
        </p:txBody>
      </p:sp>
      <p:sp>
        <p:nvSpPr>
          <p:cNvPr id="48" name="Rectangle 41">
            <a:extLst>
              <a:ext uri="{FF2B5EF4-FFF2-40B4-BE49-F238E27FC236}">
                <a16:creationId xmlns:a16="http://schemas.microsoft.com/office/drawing/2014/main" id="{285B6816-9C3B-24CA-1B95-989FA4E46C31}"/>
              </a:ext>
            </a:extLst>
          </p:cNvPr>
          <p:cNvSpPr/>
          <p:nvPr/>
        </p:nvSpPr>
        <p:spPr>
          <a:xfrm>
            <a:off x="7237413" y="4480560"/>
            <a:ext cx="155448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Rectangle 42">
            <a:extLst>
              <a:ext uri="{FF2B5EF4-FFF2-40B4-BE49-F238E27FC236}">
                <a16:creationId xmlns:a16="http://schemas.microsoft.com/office/drawing/2014/main" id="{76180379-77DE-CB86-4AA7-7E4C43ED4AF7}"/>
              </a:ext>
            </a:extLst>
          </p:cNvPr>
          <p:cNvSpPr/>
          <p:nvPr/>
        </p:nvSpPr>
        <p:spPr>
          <a:xfrm>
            <a:off x="8791893" y="4480560"/>
            <a:ext cx="36576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0" name="TextBox 43">
            <a:extLst>
              <a:ext uri="{FF2B5EF4-FFF2-40B4-BE49-F238E27FC236}">
                <a16:creationId xmlns:a16="http://schemas.microsoft.com/office/drawing/2014/main" id="{32DC53CE-0707-E4C5-9278-FEC9005B02DE}"/>
              </a:ext>
            </a:extLst>
          </p:cNvPr>
          <p:cNvSpPr txBox="1"/>
          <p:nvPr/>
        </p:nvSpPr>
        <p:spPr>
          <a:xfrm>
            <a:off x="7237413" y="42519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FF8C00"/>
                </a:solidFill>
                <a:latin typeface="맑은 고딕"/>
              </a:rPr>
              <a:t>feat/rear-radar</a:t>
            </a:r>
          </a:p>
        </p:txBody>
      </p:sp>
      <p:sp>
        <p:nvSpPr>
          <p:cNvPr id="51" name="Rectangle 44">
            <a:extLst>
              <a:ext uri="{FF2B5EF4-FFF2-40B4-BE49-F238E27FC236}">
                <a16:creationId xmlns:a16="http://schemas.microsoft.com/office/drawing/2014/main" id="{0CE4027D-967E-6E98-A413-8354467603E8}"/>
              </a:ext>
            </a:extLst>
          </p:cNvPr>
          <p:cNvSpPr/>
          <p:nvPr/>
        </p:nvSpPr>
        <p:spPr>
          <a:xfrm>
            <a:off x="7877493" y="5394960"/>
            <a:ext cx="1371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2" name="Rectangle 45">
            <a:extLst>
              <a:ext uri="{FF2B5EF4-FFF2-40B4-BE49-F238E27FC236}">
                <a16:creationId xmlns:a16="http://schemas.microsoft.com/office/drawing/2014/main" id="{93C54905-97EF-7B2D-9CC1-CD97CEF4F3A3}"/>
              </a:ext>
            </a:extLst>
          </p:cNvPr>
          <p:cNvSpPr/>
          <p:nvPr/>
        </p:nvSpPr>
        <p:spPr>
          <a:xfrm>
            <a:off x="9249093" y="4937760"/>
            <a:ext cx="36576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3" name="TextBox 46">
            <a:extLst>
              <a:ext uri="{FF2B5EF4-FFF2-40B4-BE49-F238E27FC236}">
                <a16:creationId xmlns:a16="http://schemas.microsoft.com/office/drawing/2014/main" id="{645F09EF-AB43-8C1A-F2A5-DFAA980C4955}"/>
              </a:ext>
            </a:extLst>
          </p:cNvPr>
          <p:cNvSpPr txBox="1"/>
          <p:nvPr/>
        </p:nvSpPr>
        <p:spPr>
          <a:xfrm>
            <a:off x="7877493" y="54406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00BCD4"/>
                </a:solidFill>
                <a:latin typeface="맑은 고딕"/>
              </a:rPr>
              <a:t>fix/crash-logic</a:t>
            </a:r>
          </a:p>
        </p:txBody>
      </p:sp>
      <p:sp>
        <p:nvSpPr>
          <p:cNvPr id="54" name="Oval 47">
            <a:extLst>
              <a:ext uri="{FF2B5EF4-FFF2-40B4-BE49-F238E27FC236}">
                <a16:creationId xmlns:a16="http://schemas.microsoft.com/office/drawing/2014/main" id="{5A934D20-F308-F09D-C3ED-619B8D412C2C}"/>
              </a:ext>
            </a:extLst>
          </p:cNvPr>
          <p:cNvSpPr/>
          <p:nvPr/>
        </p:nvSpPr>
        <p:spPr>
          <a:xfrm>
            <a:off x="716426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Oval 48">
            <a:extLst>
              <a:ext uri="{FF2B5EF4-FFF2-40B4-BE49-F238E27FC236}">
                <a16:creationId xmlns:a16="http://schemas.microsoft.com/office/drawing/2014/main" id="{4DA335B5-9655-7134-70C0-56A959489BB7}"/>
              </a:ext>
            </a:extLst>
          </p:cNvPr>
          <p:cNvSpPr/>
          <p:nvPr/>
        </p:nvSpPr>
        <p:spPr>
          <a:xfrm>
            <a:off x="780434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Oval 49">
            <a:extLst>
              <a:ext uri="{FF2B5EF4-FFF2-40B4-BE49-F238E27FC236}">
                <a16:creationId xmlns:a16="http://schemas.microsoft.com/office/drawing/2014/main" id="{A691656D-1550-0412-B965-D1AAE30D9B05}"/>
              </a:ext>
            </a:extLst>
          </p:cNvPr>
          <p:cNvSpPr/>
          <p:nvPr/>
        </p:nvSpPr>
        <p:spPr>
          <a:xfrm>
            <a:off x="871874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7" name="Oval 50">
            <a:extLst>
              <a:ext uri="{FF2B5EF4-FFF2-40B4-BE49-F238E27FC236}">
                <a16:creationId xmlns:a16="http://schemas.microsoft.com/office/drawing/2014/main" id="{03DD9C58-E14D-D8CC-E9B1-39D338ECA2A7}"/>
              </a:ext>
            </a:extLst>
          </p:cNvPr>
          <p:cNvSpPr/>
          <p:nvPr/>
        </p:nvSpPr>
        <p:spPr>
          <a:xfrm>
            <a:off x="8700453" y="486918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Oval 51">
            <a:extLst>
              <a:ext uri="{FF2B5EF4-FFF2-40B4-BE49-F238E27FC236}">
                <a16:creationId xmlns:a16="http://schemas.microsoft.com/office/drawing/2014/main" id="{CBC781FE-75B5-ADBB-1753-B505C9419FD8}"/>
              </a:ext>
            </a:extLst>
          </p:cNvPr>
          <p:cNvSpPr/>
          <p:nvPr/>
        </p:nvSpPr>
        <p:spPr>
          <a:xfrm>
            <a:off x="917594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Oval 52">
            <a:extLst>
              <a:ext uri="{FF2B5EF4-FFF2-40B4-BE49-F238E27FC236}">
                <a16:creationId xmlns:a16="http://schemas.microsoft.com/office/drawing/2014/main" id="{63F67796-9F95-9E1E-E74B-48B1EB8C62D9}"/>
              </a:ext>
            </a:extLst>
          </p:cNvPr>
          <p:cNvSpPr/>
          <p:nvPr/>
        </p:nvSpPr>
        <p:spPr>
          <a:xfrm>
            <a:off x="9157653" y="4869180"/>
            <a:ext cx="182880" cy="1828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0" name="Oval 53">
            <a:extLst>
              <a:ext uri="{FF2B5EF4-FFF2-40B4-BE49-F238E27FC236}">
                <a16:creationId xmlns:a16="http://schemas.microsoft.com/office/drawing/2014/main" id="{A6249D87-DCAD-D01B-F262-BF502F71E625}"/>
              </a:ext>
            </a:extLst>
          </p:cNvPr>
          <p:cNvSpPr/>
          <p:nvPr/>
        </p:nvSpPr>
        <p:spPr>
          <a:xfrm>
            <a:off x="990746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1" name="Oval 54">
            <a:extLst>
              <a:ext uri="{FF2B5EF4-FFF2-40B4-BE49-F238E27FC236}">
                <a16:creationId xmlns:a16="http://schemas.microsoft.com/office/drawing/2014/main" id="{8B407A24-FA89-2C40-1C1D-82E7D1D1B49D}"/>
              </a:ext>
            </a:extLst>
          </p:cNvPr>
          <p:cNvSpPr/>
          <p:nvPr/>
        </p:nvSpPr>
        <p:spPr>
          <a:xfrm>
            <a:off x="1054754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2" name="Rounded Rectangle 55">
            <a:extLst>
              <a:ext uri="{FF2B5EF4-FFF2-40B4-BE49-F238E27FC236}">
                <a16:creationId xmlns:a16="http://schemas.microsoft.com/office/drawing/2014/main" id="{F6FDCCF2-61E1-920D-453D-9198CF8B65A4}"/>
              </a:ext>
            </a:extLst>
          </p:cNvPr>
          <p:cNvSpPr/>
          <p:nvPr/>
        </p:nvSpPr>
        <p:spPr>
          <a:xfrm>
            <a:off x="10300653" y="4617720"/>
            <a:ext cx="640080" cy="201168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3" name="TextBox 56">
            <a:extLst>
              <a:ext uri="{FF2B5EF4-FFF2-40B4-BE49-F238E27FC236}">
                <a16:creationId xmlns:a16="http://schemas.microsoft.com/office/drawing/2014/main" id="{6B46E5DB-0C4B-757B-AC14-F0D13E2B9C56}"/>
              </a:ext>
            </a:extLst>
          </p:cNvPr>
          <p:cNvSpPr txBox="1"/>
          <p:nvPr/>
        </p:nvSpPr>
        <p:spPr>
          <a:xfrm>
            <a:off x="10189322" y="4629682"/>
            <a:ext cx="862742" cy="20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800" b="1">
                <a:solidFill>
                  <a:srgbClr val="FFFFFF"/>
                </a:solidFill>
                <a:latin typeface="맑은 고딕"/>
              </a:rPr>
              <a:t>Merge 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06. 테스트 &amp;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338328" y="1188720"/>
            <a:ext cx="713232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242691"/>
            <a:ext cx="6766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003366"/>
                </a:solidFill>
              </a:defRPr>
            </a:pPr>
            <a:r>
              <a:rPr lang="ko-KR" altLang="en-US" dirty="0"/>
              <a:t>   </a:t>
            </a:r>
            <a:r>
              <a:rPr lang="ko-KR" altLang="en-US"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 케이스 및 결과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08554" y="1188148"/>
            <a:ext cx="4114800" cy="5029200"/>
          </a:xfrm>
          <a:prstGeom prst="roundRect">
            <a:avLst>
              <a:gd name="adj" fmla="val 16667"/>
            </a:avLst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5" name="Rectangle 64"/>
          <p:cNvSpPr/>
          <p:nvPr/>
        </p:nvSpPr>
        <p:spPr>
          <a:xfrm>
            <a:off x="861822" y="1670495"/>
            <a:ext cx="868680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89254" y="1734503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 dirty="0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ID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30502" y="1670495"/>
            <a:ext cx="384048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559268" y="1728011"/>
            <a:ext cx="711420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 dirty="0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14550" y="1670495"/>
            <a:ext cx="3703320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141982" y="1734503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 항목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17870" y="1670495"/>
            <a:ext cx="502920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845302" y="1734503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20790" y="1670495"/>
            <a:ext cx="658368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348222" y="1734503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1822" y="1999679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89254" y="2036255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30502" y="1999679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666292" y="2036255"/>
            <a:ext cx="496062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14550" y="1999679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141982" y="2036255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정차 중 수동 스위치 제어 정상 동작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17870" y="1999679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845302" y="2036255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20790" y="1999679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348222" y="2036255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1822" y="2260283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89254" y="2296859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30502" y="2260283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671934" y="2297020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</a:t>
            </a:r>
            <a:r>
              <a:rPr lang="en-US" altLang="ko-KR"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endParaRPr sz="88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2114550" y="2260283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270688" y="2296859"/>
            <a:ext cx="3519750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스위치 채터링 디바운싱 - 49ms (Off-limit)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817870" y="2260283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845302" y="2296859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20790" y="2260283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348222" y="2296859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1822" y="2520887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89254" y="2557463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730502" y="2520887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665473" y="2547172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14550" y="2520887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141982" y="2557463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스위치</a:t>
            </a:r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88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채터링</a:t>
            </a:r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88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디바운싱</a:t>
            </a:r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- 50ms (On-limit)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17870" y="2520887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845302" y="2557463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20790" y="2520887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348222" y="2557463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1822" y="2781491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89254" y="2818067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2" y="2781491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676635" y="2807775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14550" y="2781491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141982" y="2818067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주행 중 해제 차단 - 3.0km/h (On-limit)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817870" y="2781491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845302" y="2818067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320790" y="2781491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348222" y="2818067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 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61822" y="3042095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89254" y="3078671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730502" y="3042095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670936" y="3063670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114550" y="3042095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141982" y="3078671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주행 중 해제 허용 - 2.9km/h (Off-limit)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817870" y="3042095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845302" y="3078671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20790" y="3042095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348222" y="3078671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1822" y="3302699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89254" y="3339275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730502" y="3302699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677234" y="3332679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114550" y="3302699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41982" y="3339275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ECU 통신 단절 재전송 및 Fail-Safe 안전상태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817870" y="3302699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845302" y="3339275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FI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20790" y="3302699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348222" y="3339275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61822" y="3563303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89254" y="3599879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TC-007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730502" y="3563303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665473" y="3599879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14550" y="3563303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141982" y="3599879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속도 초과 자동잠금 미동작 - 14.9km/h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817870" y="3563303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5845302" y="3599879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20790" y="3563303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348222" y="3599879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1822" y="3823907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889254" y="3860483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TC-008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730502" y="3823907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669671" y="3860483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14550" y="3823907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2141982" y="3860483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속도 초과 자동잠금 동작 - 15.0km/h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817870" y="3823907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5845302" y="3860483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320790" y="3823907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348222" y="3860483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61822" y="4084511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889254" y="4121087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TC-009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730502" y="4084511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680620" y="4112504"/>
            <a:ext cx="460341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UC-3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114550" y="4084511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2141982" y="4121087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충돌 시 비상 해제 (복합조건 = True)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817870" y="4084511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5845302" y="4121087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DT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20790" y="4084511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6348222" y="4121087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 B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61822" y="4345115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889254" y="4381691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730502" y="4345115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1691308" y="4381691"/>
            <a:ext cx="45511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UC-3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114550" y="4345115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2141982" y="4381691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충돌 단일조건 무시 (오동작 방지)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817870" y="4345115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5845302" y="4381691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320790" y="4345115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6348222" y="4381691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 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61822" y="4605718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889254" y="4642294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730502" y="4605718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691308" y="4642295"/>
            <a:ext cx="460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UC-4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114550" y="4605718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2141982" y="4642294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ECU 상태 전이(Init→Normal→Lock) 핸들 차단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817870" y="4605718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5845302" y="4642294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320790" y="4605718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6348222" y="4642294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61822" y="4866323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889254" y="4902899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730502" y="4866323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686607" y="4902900"/>
            <a:ext cx="460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114550" y="4866323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2141982" y="4902899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후방 객체(거리/속도/시간) 복합 감지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817870" y="4866323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5845302" y="4902899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PW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320790" y="4866323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348222" y="4902899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1822" y="5126927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889254" y="5163503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730502" y="5126927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679672" y="5163503"/>
            <a:ext cx="461289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UC-5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114550" y="5126927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2141982" y="5163503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후방 센서 노이즈/반복 경고 히스테리시스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817870" y="5126927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5817870" y="5155487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EP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320790" y="5126927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6348222" y="5155487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861822" y="5387531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889254" y="5424107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TC-014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730502" y="5387531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1676975" y="5415369"/>
            <a:ext cx="46398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UC-6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114550" y="5387531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2141982" y="5424107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승객 점유 및 잠금 OFF 출발 시 알림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5817870" y="5387531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5845302" y="5424107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DT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320790" y="5387531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6348222" y="5424107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861822" y="5653901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885315" y="5669280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730502" y="5653901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658429" y="5677939"/>
            <a:ext cx="484617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UC-6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110912" y="5654646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2052828" y="5684208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점유 센서 에러 발생 시 보호 로직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817870" y="5653901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5817870" y="5684208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FI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320790" y="5653901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6320790" y="5684208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902702" y="2205418"/>
            <a:ext cx="1920240" cy="256032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6" name="TextBox 225"/>
          <p:cNvSpPr txBox="1"/>
          <p:nvPr/>
        </p:nvSpPr>
        <p:spPr>
          <a:xfrm>
            <a:off x="7918703" y="2190571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 err="1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단위</a:t>
            </a:r>
            <a:r>
              <a:rPr sz="1100" dirty="0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테스트</a:t>
            </a:r>
            <a:endParaRPr sz="1100" dirty="0">
              <a:solidFill>
                <a:srgbClr val="FFFF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7910335" y="2461450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7946911" y="2479738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140 건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922015" y="2205418"/>
            <a:ext cx="1920240" cy="256032"/>
          </a:xfrm>
          <a:prstGeom prst="rect">
            <a:avLst/>
          </a:prstGeom>
          <a:solidFill>
            <a:srgbClr val="00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0" name="TextBox 229"/>
          <p:cNvSpPr txBox="1"/>
          <p:nvPr/>
        </p:nvSpPr>
        <p:spPr>
          <a:xfrm>
            <a:off x="9930384" y="2203970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 err="1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통과율</a:t>
            </a:r>
            <a:endParaRPr sz="1100" dirty="0">
              <a:solidFill>
                <a:srgbClr val="FFFF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9922015" y="2461450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9958591" y="2479738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966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100%  (0 Fail)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918703" y="3302698"/>
            <a:ext cx="1920240" cy="25603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7955279" y="3280733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 err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커버리지</a:t>
            </a:r>
            <a:endParaRPr sz="1000" dirty="0">
              <a:solidFill>
                <a:srgbClr val="FFFFFF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7918703" y="3558730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7955279" y="3577018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100%  Branch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30384" y="3302698"/>
            <a:ext cx="192024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966960" y="3297120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처리 속도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930384" y="3558730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9966960" y="3577018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E8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 1 ms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910335" y="4550854"/>
            <a:ext cx="192024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918703" y="4550854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시스템 TC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7910335" y="4806886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7946911" y="4825174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B3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15 건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922015" y="4550854"/>
            <a:ext cx="1920240" cy="256032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9930384" y="4550854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프레임워크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922015" y="4806886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9958591" y="4837786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GTest</a:t>
            </a:r>
            <a:r>
              <a:rPr sz="1600"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v1.17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5720" y="6464808"/>
            <a:ext cx="12188952" cy="292608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91440" y="6501384"/>
            <a:ext cx="1188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sz="800" b="0" dirty="0" err="1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sz="800" b="0" dirty="0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7/10</a:t>
            </a:r>
          </a:p>
        </p:txBody>
      </p:sp>
      <p:sp>
        <p:nvSpPr>
          <p:cNvPr id="12" name="TextBox 55">
            <a:extLst>
              <a:ext uri="{FF2B5EF4-FFF2-40B4-BE49-F238E27FC236}">
                <a16:creationId xmlns:a16="http://schemas.microsoft.com/office/drawing/2014/main" id="{A04BD982-2EF7-DA0F-B8CB-8685C1E61912}"/>
              </a:ext>
            </a:extLst>
          </p:cNvPr>
          <p:cNvSpPr txBox="1"/>
          <p:nvPr/>
        </p:nvSpPr>
        <p:spPr>
          <a:xfrm>
            <a:off x="7983459" y="1368743"/>
            <a:ext cx="374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003366"/>
                </a:solidFill>
              </a:defRPr>
            </a:pPr>
            <a:r>
              <a:rPr lang="ko-KR" altLang="en-US" sz="2000" dirty="0"/>
              <a:t>성과 지표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5132" y="1101852"/>
            <a:ext cx="5669280" cy="246888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96727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기술적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</a:t>
            </a:r>
            <a:endParaRPr sz="2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45225" y="1101852"/>
            <a:ext cx="5669280" cy="2468880"/>
          </a:xfrm>
          <a:prstGeom prst="roundRect">
            <a:avLst/>
          </a:prstGeom>
          <a:solidFill>
            <a:srgbClr val="FFF8F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16568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A00"/>
                </a:solidFill>
              </a:defRPr>
            </a:pP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협업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&amp;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프로세스</a:t>
            </a:r>
            <a:endParaRPr sz="2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362" y="1579662"/>
            <a:ext cx="4754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1.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ISO 26262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 기능 안전 분석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(HAZOP / FMEA)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및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 B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수준 안전 목표 도출</a:t>
            </a:r>
          </a:p>
          <a:p>
            <a:pPr lvl="0">
              <a:defRPr/>
            </a:pP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2.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SRS → </a:t>
            </a:r>
            <a:r>
              <a:rPr lang="en-US" altLang="ko-KR" sz="140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SwDD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Code → Test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양방향 추적성 확보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(SWE.1~SWE.6)</a:t>
            </a:r>
          </a:p>
          <a:p>
            <a:pPr lvl="0">
              <a:defRPr/>
            </a:pP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3. V-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기반 설계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-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구현 워크플로우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—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요구사항 작성 전에 테스트 케이스 먼저 정의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(TDD)</a:t>
            </a:r>
          </a:p>
          <a:p>
            <a:pPr lvl="0">
              <a:defRPr/>
            </a:pP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4. Fail-Safe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(SAFE_LOCKED/EMERGENCY_RELEASED)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설계 및 우선순위 정책 수립 </a:t>
            </a:r>
            <a:endParaRPr lang="en-US" altLang="ko-KR" sz="140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236208"/>
            <a:ext cx="12188952" cy="292608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" y="6263640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MOBIUS BOOTCAMP 1기 | PBL 결과발표 | 8/10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BE7FAD8A-B6D9-CAD5-F7B2-03306B24A994}"/>
              </a:ext>
            </a:extLst>
          </p:cNvPr>
          <p:cNvSpPr txBox="1"/>
          <p:nvPr/>
        </p:nvSpPr>
        <p:spPr>
          <a:xfrm>
            <a:off x="6428105" y="1601638"/>
            <a:ext cx="53035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1.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GitHub Actions CI/CD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파이프라인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빌드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GTest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Cppcheck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lcov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자동화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2.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Lizard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복잡도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분석으로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Cyclomatic Complexity ≤10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준수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자동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검증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3.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GoogleTest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Mock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엣지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케이스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(Fault Injection, Null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입력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시뮬레이션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4.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Branch / MC/DC Coverage 100%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달성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— 140개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케이스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모두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PASS</a:t>
            </a: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91070F96-0AD8-5385-89DB-AA1FB13413EA}"/>
              </a:ext>
            </a:extLst>
          </p:cNvPr>
          <p:cNvSpPr/>
          <p:nvPr/>
        </p:nvSpPr>
        <p:spPr>
          <a:xfrm>
            <a:off x="457200" y="3753612"/>
            <a:ext cx="11338560" cy="2326487"/>
          </a:xfrm>
          <a:prstGeom prst="roundRect">
            <a:avLst>
              <a:gd name="adj" fmla="val 16667"/>
            </a:avLst>
          </a:prstGeom>
          <a:solidFill>
            <a:srgbClr val="FFFAF5"/>
          </a:solidFill>
          <a:ln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914429AD-B43B-F92D-01A8-54720D741E1F}"/>
              </a:ext>
            </a:extLst>
          </p:cNvPr>
          <p:cNvSpPr txBox="1"/>
          <p:nvPr/>
        </p:nvSpPr>
        <p:spPr>
          <a:xfrm>
            <a:off x="640080" y="384505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600" b="1">
                <a:solidFill>
                  <a:srgbClr val="B4783C"/>
                </a:solidFill>
              </a:defRPr>
            </a:pPr>
            <a:r>
              <a:rPr lang="ko-KR" altLang="en-US"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도전 과제 &amp; 해결 과정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43CB1A7-F9D7-3256-7690-2A83632864FA}"/>
              </a:ext>
            </a:extLst>
          </p:cNvPr>
          <p:cNvSpPr txBox="1"/>
          <p:nvPr/>
        </p:nvSpPr>
        <p:spPr>
          <a:xfrm>
            <a:off x="640080" y="4302252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200" b="1">
                <a:solidFill>
                  <a:srgbClr val="333333"/>
                </a:solidFill>
              </a:defRPr>
            </a:pPr>
            <a:r>
              <a:rPr lang="ko-KR" altLang="en-US" sz="1600" dirty="0"/>
              <a:t>도전 과제</a:t>
            </a: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B03EF8AF-CD83-391C-50FE-27BBCB1E24A7}"/>
              </a:ext>
            </a:extLst>
          </p:cNvPr>
          <p:cNvSpPr txBox="1"/>
          <p:nvPr/>
        </p:nvSpPr>
        <p:spPr>
          <a:xfrm>
            <a:off x="640080" y="4576572"/>
            <a:ext cx="53035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복합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센서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예외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조건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속도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오류+충돌+핸들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입력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처리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시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충돌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2: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검증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어려운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시스템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수준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시나리오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구축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3: Door ECU ACK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미수신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상황의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재전송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/Fail-Safe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로직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복잡성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증가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B5D4A84D-E7F6-809B-D5B9-2A5AEF5E9546}"/>
              </a:ext>
            </a:extLst>
          </p:cNvPr>
          <p:cNvSpPr txBox="1"/>
          <p:nvPr/>
        </p:nvSpPr>
        <p:spPr>
          <a:xfrm>
            <a:off x="6126480" y="4302252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200" b="1">
                <a:solidFill>
                  <a:srgbClr val="333333"/>
                </a:solidFill>
              </a:defRPr>
            </a:pPr>
            <a:r>
              <a:rPr lang="ko-KR" altLang="en-US" sz="1600" dirty="0"/>
              <a:t>해결 방법</a:t>
            </a: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B9CAFD97-7961-3830-1E21-34AE7B36DBFF}"/>
              </a:ext>
            </a:extLst>
          </p:cNvPr>
          <p:cNvSpPr txBox="1"/>
          <p:nvPr/>
        </p:nvSpPr>
        <p:spPr>
          <a:xfrm>
            <a:off x="6126480" y="4576572"/>
            <a:ext cx="5303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해결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CrashSignal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&gt;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SensorFault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&gt;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DriverInput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&gt;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AutoLock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우선순위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Decision Table</a:t>
            </a:r>
            <a:endParaRPr lang="en-US"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해결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2: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GTest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Mock으로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ECU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미응답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센서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고장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시나리오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Fault Injection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자동화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해결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3: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다이어그램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(State Diagram)을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코드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구조에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1:1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대응시켜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가독성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확보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A9D2B8A8-E667-CA08-41BC-CB989C525451}"/>
              </a:ext>
            </a:extLst>
          </p:cNvPr>
          <p:cNvSpPr txBox="1"/>
          <p:nvPr/>
        </p:nvSpPr>
        <p:spPr>
          <a:xfrm>
            <a:off x="91440" y="163931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07. 학습 내용 &amp; 교훈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08.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향후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계획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8C3C"/>
                </a:solidFill>
              </a:defRPr>
            </a:pP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실무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적용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가능성</a:t>
            </a:r>
            <a:endParaRPr sz="2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1206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현대모비스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차세대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통합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하차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안전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제어기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모듈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적용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en-US" b="1" dirty="0">
              <a:solidFill>
                <a:srgbClr val="00357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b="1" dirty="0">
              <a:solidFill>
                <a:srgbClr val="00357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기계식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차일드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락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대체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비용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절감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+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안전성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향상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ASIL B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인증으로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글로벌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완성차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OEM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납품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가능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V2X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연동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확장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시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원격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잠금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상업화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가능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669280" cy="2194560"/>
          </a:xfrm>
          <a:prstGeom prst="round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추가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아이디어</a:t>
            </a:r>
            <a:endParaRPr sz="2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5303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💡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아이디어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1: BLE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스마트폰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앱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연동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강제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오버라이드</a:t>
            </a:r>
            <a:endParaRPr sz="1600" b="1" dirty="0">
              <a:solidFill>
                <a:srgbClr val="005BB5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2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부모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앱에서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원격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잠금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+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긴급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알림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💡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아이디어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2: AI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영유아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방치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감지</a:t>
            </a:r>
            <a:endParaRPr sz="1600" b="1" dirty="0">
              <a:solidFill>
                <a:srgbClr val="005BB5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2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좌석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점유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+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온도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+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복합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분석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방치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사고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예방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💡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아이디어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3: OTA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업데이트로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임계값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동적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조정</a:t>
            </a:r>
            <a:endParaRPr sz="1600" b="1" dirty="0">
              <a:solidFill>
                <a:srgbClr val="005BB5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2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Safety Goal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변경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없이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파라미터</a:t>
            </a:r>
            <a:r>
              <a:rPr lang="en-US"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업데이트</a:t>
            </a:r>
            <a:endParaRPr sz="12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9/10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553A7E9-E2B9-D002-D7D6-2AFAFAB84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60" y="863225"/>
            <a:ext cx="11427700" cy="3165697"/>
          </a:xfrm>
          <a:prstGeom prst="rect">
            <a:avLst/>
          </a:prstGeom>
        </p:spPr>
      </p:pic>
      <p:sp>
        <p:nvSpPr>
          <p:cNvPr id="28" name="AutoShape 2" descr="🚘">
            <a:extLst>
              <a:ext uri="{FF2B5EF4-FFF2-40B4-BE49-F238E27FC236}">
                <a16:creationId xmlns:a16="http://schemas.microsoft.com/office/drawing/2014/main" id="{6186E44D-AE64-2AB1-2AD4-801C1C2138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AutoShape 6" descr="🚘">
            <a:extLst>
              <a:ext uri="{FF2B5EF4-FFF2-40B4-BE49-F238E27FC236}">
                <a16:creationId xmlns:a16="http://schemas.microsoft.com/office/drawing/2014/main" id="{1A71D790-1288-3B46-DA90-826AB12E83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41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C8DC"/>
                </a:solidFill>
              </a:defRPr>
            </a:pPr>
            <a:r>
              <a:rPr sz="3200" dirty="0" err="1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질문과</a:t>
            </a:r>
            <a:r>
              <a:rPr sz="3200" dirty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3200" dirty="0" err="1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답변</a:t>
            </a:r>
            <a:endParaRPr sz="3200" dirty="0"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팀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전차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88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DC"/>
                </a:solidFill>
              </a:defRPr>
            </a:pP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감사합니다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AABE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MOBIUS BOOTCAMP 1기 |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현대모비스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x LIKELION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1193</ep:Words>
  <ep:PresentationFormat>사용자 지정</ep:PresentationFormat>
  <ep:Paragraphs>461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박기준</dc:creator>
  <dc:description>generated using python-pptx</dc:description>
  <cp:lastModifiedBy>fish0</cp:lastModifiedBy>
  <dcterms:modified xsi:type="dcterms:W3CDTF">2026-03-22T23:52:39.631</dcterms:modified>
  <cp:revision>133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