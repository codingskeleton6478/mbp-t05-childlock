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6" r:id="rId7"/>
    <p:sldId id="261" r:id="rId8"/>
    <p:sldId id="262" r:id="rId9"/>
    <p:sldId id="263" r:id="rId10"/>
    <p:sldId id="264" r:id="rId11"/>
    <p:sldId id="265" r:id="rId12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prnPr scaleToFitPaper="1"/>
  <p:showPr showNarration="1">
    <p:sldAll/>
    <p:penClr>
      <a:srgbClr val="ff0000"/>
    </p:penClr>
    <p:extLst>
      <p:ext uri="{2FDB2607-1784-4EEB-B798-7EB5836EED8A}">
        <p14:showMediaCtrls xmlns:p14="http://schemas.microsoft.com/office/powerpoint/2010/main" val="1"/>
      </p:ext>
    </p:extLst>
  </p:showPr>
  <p:extLst>
    <p:ext uri="ACF4677E-8BD2-47ae-8A1F-98590045965D">
      <hp:hncThemeShow xmlns:hp="http://schemas.haansoft.com/office/presentation/8.0" themeShowType="1" themeSkinType="1" themeTransitionType="1" useThemeTransition="1" byMouseClick="1" attrType="1" dur="2000"/>
    </p:ext>
  </p:extLst>
</p:presentationPr>
</file>

<file path=ppt/tableStyles.xml><?xml version="1.0" encoding="utf-8"?>
<a:tblStyleLst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def="{5C22544A-7EE6-4342-B048-85BDC9FD1C3A}"/>
</file>

<file path=ppt/viewProps.xml><?xml version="1.0" encoding="utf-8"?>
<p:view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normalViewPr>
    <p:restoredLeft sz="15620"/>
    <p:restoredTop sz="94660"/>
  </p:normalViewPr>
  <p:slideViewPr>
    <p:cSldViewPr snapToGrid="0" snapToObjects="1" showGuides="1">
      <p:cViewPr varScale="1">
        <p:scale>
          <a:sx n="100" d="100"/>
          <a:sy n="100" d="100"/>
        </p:scale>
        <p:origin x="408" y="51"/>
      </p:cViewPr>
      <p:guideLst>
        <p:guide orient="horz" pos="2157"/>
        <p:guide pos="3836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27432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88952" cy="91440"/>
          </a:xfrm>
          <a:prstGeom prst="rect">
            <a:avLst/>
          </a:prstGeom>
          <a:solidFill>
            <a:srgbClr val="FF6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09728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 sz="4400" b="1">
                <a:solidFill>
                  <a:srgbClr val="FFFFFF"/>
                </a:solidFill>
              </a:defRPr>
            </a:pPr>
            <a:r>
              <a:rPr lang="ko-KR" altLang="en-US" dirty="0">
                <a:latin typeface="현대하모니 B" panose="02020603020101020101" pitchFamily="18" charset="-127"/>
                <a:ea typeface="현대하모니 B" panose="02020603020101020101" pitchFamily="18" charset="-127"/>
              </a:rPr>
              <a:t>MOBIUS BOOTCAMP 1기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828800"/>
            <a:ext cx="109728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 sz="2800" b="0">
                <a:solidFill>
                  <a:srgbClr val="FFFFFF"/>
                </a:solidFill>
              </a:defRPr>
            </a:pPr>
            <a:r>
              <a:rPr lang="ko-KR" altLang="en-US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PBL 결과발표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200400"/>
            <a:ext cx="109728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 sz="2400" b="1">
                <a:solidFill>
                  <a:srgbClr val="003366"/>
                </a:solidFill>
              </a:defRPr>
            </a:pPr>
            <a:r>
              <a:rPr lang="en-US" altLang="ko-KR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PBL 1 ISO26262 </a:t>
            </a:r>
            <a:r>
              <a:rPr lang="ko-KR" altLang="en-US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프로젝트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215651"/>
            <a:ext cx="10972800" cy="4402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 sz="2200" b="0">
                <a:solidFill>
                  <a:srgbClr val="333333"/>
                </a:solidFill>
              </a:defRPr>
            </a:pPr>
            <a:r>
              <a:rPr lang="ko-KR" altLang="en-US" sz="2300">
                <a:solidFill>
                  <a:srgbClr val="000000"/>
                </a:solidFill>
                <a:latin typeface="현대하모니 M"/>
                <a:ea typeface="현대하모니 M"/>
              </a:rPr>
              <a:t>ISO 26262  </a:t>
            </a:r>
            <a:r>
              <a:rPr lang="en-US" altLang="ko-KR" sz="2300">
                <a:solidFill>
                  <a:srgbClr val="000000"/>
                </a:solidFill>
                <a:latin typeface="현대하모니 M"/>
                <a:ea typeface="현대하모니 M"/>
              </a:rPr>
              <a:t>Child Lock </a:t>
            </a:r>
            <a:r>
              <a:rPr lang="ko-KR" altLang="en-US" sz="2300">
                <a:solidFill>
                  <a:srgbClr val="000000"/>
                </a:solidFill>
                <a:latin typeface="현대하모니 M"/>
                <a:ea typeface="현대하모니 M"/>
              </a:rPr>
              <a:t>SW 시뮬레이션 프로젝트</a:t>
            </a:r>
            <a:endParaRPr lang="ko-KR" altLang="en-US" sz="2300">
              <a:solidFill>
                <a:srgbClr val="000000"/>
              </a:solidFill>
              <a:latin typeface="현대하모니 M"/>
              <a:ea typeface="현대하모니 M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57200" y="5943600"/>
            <a:ext cx="109728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 sz="1400" b="0">
                <a:solidFill>
                  <a:srgbClr val="808080"/>
                </a:solidFill>
              </a:defRPr>
            </a:pPr>
            <a:r>
              <a:rPr lang="ko-KR" altLang="en-US" sz="1600" b="1">
                <a:solidFill>
                  <a:schemeClr val="dk1"/>
                </a:solidFill>
                <a:latin typeface="현대하모니 B"/>
                <a:ea typeface="현대하모니 B"/>
              </a:rPr>
              <a:t>2026. 03. 2</a:t>
            </a:r>
            <a:r>
              <a:rPr lang="en-US" altLang="ko-KR" sz="1600" b="1">
                <a:solidFill>
                  <a:schemeClr val="dk1"/>
                </a:solidFill>
                <a:latin typeface="현대하모니 B"/>
                <a:ea typeface="현대하모니 B"/>
              </a:rPr>
              <a:t>3</a:t>
            </a:r>
            <a:endParaRPr lang="en-US" altLang="ko-KR" sz="1600" b="1">
              <a:solidFill>
                <a:schemeClr val="dk1"/>
              </a:solidFill>
              <a:latin typeface="현대하모니 B"/>
              <a:ea typeface="현대하모니 B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0058400" y="6217920"/>
            <a:ext cx="18288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r">
              <a:defRPr sz="1000" b="0">
                <a:solidFill>
                  <a:srgbClr val="808080"/>
                </a:solidFill>
              </a:defRPr>
            </a:pPr>
            <a:r>
              <a:rPr lang="ko-KR" altLang="en-US" dirty="0">
                <a:latin typeface="현대하모니 L" panose="02020603020101020101" pitchFamily="18" charset="-127"/>
                <a:ea typeface="현대하모니 L" panose="02020603020101020101" pitchFamily="18" charset="-127"/>
              </a:rPr>
              <a:t>현대모비스 </a:t>
            </a:r>
            <a:r>
              <a:rPr lang="ko-KR" altLang="en-US" dirty="0" err="1">
                <a:latin typeface="현대하모니 L" panose="02020603020101020101" pitchFamily="18" charset="-127"/>
                <a:ea typeface="현대하모니 L" panose="02020603020101020101" pitchFamily="18" charset="-127"/>
              </a:rPr>
              <a:t>x</a:t>
            </a:r>
            <a:r>
              <a:rPr lang="ko-KR" altLang="en-US" dirty="0">
                <a:latin typeface="현대하모니 L" panose="02020603020101020101" pitchFamily="18" charset="-127"/>
                <a:ea typeface="현대하모니 L" panose="02020603020101020101" pitchFamily="18" charset="-127"/>
              </a:rPr>
              <a:t> LIKELION</a:t>
            </a:r>
          </a:p>
        </p:txBody>
      </p:sp>
      <p:pic>
        <p:nvPicPr>
          <p:cNvPr id="13" name="Picture 4"/>
          <p:cNvPicPr>
            <a:picLocks noChangeAspect="1" noChangeArrowheads="1"/>
          </p:cNvPicPr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0" y="4252939"/>
            <a:ext cx="3549276" cy="2650518"/>
          </a:xfrm>
          <a:prstGeom prst="rect">
            <a:avLst/>
          </a:prstGeom>
          <a:noFill/>
        </p:spPr>
      </p:pic>
      <p:sp>
        <p:nvSpPr>
          <p:cNvPr id="15" name="TextBox 7"/>
          <p:cNvSpPr txBox="1"/>
          <p:nvPr/>
        </p:nvSpPr>
        <p:spPr>
          <a:xfrm>
            <a:off x="457200" y="4572000"/>
            <a:ext cx="10972800" cy="5695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 sz="3200" b="1">
                <a:solidFill>
                  <a:srgbClr val="333333"/>
                </a:solidFill>
              </a:defRPr>
            </a:pPr>
            <a:r>
              <a:rPr lang="ko-KR" altLang="en-US" b="0">
                <a:solidFill>
                  <a:schemeClr val="dk1"/>
                </a:solidFill>
                <a:latin typeface="현대하모니 B"/>
                <a:ea typeface="현대하모니 B"/>
              </a:rPr>
              <a:t>팀명 </a:t>
            </a:r>
            <a:r>
              <a:rPr lang="en-US" altLang="ko-KR" b="0">
                <a:solidFill>
                  <a:schemeClr val="dk1"/>
                </a:solidFill>
                <a:latin typeface="현대하모니 B"/>
                <a:ea typeface="현대하모니 B"/>
              </a:rPr>
              <a:t>:</a:t>
            </a:r>
            <a:r>
              <a:rPr lang="ko-KR" altLang="en-US" b="0">
                <a:solidFill>
                  <a:schemeClr val="dk1"/>
                </a:solidFill>
                <a:latin typeface="현대하모니 B"/>
                <a:ea typeface="현대하모니 B"/>
              </a:rPr>
              <a:t> 전차</a:t>
            </a:r>
            <a:endParaRPr lang="en-US" altLang="ko-KR" b="0">
              <a:solidFill>
                <a:schemeClr val="dk1"/>
              </a:solidFill>
              <a:latin typeface="현대하모니 L"/>
              <a:ea typeface="현대하모니 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rPr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01. 팀 </a:t>
            </a:r>
            <a:r>
              <a:rPr dirty="0" err="1">
                <a:latin typeface="현대하모니 M" panose="02020603020101020101" pitchFamily="18" charset="-127"/>
                <a:ea typeface="현대하모니 M" panose="02020603020101020101" pitchFamily="18" charset="-127"/>
              </a:rPr>
              <a:t>소개</a:t>
            </a:r>
            <a:endParaRPr dirty="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0" y="731520"/>
            <a:ext cx="12188952" cy="45720"/>
          </a:xfrm>
          <a:prstGeom prst="rect">
            <a:avLst/>
          </a:prstGeom>
          <a:solidFill>
            <a:srgbClr val="FF6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57200" y="6583680"/>
            <a:ext cx="109728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</a:defRPr>
            </a:pPr>
            <a:r>
              <a:rPr dirty="0">
                <a:latin typeface="현대하모니 L" panose="02020603020101020101" pitchFamily="18" charset="-127"/>
                <a:ea typeface="현대하모니 L" panose="02020603020101020101" pitchFamily="18" charset="-127"/>
              </a:rPr>
              <a:t>MOBIUS BOOTCAMP 1기 | PBL </a:t>
            </a:r>
            <a:r>
              <a:rPr dirty="0" err="1">
                <a:latin typeface="현대하모니 L" panose="02020603020101020101" pitchFamily="18" charset="-127"/>
                <a:ea typeface="현대하모니 L" panose="02020603020101020101" pitchFamily="18" charset="-127"/>
              </a:rPr>
              <a:t>결과발표</a:t>
            </a:r>
            <a:r>
              <a:rPr dirty="0">
                <a:latin typeface="현대하모니 L" panose="02020603020101020101" pitchFamily="18" charset="-127"/>
                <a:ea typeface="현대하모니 L" panose="02020603020101020101" pitchFamily="18" charset="-127"/>
              </a:rPr>
              <a:t> | 2/10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37408" y="1207008"/>
            <a:ext cx="3749039" cy="731520"/>
          </a:xfrm>
          <a:prstGeom prst="rect">
            <a:avLst/>
          </a:prstGeom>
          <a:solidFill>
            <a:srgbClr val="0035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10560" y="1261872"/>
            <a:ext cx="360273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dirty="0" err="1">
                <a:solidFill>
                  <a:srgbClr val="FFFFFF"/>
                </a:solidFill>
                <a:latin typeface="Malgun Gothic"/>
              </a:rPr>
              <a:t>이한결</a:t>
            </a:r>
            <a:endParaRPr sz="1600" b="1" dirty="0">
              <a:solidFill>
                <a:srgbClr val="FFFFFF"/>
              </a:solidFill>
              <a:latin typeface="Malgun Gothic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410560" y="1609344"/>
            <a:ext cx="360273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dirty="0">
                <a:solidFill>
                  <a:srgbClr val="CCE5FF"/>
                </a:solidFill>
                <a:latin typeface="Malgun Gothic"/>
              </a:rPr>
              <a:t>@hangyeoli  |  </a:t>
            </a:r>
            <a:r>
              <a:rPr sz="1100" b="0" dirty="0" err="1">
                <a:solidFill>
                  <a:srgbClr val="CCE5FF"/>
                </a:solidFill>
                <a:latin typeface="Malgun Gothic"/>
              </a:rPr>
              <a:t>프로젝트</a:t>
            </a:r>
            <a:r>
              <a:rPr sz="1100" b="0" dirty="0">
                <a:solidFill>
                  <a:srgbClr val="CCE5FF"/>
                </a:solidFill>
                <a:latin typeface="Malgun Gothic"/>
              </a:rPr>
              <a:t> </a:t>
            </a:r>
            <a:r>
              <a:rPr sz="1100" b="0" dirty="0" err="1">
                <a:solidFill>
                  <a:srgbClr val="CCE5FF"/>
                </a:solidFill>
                <a:latin typeface="Malgun Gothic"/>
              </a:rPr>
              <a:t>메인테이너</a:t>
            </a:r>
            <a:r>
              <a:rPr sz="1100" b="0" dirty="0">
                <a:solidFill>
                  <a:srgbClr val="CCE5FF"/>
                </a:solidFill>
                <a:latin typeface="Malgun Gothic"/>
              </a:rPr>
              <a:t> &amp; F-01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37408" y="1938528"/>
            <a:ext cx="3749039" cy="1600199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28848" y="1984248"/>
            <a:ext cx="356615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dirty="0">
                <a:solidFill>
                  <a:srgbClr val="00357E"/>
                </a:solidFill>
                <a:latin typeface="Malgun Gothic"/>
              </a:rPr>
              <a:t>F-01 </a:t>
            </a:r>
            <a:r>
              <a:rPr sz="1400" b="1" dirty="0" err="1">
                <a:solidFill>
                  <a:srgbClr val="00357E"/>
                </a:solidFill>
                <a:latin typeface="Malgun Gothic"/>
              </a:rPr>
              <a:t>InputMonitorAndValidator</a:t>
            </a:r>
            <a:endParaRPr sz="1400" b="1" dirty="0">
              <a:solidFill>
                <a:srgbClr val="00357E"/>
              </a:solidFill>
              <a:latin typeface="Malgun Gothic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447136" y="2441448"/>
            <a:ext cx="352958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dirty="0">
                <a:solidFill>
                  <a:srgbClr val="1A1A2E"/>
                </a:solidFill>
                <a:latin typeface="Malgun Gothic"/>
              </a:rPr>
              <a:t>• </a:t>
            </a:r>
            <a:r>
              <a:rPr sz="1100" b="1" dirty="0" err="1">
                <a:solidFill>
                  <a:srgbClr val="1A1A2E"/>
                </a:solidFill>
                <a:latin typeface="Malgun Gothic"/>
              </a:rPr>
              <a:t>전체</a:t>
            </a:r>
            <a:r>
              <a:rPr sz="1100" b="1" dirty="0">
                <a:solidFill>
                  <a:srgbClr val="1A1A2E"/>
                </a:solidFill>
                <a:latin typeface="Malgun Gothic"/>
              </a:rPr>
              <a:t> Issues </a:t>
            </a:r>
            <a:r>
              <a:rPr sz="1100" b="1" dirty="0" err="1">
                <a:solidFill>
                  <a:srgbClr val="1A1A2E"/>
                </a:solidFill>
                <a:latin typeface="Malgun Gothic"/>
              </a:rPr>
              <a:t>생성</a:t>
            </a:r>
            <a:r>
              <a:rPr sz="1100" b="1" dirty="0">
                <a:solidFill>
                  <a:srgbClr val="1A1A2E"/>
                </a:solidFill>
                <a:latin typeface="Malgun Gothic"/>
              </a:rPr>
              <a:t> </a:t>
            </a:r>
            <a:r>
              <a:rPr sz="1100" b="1" dirty="0" err="1">
                <a:solidFill>
                  <a:srgbClr val="1A1A2E"/>
                </a:solidFill>
                <a:latin typeface="Malgun Gothic"/>
              </a:rPr>
              <a:t>관리</a:t>
            </a:r>
            <a:r>
              <a:rPr sz="1100" b="1" dirty="0">
                <a:solidFill>
                  <a:srgbClr val="1A1A2E"/>
                </a:solidFill>
                <a:latin typeface="Malgun Gothic"/>
              </a:rPr>
              <a:t> (Issue #4~#13)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7136" y="2697480"/>
            <a:ext cx="352958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dirty="0">
                <a:solidFill>
                  <a:srgbClr val="1A1A2E"/>
                </a:solidFill>
                <a:latin typeface="Malgun Gothic"/>
              </a:rPr>
              <a:t>• </a:t>
            </a:r>
            <a:r>
              <a:rPr sz="1100" b="1" dirty="0" err="1">
                <a:solidFill>
                  <a:srgbClr val="1A1A2E"/>
                </a:solidFill>
                <a:latin typeface="Malgun Gothic"/>
              </a:rPr>
              <a:t>CMake</a:t>
            </a:r>
            <a:r>
              <a:rPr sz="1100" b="1" dirty="0">
                <a:solidFill>
                  <a:srgbClr val="1A1A2E"/>
                </a:solidFill>
                <a:latin typeface="Malgun Gothic"/>
              </a:rPr>
              <a:t> </a:t>
            </a:r>
            <a:r>
              <a:rPr sz="1100" b="1" dirty="0" err="1">
                <a:solidFill>
                  <a:srgbClr val="1A1A2E"/>
                </a:solidFill>
                <a:latin typeface="Malgun Gothic"/>
              </a:rPr>
              <a:t>빌드</a:t>
            </a:r>
            <a:r>
              <a:rPr sz="1100" b="1" dirty="0">
                <a:solidFill>
                  <a:srgbClr val="1A1A2E"/>
                </a:solidFill>
                <a:latin typeface="Malgun Gothic"/>
              </a:rPr>
              <a:t> </a:t>
            </a:r>
            <a:r>
              <a:rPr sz="1100" b="1" dirty="0" err="1">
                <a:solidFill>
                  <a:srgbClr val="1A1A2E"/>
                </a:solidFill>
                <a:latin typeface="Malgun Gothic"/>
              </a:rPr>
              <a:t>구성</a:t>
            </a:r>
            <a:r>
              <a:rPr sz="1100" b="1" dirty="0">
                <a:solidFill>
                  <a:srgbClr val="1A1A2E"/>
                </a:solidFill>
                <a:latin typeface="Malgun Gothic"/>
              </a:rPr>
              <a:t> (PR#17)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7136" y="2953512"/>
            <a:ext cx="352958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dirty="0">
                <a:solidFill>
                  <a:srgbClr val="1A1A2E"/>
                </a:solidFill>
                <a:latin typeface="Malgun Gothic"/>
              </a:rPr>
              <a:t>• Scope Fix &amp; </a:t>
            </a:r>
            <a:r>
              <a:rPr sz="1100" b="1" dirty="0" err="1">
                <a:solidFill>
                  <a:srgbClr val="1A1A2E"/>
                </a:solidFill>
                <a:latin typeface="Malgun Gothic"/>
              </a:rPr>
              <a:t>CTest</a:t>
            </a:r>
            <a:r>
              <a:rPr sz="1100" b="1" dirty="0">
                <a:solidFill>
                  <a:srgbClr val="1A1A2E"/>
                </a:solidFill>
                <a:latin typeface="Malgun Gothic"/>
              </a:rPr>
              <a:t> (PR#26)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205319" y="1207008"/>
            <a:ext cx="3749039" cy="731520"/>
          </a:xfrm>
          <a:prstGeom prst="rect">
            <a:avLst/>
          </a:prstGeom>
          <a:solidFill>
            <a:srgbClr val="005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5" name="TextBox 34"/>
          <p:cNvSpPr txBox="1"/>
          <p:nvPr/>
        </p:nvSpPr>
        <p:spPr>
          <a:xfrm>
            <a:off x="4278471" y="1261872"/>
            <a:ext cx="360273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defRPr/>
            </a:pPr>
            <a:r>
              <a:rPr sz="1600" b="1" dirty="0" err="1">
                <a:solidFill>
                  <a:srgbClr val="FFFFFF"/>
                </a:solidFill>
                <a:latin typeface="맑은 고딕"/>
              </a:rPr>
              <a:t>김이안</a:t>
            </a:r>
            <a:endParaRPr sz="1600" b="1" dirty="0">
              <a:solidFill>
                <a:srgbClr val="FFFFFF"/>
              </a:solidFill>
              <a:latin typeface="맑은 고딕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4278471" y="1609344"/>
            <a:ext cx="360273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defRPr/>
            </a:pPr>
            <a:r>
              <a:rPr sz="1100" b="0">
                <a:solidFill>
                  <a:srgbClr val="CCE5FF"/>
                </a:solidFill>
                <a:latin typeface="맑은 고딕"/>
              </a:rPr>
              <a:t>@iank1m  |  상태 결정 로직 개발자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205319" y="1938528"/>
            <a:ext cx="3749039" cy="1600199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8" name="TextBox 37"/>
          <p:cNvSpPr txBox="1"/>
          <p:nvPr/>
        </p:nvSpPr>
        <p:spPr>
          <a:xfrm>
            <a:off x="4296759" y="1984248"/>
            <a:ext cx="356615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defRPr/>
            </a:pPr>
            <a:r>
              <a:rPr sz="1400" b="1">
                <a:solidFill>
                  <a:srgbClr val="005BB5"/>
                </a:solidFill>
                <a:latin typeface="맑은 고딕"/>
              </a:rPr>
              <a:t>F-02 ChildLockStateDecision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15047" y="2441448"/>
            <a:ext cx="352958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defRPr/>
            </a:pPr>
            <a:r>
              <a:rPr sz="1100" b="1">
                <a:solidFill>
                  <a:srgbClr val="1A1A2E"/>
                </a:solidFill>
                <a:latin typeface="맑은 고딕"/>
              </a:rPr>
              <a:t>• 차일드락 핵심 상태 전이 로직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315047" y="2697480"/>
            <a:ext cx="352958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defRPr/>
            </a:pPr>
            <a:r>
              <a:rPr sz="1100" b="1">
                <a:solidFill>
                  <a:srgbClr val="1A1A2E"/>
                </a:solidFill>
                <a:latin typeface="맑은 고딕"/>
              </a:rPr>
              <a:t>• 단독 구현 (PR#14)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315047" y="2953512"/>
            <a:ext cx="352958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defRPr/>
            </a:pPr>
            <a:r>
              <a:rPr sz="1100" b="1">
                <a:solidFill>
                  <a:srgbClr val="1A1A2E"/>
                </a:solidFill>
                <a:latin typeface="맑은 고딕"/>
              </a:rPr>
              <a:t>• ISO 26262 ASIL 설계 반영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073232" y="1207008"/>
            <a:ext cx="3749039" cy="731520"/>
          </a:xfrm>
          <a:prstGeom prst="rect">
            <a:avLst/>
          </a:prstGeom>
          <a:solidFill>
            <a:srgbClr val="0035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3" name="TextBox 42"/>
          <p:cNvSpPr txBox="1"/>
          <p:nvPr/>
        </p:nvSpPr>
        <p:spPr>
          <a:xfrm>
            <a:off x="8146384" y="1261872"/>
            <a:ext cx="360273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defRPr/>
            </a:pPr>
            <a:r>
              <a:rPr sz="1600" b="1">
                <a:solidFill>
                  <a:srgbClr val="FFFFFF"/>
                </a:solidFill>
                <a:latin typeface="맑은 고딕"/>
              </a:rPr>
              <a:t>박찬석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46384" y="1609344"/>
            <a:ext cx="360273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defRPr/>
            </a:pPr>
            <a:r>
              <a:rPr sz="1100" b="0">
                <a:solidFill>
                  <a:srgbClr val="CCE5FF"/>
                </a:solidFill>
                <a:latin typeface="맑은 고딕"/>
              </a:rPr>
              <a:t>@p-chanseok  |  TDD 기반 제어 로직 개발자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073232" y="1938528"/>
            <a:ext cx="3749039" cy="1600199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6" name="TextBox 45"/>
          <p:cNvSpPr txBox="1"/>
          <p:nvPr/>
        </p:nvSpPr>
        <p:spPr>
          <a:xfrm>
            <a:off x="8164672" y="1984248"/>
            <a:ext cx="356615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defRPr/>
            </a:pPr>
            <a:r>
              <a:rPr sz="1400" b="1">
                <a:solidFill>
                  <a:srgbClr val="00357E"/>
                </a:solidFill>
                <a:latin typeface="맑은 고딕"/>
              </a:rPr>
              <a:t>F-03 DoorEcuCommandHandler</a:t>
            </a:r>
          </a:p>
          <a:p>
            <a:pPr lvl="0" algn="l">
              <a:defRPr/>
            </a:pPr>
            <a:r>
              <a:rPr sz="1400" b="1">
                <a:solidFill>
                  <a:srgbClr val="00357E"/>
                </a:solidFill>
                <a:latin typeface="맑은 고딕"/>
              </a:rPr>
              <a:t>F-04 RearDoorOpenBlockHandler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82959" y="2614292"/>
            <a:ext cx="352958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defRPr/>
            </a:pPr>
            <a:r>
              <a:rPr sz="1100" b="1" dirty="0">
                <a:solidFill>
                  <a:srgbClr val="1A1A2E"/>
                </a:solidFill>
                <a:latin typeface="맑은 고딕"/>
              </a:rPr>
              <a:t>• TDD </a:t>
            </a:r>
            <a:r>
              <a:rPr sz="1100" b="1" dirty="0" err="1">
                <a:solidFill>
                  <a:srgbClr val="1A1A2E"/>
                </a:solidFill>
                <a:latin typeface="맑은 고딕"/>
              </a:rPr>
              <a:t>방식</a:t>
            </a:r>
            <a:r>
              <a:rPr sz="1100" b="1" dirty="0">
                <a:solidFill>
                  <a:srgbClr val="1A1A2E"/>
                </a:solidFill>
                <a:latin typeface="맑은 고딕"/>
              </a:rPr>
              <a:t> Door ECU </a:t>
            </a:r>
            <a:r>
              <a:rPr sz="1100" b="1" dirty="0" err="1">
                <a:solidFill>
                  <a:srgbClr val="1A1A2E"/>
                </a:solidFill>
                <a:latin typeface="맑은 고딕"/>
              </a:rPr>
              <a:t>제어</a:t>
            </a:r>
            <a:r>
              <a:rPr sz="1100" b="1" dirty="0">
                <a:solidFill>
                  <a:srgbClr val="1A1A2E"/>
                </a:solidFill>
                <a:latin typeface="맑은 고딕"/>
              </a:rPr>
              <a:t> (PR#23)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182959" y="2863523"/>
            <a:ext cx="352958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defRPr/>
            </a:pPr>
            <a:r>
              <a:rPr sz="1100" b="1" dirty="0">
                <a:solidFill>
                  <a:srgbClr val="1A1A2E"/>
                </a:solidFill>
                <a:latin typeface="맑은 고딕"/>
              </a:rPr>
              <a:t>• 69/69 </a:t>
            </a:r>
            <a:r>
              <a:rPr sz="1100" b="1" dirty="0" err="1">
                <a:solidFill>
                  <a:srgbClr val="1A1A2E"/>
                </a:solidFill>
                <a:latin typeface="맑은 고딕"/>
              </a:rPr>
              <a:t>테스트</a:t>
            </a:r>
            <a:r>
              <a:rPr sz="1100" b="1" dirty="0">
                <a:solidFill>
                  <a:srgbClr val="1A1A2E"/>
                </a:solidFill>
                <a:latin typeface="맑은 고딕"/>
              </a:rPr>
              <a:t> </a:t>
            </a:r>
            <a:r>
              <a:rPr sz="1100" b="1" dirty="0" err="1">
                <a:solidFill>
                  <a:srgbClr val="1A1A2E"/>
                </a:solidFill>
                <a:latin typeface="맑은 고딕"/>
              </a:rPr>
              <a:t>케이스</a:t>
            </a:r>
            <a:r>
              <a:rPr sz="1100" b="1" dirty="0">
                <a:solidFill>
                  <a:srgbClr val="1A1A2E"/>
                </a:solidFill>
                <a:latin typeface="맑은 고딕"/>
              </a:rPr>
              <a:t> </a:t>
            </a:r>
            <a:r>
              <a:rPr sz="1100" b="1" dirty="0" err="1">
                <a:solidFill>
                  <a:srgbClr val="1A1A2E"/>
                </a:solidFill>
                <a:latin typeface="맑은 고딕"/>
              </a:rPr>
              <a:t>통과</a:t>
            </a:r>
            <a:r>
              <a:rPr sz="1100" b="1" dirty="0">
                <a:solidFill>
                  <a:srgbClr val="1A1A2E"/>
                </a:solidFill>
                <a:latin typeface="맑은 고딕"/>
              </a:rPr>
              <a:t> (PR#22)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37408" y="3648456"/>
            <a:ext cx="3749039" cy="731520"/>
          </a:xfrm>
          <a:prstGeom prst="rect">
            <a:avLst/>
          </a:prstGeom>
          <a:solidFill>
            <a:srgbClr val="005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410560" y="3703320"/>
            <a:ext cx="360273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>
                <a:solidFill>
                  <a:srgbClr val="FFFFFF"/>
                </a:solidFill>
                <a:latin typeface="Malgun Gothic"/>
              </a:rPr>
              <a:t>이승욱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10560" y="4050792"/>
            <a:ext cx="360273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CE5FF"/>
                </a:solidFill>
                <a:latin typeface="Malgun Gothic"/>
              </a:rPr>
              <a:t>@josephuk77  |  상태 유지 &amp; 알림 개발자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37408" y="4379976"/>
            <a:ext cx="3749039" cy="1600199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428848" y="4425696"/>
            <a:ext cx="356615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5BB5"/>
                </a:solidFill>
                <a:latin typeface="Malgun Gothic"/>
              </a:rPr>
              <a:t>F-05 StatePersistenceManager
F-10 IgnitionOffStatusAlert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47135" y="5135808"/>
            <a:ext cx="352958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dirty="0">
                <a:solidFill>
                  <a:srgbClr val="1A1A2E"/>
                </a:solidFill>
                <a:latin typeface="Malgun Gothic"/>
              </a:rPr>
              <a:t>• </a:t>
            </a:r>
            <a:r>
              <a:rPr sz="1100" b="1" dirty="0" err="1">
                <a:solidFill>
                  <a:srgbClr val="1A1A2E"/>
                </a:solidFill>
                <a:latin typeface="Malgun Gothic"/>
              </a:rPr>
              <a:t>상태</a:t>
            </a:r>
            <a:r>
              <a:rPr sz="1100" b="1" dirty="0">
                <a:solidFill>
                  <a:srgbClr val="1A1A2E"/>
                </a:solidFill>
                <a:latin typeface="Malgun Gothic"/>
              </a:rPr>
              <a:t> </a:t>
            </a:r>
            <a:r>
              <a:rPr sz="1100" b="1" dirty="0" err="1">
                <a:solidFill>
                  <a:srgbClr val="1A1A2E"/>
                </a:solidFill>
                <a:latin typeface="Malgun Gothic"/>
              </a:rPr>
              <a:t>저장</a:t>
            </a:r>
            <a:r>
              <a:rPr sz="1100" b="1" dirty="0">
                <a:solidFill>
                  <a:srgbClr val="1A1A2E"/>
                </a:solidFill>
                <a:latin typeface="Malgun Gothic"/>
              </a:rPr>
              <a:t>/</a:t>
            </a:r>
            <a:r>
              <a:rPr sz="1100" b="1" dirty="0" err="1">
                <a:solidFill>
                  <a:srgbClr val="1A1A2E"/>
                </a:solidFill>
                <a:latin typeface="Malgun Gothic"/>
              </a:rPr>
              <a:t>복구</a:t>
            </a:r>
            <a:r>
              <a:rPr sz="1100" b="1" dirty="0">
                <a:solidFill>
                  <a:srgbClr val="1A1A2E"/>
                </a:solidFill>
                <a:latin typeface="Malgun Gothic"/>
              </a:rPr>
              <a:t> 및 </a:t>
            </a:r>
            <a:r>
              <a:rPr sz="1100" b="1" dirty="0" err="1">
                <a:solidFill>
                  <a:srgbClr val="1A1A2E"/>
                </a:solidFill>
                <a:latin typeface="Malgun Gothic"/>
              </a:rPr>
              <a:t>시동</a:t>
            </a:r>
            <a:r>
              <a:rPr sz="1100" b="1" dirty="0">
                <a:solidFill>
                  <a:srgbClr val="1A1A2E"/>
                </a:solidFill>
                <a:latin typeface="Malgun Gothic"/>
              </a:rPr>
              <a:t> OFF </a:t>
            </a:r>
            <a:r>
              <a:rPr sz="1100" b="1" dirty="0" err="1">
                <a:solidFill>
                  <a:srgbClr val="1A1A2E"/>
                </a:solidFill>
                <a:latin typeface="Malgun Gothic"/>
              </a:rPr>
              <a:t>알림</a:t>
            </a:r>
            <a:r>
              <a:rPr sz="1100" b="1" dirty="0">
                <a:solidFill>
                  <a:srgbClr val="1A1A2E"/>
                </a:solidFill>
                <a:latin typeface="Malgun Gothic"/>
              </a:rPr>
              <a:t> (PR#19, #20)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10560" y="5418826"/>
            <a:ext cx="352958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2E"/>
                </a:solidFill>
                <a:latin typeface="Malgun Gothic"/>
              </a:rPr>
              <a:t>• UML 다이어그램 문서화 (Issue#1/PR#2)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205319" y="3648456"/>
            <a:ext cx="3749039" cy="731520"/>
          </a:xfrm>
          <a:prstGeom prst="rect">
            <a:avLst/>
          </a:prstGeom>
          <a:solidFill>
            <a:srgbClr val="0035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7" name="TextBox 56"/>
          <p:cNvSpPr txBox="1"/>
          <p:nvPr/>
        </p:nvSpPr>
        <p:spPr>
          <a:xfrm>
            <a:off x="4278471" y="3703320"/>
            <a:ext cx="360273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defRPr/>
            </a:pPr>
            <a:r>
              <a:rPr sz="1600" b="1">
                <a:solidFill>
                  <a:srgbClr val="FFFFFF"/>
                </a:solidFill>
                <a:latin typeface="맑은 고딕"/>
              </a:rPr>
              <a:t>김도균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8471" y="4050792"/>
            <a:ext cx="360273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defRPr/>
            </a:pPr>
            <a:r>
              <a:rPr sz="1100" b="0">
                <a:solidFill>
                  <a:srgbClr val="CCE5FF"/>
                </a:solidFill>
                <a:latin typeface="맑은 고딕"/>
              </a:rPr>
              <a:t>@codingSkeleton6478  |  HMI &amp; 좌석 알림 개발자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205319" y="4379976"/>
            <a:ext cx="3749039" cy="1600199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0" name="TextBox 59"/>
          <p:cNvSpPr txBox="1"/>
          <p:nvPr/>
        </p:nvSpPr>
        <p:spPr>
          <a:xfrm>
            <a:off x="4296759" y="4425696"/>
            <a:ext cx="356615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defRPr/>
            </a:pPr>
            <a:r>
              <a:rPr sz="1600" b="1">
                <a:solidFill>
                  <a:srgbClr val="00357E"/>
                </a:solidFill>
                <a:latin typeface="맑은 고딕"/>
              </a:rPr>
              <a:t>F-06 HmiAndEventLogger</a:t>
            </a:r>
          </a:p>
          <a:p>
            <a:pPr lvl="0" algn="l">
              <a:defRPr/>
            </a:pPr>
            <a:r>
              <a:rPr sz="1600" b="1">
                <a:solidFill>
                  <a:srgbClr val="00357E"/>
                </a:solidFill>
                <a:latin typeface="맑은 고딕"/>
              </a:rPr>
              <a:t>F-09 RearSeatOccupancyAlert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278471" y="5177510"/>
            <a:ext cx="352958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defRPr/>
            </a:pPr>
            <a:r>
              <a:rPr sz="1100" b="1">
                <a:solidFill>
                  <a:srgbClr val="1A1A2E"/>
                </a:solidFill>
                <a:latin typeface="맑은 고딕"/>
              </a:rPr>
              <a:t>• 경고/알림 HMI 출력 로직 (PR#24)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315047" y="5435548"/>
            <a:ext cx="352958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defRPr/>
            </a:pPr>
            <a:r>
              <a:rPr sz="1100" b="1">
                <a:solidFill>
                  <a:srgbClr val="1A1A2E"/>
                </a:solidFill>
                <a:latin typeface="맑은 고딕"/>
              </a:rPr>
              <a:t>• 이벤트 로거 구현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073232" y="3648456"/>
            <a:ext cx="3749039" cy="731520"/>
          </a:xfrm>
          <a:prstGeom prst="rect">
            <a:avLst/>
          </a:prstGeom>
          <a:solidFill>
            <a:srgbClr val="005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4" name="TextBox 63"/>
          <p:cNvSpPr txBox="1"/>
          <p:nvPr/>
        </p:nvSpPr>
        <p:spPr>
          <a:xfrm>
            <a:off x="8146384" y="3703320"/>
            <a:ext cx="360273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defRPr/>
            </a:pPr>
            <a:r>
              <a:rPr sz="1600" b="1">
                <a:solidFill>
                  <a:srgbClr val="FFFFFF"/>
                </a:solidFill>
                <a:latin typeface="맑은 고딕"/>
              </a:rPr>
              <a:t>박기준 (팀장)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146384" y="4050792"/>
            <a:ext cx="360273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defRPr/>
            </a:pPr>
            <a:r>
              <a:rPr sz="1100" b="0">
                <a:solidFill>
                  <a:srgbClr val="CCE5FF"/>
                </a:solidFill>
                <a:latin typeface="맑은 고딕"/>
              </a:rPr>
              <a:t>@PKJthecreator  |  PM &amp; Safety 모듈 개발자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073232" y="4379976"/>
            <a:ext cx="3749039" cy="1600199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7" name="TextBox 66"/>
          <p:cNvSpPr txBox="1"/>
          <p:nvPr/>
        </p:nvSpPr>
        <p:spPr>
          <a:xfrm>
            <a:off x="8164672" y="4425696"/>
            <a:ext cx="356615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defRPr/>
            </a:pPr>
            <a:r>
              <a:rPr sz="1600" b="1" dirty="0">
                <a:solidFill>
                  <a:srgbClr val="005BB5"/>
                </a:solidFill>
                <a:latin typeface="맑은 고딕"/>
              </a:rPr>
              <a:t>F-07 </a:t>
            </a:r>
            <a:r>
              <a:rPr sz="1600" b="1" dirty="0" err="1">
                <a:solidFill>
                  <a:srgbClr val="005BB5"/>
                </a:solidFill>
                <a:latin typeface="맑은 고딕"/>
              </a:rPr>
              <a:t>RearRiskEvaluation</a:t>
            </a:r>
            <a:endParaRPr sz="1600" b="1" dirty="0">
              <a:solidFill>
                <a:srgbClr val="005BB5"/>
              </a:solidFill>
              <a:latin typeface="맑은 고딕"/>
            </a:endParaRPr>
          </a:p>
          <a:p>
            <a:pPr lvl="0" algn="l">
              <a:defRPr/>
            </a:pPr>
            <a:r>
              <a:rPr sz="1600" b="1" dirty="0">
                <a:solidFill>
                  <a:srgbClr val="005BB5"/>
                </a:solidFill>
                <a:latin typeface="맑은 고딕"/>
              </a:rPr>
              <a:t>F-08 </a:t>
            </a:r>
            <a:r>
              <a:rPr sz="1600" b="1" dirty="0" err="1">
                <a:solidFill>
                  <a:srgbClr val="005BB5"/>
                </a:solidFill>
                <a:latin typeface="맑은 고딕"/>
              </a:rPr>
              <a:t>RearRiskProtectionController</a:t>
            </a:r>
            <a:endParaRPr sz="1600" b="1" dirty="0">
              <a:solidFill>
                <a:srgbClr val="005BB5"/>
              </a:solidFill>
              <a:latin typeface="맑은 고딕"/>
            </a:endParaRPr>
          </a:p>
        </p:txBody>
      </p:sp>
      <p:sp>
        <p:nvSpPr>
          <p:cNvPr id="68" name="TextBox 67"/>
          <p:cNvSpPr txBox="1"/>
          <p:nvPr/>
        </p:nvSpPr>
        <p:spPr>
          <a:xfrm>
            <a:off x="8182959" y="5181974"/>
            <a:ext cx="352958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defRPr/>
            </a:pPr>
            <a:r>
              <a:rPr sz="1100" b="1">
                <a:solidFill>
                  <a:srgbClr val="1A1A2E"/>
                </a:solidFill>
                <a:latin typeface="맑은 고딕"/>
              </a:rPr>
              <a:t>• 후방 위험 평가/보호 핵심 ASIL B 로직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146384" y="5458631"/>
            <a:ext cx="352958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defRPr/>
            </a:pPr>
            <a:r>
              <a:rPr sz="1100" b="1">
                <a:solidFill>
                  <a:srgbClr val="1A1A2E"/>
                </a:solidFill>
                <a:latin typeface="맑은 고딕"/>
              </a:rPr>
              <a:t>• (PR#15, PR#16) + PM 총괄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rPr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02. </a:t>
            </a:r>
            <a:r>
              <a:rPr dirty="0" err="1">
                <a:latin typeface="현대하모니 M" panose="02020603020101020101" pitchFamily="18" charset="-127"/>
                <a:ea typeface="현대하모니 M" panose="02020603020101020101" pitchFamily="18" charset="-127"/>
              </a:rPr>
              <a:t>문제</a:t>
            </a:r>
            <a:r>
              <a:rPr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dirty="0" err="1">
                <a:latin typeface="현대하모니 M" panose="02020603020101020101" pitchFamily="18" charset="-127"/>
                <a:ea typeface="현대하모니 M" panose="02020603020101020101" pitchFamily="18" charset="-127"/>
              </a:rPr>
              <a:t>정의</a:t>
            </a:r>
            <a:endParaRPr dirty="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0" y="731520"/>
            <a:ext cx="12188952" cy="45720"/>
          </a:xfrm>
          <a:prstGeom prst="rect">
            <a:avLst/>
          </a:prstGeom>
          <a:solidFill>
            <a:srgbClr val="FF6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5303520" cy="2560320"/>
          </a:xfrm>
          <a:prstGeom prst="roundRect">
            <a:avLst/>
          </a:prstGeom>
          <a:solidFill>
            <a:srgbClr val="FFF0F0"/>
          </a:solidFill>
          <a:ln>
            <a:solidFill>
              <a:srgbClr val="C86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B43C3C"/>
                </a:solidFill>
              </a:defRPr>
            </a:pPr>
            <a:r>
              <a:rPr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AS-IS (</a:t>
            </a:r>
            <a:r>
              <a:rPr dirty="0" err="1">
                <a:latin typeface="현대하모니 M" panose="02020603020101020101" pitchFamily="18" charset="-127"/>
                <a:ea typeface="현대하모니 M" panose="02020603020101020101" pitchFamily="18" charset="-127"/>
              </a:rPr>
              <a:t>현재</a:t>
            </a:r>
            <a:r>
              <a:rPr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dirty="0" err="1">
                <a:latin typeface="현대하모니 M" panose="02020603020101020101" pitchFamily="18" charset="-127"/>
                <a:ea typeface="현대하모니 M" panose="02020603020101020101" pitchFamily="18" charset="-127"/>
              </a:rPr>
              <a:t>문제점</a:t>
            </a:r>
            <a:r>
              <a:rPr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37360"/>
            <a:ext cx="4937760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▪ </a:t>
            </a:r>
            <a:r>
              <a:rPr sz="1600" b="1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문제점</a:t>
            </a:r>
            <a:r>
              <a:rPr sz="1600" b="1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1: </a:t>
            </a:r>
            <a:r>
              <a:rPr sz="1600" b="1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기계식</a:t>
            </a:r>
            <a:r>
              <a:rPr sz="1600" b="1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600" b="1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차일드</a:t>
            </a:r>
            <a:r>
              <a:rPr sz="1600" b="1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600" b="1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락의</a:t>
            </a:r>
            <a:r>
              <a:rPr sz="1600" b="1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600" b="1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수동</a:t>
            </a:r>
            <a:r>
              <a:rPr sz="1600" b="1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600" b="1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제어</a:t>
            </a:r>
            <a:r>
              <a:rPr sz="1600" b="1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600" b="1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불편</a:t>
            </a:r>
            <a:endParaRPr sz="1600" b="1" dirty="0">
              <a:solidFill>
                <a:srgbClr val="1A1A2E"/>
              </a:solidFill>
              <a:latin typeface="현대하모니 L" panose="02020603020101020101" pitchFamily="18" charset="-127"/>
              <a:ea typeface="현대하모니 L" panose="02020603020101020101" pitchFamily="18" charset="-127"/>
            </a:endParaRPr>
          </a:p>
          <a:p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운전자가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뒷좌석에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직접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접근하여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개별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조작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필요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→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운전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중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불가</a:t>
            </a:r>
            <a:endParaRPr sz="1200" b="0" dirty="0">
              <a:solidFill>
                <a:srgbClr val="1A1A2E"/>
              </a:solidFill>
              <a:latin typeface="현대하모니 L" panose="02020603020101020101" pitchFamily="18" charset="-127"/>
              <a:ea typeface="현대하모니 L" panose="02020603020101020101" pitchFamily="18" charset="-127"/>
            </a:endParaRPr>
          </a:p>
          <a:p>
            <a:r>
              <a:rPr sz="1600" b="1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▪ </a:t>
            </a:r>
            <a:r>
              <a:rPr sz="1600" b="1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문제점</a:t>
            </a:r>
            <a:r>
              <a:rPr sz="1600" b="1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2: </a:t>
            </a:r>
            <a:r>
              <a:rPr sz="1600" b="1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사고·충돌</a:t>
            </a:r>
            <a:r>
              <a:rPr sz="1600" b="1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600" b="1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발생</a:t>
            </a:r>
            <a:r>
              <a:rPr sz="1600" b="1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시 </a:t>
            </a:r>
            <a:r>
              <a:rPr sz="1600" b="1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뒷좌석</a:t>
            </a:r>
            <a:r>
              <a:rPr sz="1600" b="1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600" b="1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탈출</a:t>
            </a:r>
            <a:r>
              <a:rPr sz="1600" b="1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600" b="1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지연</a:t>
            </a:r>
            <a:endParaRPr sz="1600" b="1" dirty="0">
              <a:solidFill>
                <a:srgbClr val="1A1A2E"/>
              </a:solidFill>
              <a:latin typeface="현대하모니 L" panose="02020603020101020101" pitchFamily="18" charset="-127"/>
              <a:ea typeface="현대하모니 L" panose="02020603020101020101" pitchFamily="18" charset="-127"/>
            </a:endParaRPr>
          </a:p>
          <a:p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기계식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잠금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시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비상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해제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수단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없어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인명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피해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위험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가중</a:t>
            </a:r>
            <a:endParaRPr sz="1200" b="0" dirty="0">
              <a:solidFill>
                <a:srgbClr val="1A1A2E"/>
              </a:solidFill>
              <a:latin typeface="현대하모니 L" panose="02020603020101020101" pitchFamily="18" charset="-127"/>
              <a:ea typeface="현대하모니 L" panose="02020603020101020101" pitchFamily="18" charset="-127"/>
            </a:endParaRPr>
          </a:p>
          <a:p>
            <a:r>
              <a:rPr sz="1600" b="1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▪ </a:t>
            </a:r>
            <a:r>
              <a:rPr sz="1600" b="1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문제점</a:t>
            </a:r>
            <a:r>
              <a:rPr sz="1600" b="1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3: </a:t>
            </a:r>
            <a:r>
              <a:rPr sz="1600" b="1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후방</a:t>
            </a:r>
            <a:r>
              <a:rPr sz="1600" b="1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600" b="1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위험</a:t>
            </a:r>
            <a:r>
              <a:rPr sz="1600" b="1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600" b="1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접근</a:t>
            </a:r>
            <a:r>
              <a:rPr sz="1600" b="1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600" b="1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정보와</a:t>
            </a:r>
            <a:r>
              <a:rPr sz="1600" b="1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600" b="1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하차</a:t>
            </a:r>
            <a:r>
              <a:rPr sz="1600" b="1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600" b="1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안전</a:t>
            </a:r>
            <a:r>
              <a:rPr sz="1600" b="1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600" b="1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연동</a:t>
            </a:r>
            <a:r>
              <a:rPr sz="1600" b="1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600" b="1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부재</a:t>
            </a:r>
            <a:endParaRPr sz="1600" b="1" dirty="0">
              <a:solidFill>
                <a:srgbClr val="1A1A2E"/>
              </a:solidFill>
              <a:latin typeface="현대하모니 L" panose="02020603020101020101" pitchFamily="18" charset="-127"/>
              <a:ea typeface="현대하모니 L" panose="02020603020101020101" pitchFamily="18" charset="-127"/>
            </a:endParaRPr>
          </a:p>
          <a:p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후방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이륜차·차량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접근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중에도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뒷좌석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문이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열릴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수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있어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사고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위험</a:t>
            </a:r>
            <a:endParaRPr sz="1200" b="0" dirty="0">
              <a:solidFill>
                <a:srgbClr val="1A1A2E"/>
              </a:solidFill>
              <a:latin typeface="현대하모니 L" panose="02020603020101020101" pitchFamily="18" charset="-127"/>
              <a:ea typeface="현대하모니 L" panose="02020603020101020101" pitchFamily="18" charset="-127"/>
            </a:endParaRPr>
          </a:p>
          <a:p>
            <a:r>
              <a:rPr sz="1600" b="1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▪ </a:t>
            </a:r>
            <a:r>
              <a:rPr sz="1600" b="1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문제점</a:t>
            </a:r>
            <a:r>
              <a:rPr sz="1600" b="1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4: </a:t>
            </a:r>
            <a:r>
              <a:rPr sz="1600" b="1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점화</a:t>
            </a:r>
            <a:r>
              <a:rPr sz="1600" b="1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OFF 시 </a:t>
            </a:r>
            <a:r>
              <a:rPr sz="1600" b="1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차일드</a:t>
            </a:r>
            <a:r>
              <a:rPr sz="1600" b="1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락 </a:t>
            </a:r>
            <a:r>
              <a:rPr sz="1600" b="1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상태</a:t>
            </a:r>
            <a:r>
              <a:rPr sz="1600" b="1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600" b="1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인지</a:t>
            </a:r>
            <a:r>
              <a:rPr sz="1600" b="1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600" b="1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부재</a:t>
            </a:r>
            <a:endParaRPr sz="1600" b="1" dirty="0">
              <a:solidFill>
                <a:srgbClr val="1A1A2E"/>
              </a:solidFill>
              <a:latin typeface="현대하모니 L" panose="02020603020101020101" pitchFamily="18" charset="-127"/>
              <a:ea typeface="현대하모니 L" panose="02020603020101020101" pitchFamily="18" charset="-127"/>
            </a:endParaRPr>
          </a:p>
          <a:p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하차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직전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잠금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상태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미인지로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아이가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내부에서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열기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불가</a:t>
            </a:r>
            <a:endParaRPr sz="1200" b="0" dirty="0">
              <a:solidFill>
                <a:srgbClr val="1A1A2E"/>
              </a:solidFill>
              <a:latin typeface="현대하모니 L" panose="02020603020101020101" pitchFamily="18" charset="-127"/>
              <a:ea typeface="현대하모니 L" panose="02020603020101020101" pitchFamily="18" charset="-127"/>
            </a:endParaRPr>
          </a:p>
        </p:txBody>
      </p:sp>
      <p:sp>
        <p:nvSpPr>
          <p:cNvPr id="8" name="Right Arrow 7"/>
          <p:cNvSpPr/>
          <p:nvPr/>
        </p:nvSpPr>
        <p:spPr>
          <a:xfrm>
            <a:off x="5852160" y="2194560"/>
            <a:ext cx="548640" cy="457200"/>
          </a:xfrm>
          <a:prstGeom prst="rightArrow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492240" y="1188720"/>
            <a:ext cx="5303520" cy="2560320"/>
          </a:xfrm>
          <a:prstGeom prst="roundRect">
            <a:avLst/>
          </a:prstGeom>
          <a:solidFill>
            <a:srgbClr val="F0FFF0"/>
          </a:solidFill>
          <a:ln>
            <a:solidFill>
              <a:srgbClr val="64B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675120" y="128016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C8C3C"/>
                </a:solidFill>
              </a:defRPr>
            </a:pPr>
            <a:r>
              <a:rPr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TO-BE (</a:t>
            </a:r>
            <a:r>
              <a:rPr dirty="0" err="1">
                <a:latin typeface="현대하모니 M" panose="02020603020101020101" pitchFamily="18" charset="-127"/>
                <a:ea typeface="현대하모니 M" panose="02020603020101020101" pitchFamily="18" charset="-127"/>
              </a:rPr>
              <a:t>목표</a:t>
            </a:r>
            <a:r>
              <a:rPr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dirty="0" err="1">
                <a:latin typeface="현대하모니 M" panose="02020603020101020101" pitchFamily="18" charset="-127"/>
                <a:ea typeface="현대하모니 M" panose="02020603020101020101" pitchFamily="18" charset="-127"/>
              </a:rPr>
              <a:t>상태</a:t>
            </a:r>
            <a:r>
              <a:rPr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1737360"/>
            <a:ext cx="4937760" cy="18774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 dirty="0">
                <a:solidFill>
                  <a:srgbClr val="005BB5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✔ </a:t>
            </a:r>
            <a:r>
              <a:rPr sz="1600" b="1" dirty="0" err="1">
                <a:solidFill>
                  <a:srgbClr val="005BB5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목표</a:t>
            </a:r>
            <a:r>
              <a:rPr sz="1600" b="1" dirty="0">
                <a:solidFill>
                  <a:srgbClr val="005BB5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1: </a:t>
            </a:r>
            <a:r>
              <a:rPr sz="1600" b="1" dirty="0" err="1">
                <a:solidFill>
                  <a:srgbClr val="005BB5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전자식</a:t>
            </a:r>
            <a:r>
              <a:rPr sz="1600" b="1" dirty="0">
                <a:solidFill>
                  <a:srgbClr val="005BB5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600" b="1" dirty="0" err="1">
                <a:solidFill>
                  <a:srgbClr val="005BB5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통합</a:t>
            </a:r>
            <a:r>
              <a:rPr sz="1600" b="1" dirty="0">
                <a:solidFill>
                  <a:srgbClr val="005BB5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600" b="1" dirty="0" err="1">
                <a:solidFill>
                  <a:srgbClr val="005BB5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차일드</a:t>
            </a:r>
            <a:r>
              <a:rPr sz="1600" b="1" dirty="0">
                <a:solidFill>
                  <a:srgbClr val="005BB5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락 </a:t>
            </a:r>
            <a:r>
              <a:rPr sz="1600" b="1" dirty="0" err="1">
                <a:solidFill>
                  <a:srgbClr val="005BB5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제어</a:t>
            </a:r>
            <a:r>
              <a:rPr sz="1600" b="1" dirty="0">
                <a:solidFill>
                  <a:srgbClr val="005BB5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(FG-01)</a:t>
            </a:r>
          </a:p>
          <a:p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운전석에서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원버튼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ON/OFF +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속도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기반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자동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잠금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(≥15 km/h)</a:t>
            </a:r>
          </a:p>
          <a:p>
            <a:r>
              <a:rPr sz="1600" b="1" dirty="0">
                <a:solidFill>
                  <a:srgbClr val="005BB5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✔ </a:t>
            </a:r>
            <a:r>
              <a:rPr sz="1600" b="1" dirty="0" err="1">
                <a:solidFill>
                  <a:srgbClr val="005BB5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목표</a:t>
            </a:r>
            <a:r>
              <a:rPr sz="1600" b="1" dirty="0">
                <a:solidFill>
                  <a:srgbClr val="005BB5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2: </a:t>
            </a:r>
            <a:r>
              <a:rPr sz="1600" b="1" dirty="0" err="1">
                <a:solidFill>
                  <a:srgbClr val="005BB5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사고</a:t>
            </a:r>
            <a:r>
              <a:rPr sz="1600" b="1" dirty="0">
                <a:solidFill>
                  <a:srgbClr val="005BB5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시 </a:t>
            </a:r>
            <a:r>
              <a:rPr sz="1600" b="1" dirty="0" err="1">
                <a:solidFill>
                  <a:srgbClr val="005BB5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즉각</a:t>
            </a:r>
            <a:r>
              <a:rPr sz="1600" b="1" dirty="0">
                <a:solidFill>
                  <a:srgbClr val="005BB5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600" b="1" dirty="0" err="1">
                <a:solidFill>
                  <a:srgbClr val="005BB5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자동</a:t>
            </a:r>
            <a:r>
              <a:rPr sz="1600" b="1" dirty="0">
                <a:solidFill>
                  <a:srgbClr val="005BB5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600" b="1" dirty="0" err="1">
                <a:solidFill>
                  <a:srgbClr val="005BB5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해제</a:t>
            </a:r>
            <a:r>
              <a:rPr sz="1600" b="1" dirty="0">
                <a:solidFill>
                  <a:srgbClr val="005BB5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(ASIL B, FG-01)</a:t>
            </a:r>
          </a:p>
          <a:p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충돌·에어백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신호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동시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감지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시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비상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해제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최우선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수행</a:t>
            </a:r>
            <a:endParaRPr sz="1200" b="0" dirty="0">
              <a:solidFill>
                <a:srgbClr val="1A1A2E"/>
              </a:solidFill>
              <a:latin typeface="현대하모니 L" panose="02020603020101020101" pitchFamily="18" charset="-127"/>
              <a:ea typeface="현대하모니 L" panose="02020603020101020101" pitchFamily="18" charset="-127"/>
            </a:endParaRPr>
          </a:p>
          <a:p>
            <a:r>
              <a:rPr sz="1600" b="1" dirty="0">
                <a:solidFill>
                  <a:srgbClr val="005BB5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✔ </a:t>
            </a:r>
            <a:r>
              <a:rPr sz="1600" b="1" dirty="0" err="1">
                <a:solidFill>
                  <a:srgbClr val="005BB5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목표</a:t>
            </a:r>
            <a:r>
              <a:rPr sz="1600" b="1" dirty="0">
                <a:solidFill>
                  <a:srgbClr val="005BB5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3: </a:t>
            </a:r>
            <a:r>
              <a:rPr sz="1600" b="1" dirty="0" err="1">
                <a:solidFill>
                  <a:srgbClr val="005BB5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후방</a:t>
            </a:r>
            <a:r>
              <a:rPr sz="1600" b="1" dirty="0">
                <a:solidFill>
                  <a:srgbClr val="005BB5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600" b="1" dirty="0" err="1">
                <a:solidFill>
                  <a:srgbClr val="005BB5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위험</a:t>
            </a:r>
            <a:r>
              <a:rPr sz="1600" b="1" dirty="0">
                <a:solidFill>
                  <a:srgbClr val="005BB5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600" b="1" dirty="0" err="1">
                <a:solidFill>
                  <a:srgbClr val="005BB5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연동</a:t>
            </a:r>
            <a:r>
              <a:rPr sz="1600" b="1" dirty="0">
                <a:solidFill>
                  <a:srgbClr val="005BB5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600" b="1" dirty="0" err="1">
                <a:solidFill>
                  <a:srgbClr val="005BB5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자동</a:t>
            </a:r>
            <a:r>
              <a:rPr sz="1600" b="1" dirty="0">
                <a:solidFill>
                  <a:srgbClr val="005BB5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600" b="1" dirty="0" err="1">
                <a:solidFill>
                  <a:srgbClr val="005BB5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보호</a:t>
            </a:r>
            <a:r>
              <a:rPr sz="1600" b="1" dirty="0">
                <a:solidFill>
                  <a:srgbClr val="005BB5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(FG-02)</a:t>
            </a:r>
          </a:p>
          <a:p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후방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레이더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연동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—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위험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감지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시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자동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잠금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유지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&amp;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운전자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경고</a:t>
            </a:r>
            <a:endParaRPr sz="1200" b="0" dirty="0">
              <a:solidFill>
                <a:srgbClr val="1A1A2E"/>
              </a:solidFill>
              <a:latin typeface="현대하모니 L" panose="02020603020101020101" pitchFamily="18" charset="-127"/>
              <a:ea typeface="현대하모니 L" panose="02020603020101020101" pitchFamily="18" charset="-127"/>
            </a:endParaRPr>
          </a:p>
          <a:p>
            <a:r>
              <a:rPr sz="1600" b="1" dirty="0">
                <a:solidFill>
                  <a:srgbClr val="005BB5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✔ </a:t>
            </a:r>
            <a:r>
              <a:rPr sz="1600" b="1" dirty="0" err="1">
                <a:solidFill>
                  <a:srgbClr val="005BB5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목표</a:t>
            </a:r>
            <a:r>
              <a:rPr sz="1600" b="1" dirty="0">
                <a:solidFill>
                  <a:srgbClr val="005BB5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4: </a:t>
            </a:r>
            <a:r>
              <a:rPr sz="1600" b="1" dirty="0" err="1">
                <a:solidFill>
                  <a:srgbClr val="005BB5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시동</a:t>
            </a:r>
            <a:r>
              <a:rPr sz="1600" b="1" dirty="0">
                <a:solidFill>
                  <a:srgbClr val="005BB5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OFF / </a:t>
            </a:r>
            <a:r>
              <a:rPr sz="1600" b="1" dirty="0" err="1">
                <a:solidFill>
                  <a:srgbClr val="005BB5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출발</a:t>
            </a:r>
            <a:r>
              <a:rPr sz="1600" b="1" dirty="0">
                <a:solidFill>
                  <a:srgbClr val="005BB5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시 </a:t>
            </a:r>
            <a:r>
              <a:rPr sz="1600" b="1" dirty="0" err="1">
                <a:solidFill>
                  <a:srgbClr val="005BB5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상태</a:t>
            </a:r>
            <a:r>
              <a:rPr sz="1600" b="1" dirty="0">
                <a:solidFill>
                  <a:srgbClr val="005BB5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600" b="1" dirty="0" err="1">
                <a:solidFill>
                  <a:srgbClr val="005BB5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알림</a:t>
            </a:r>
            <a:r>
              <a:rPr sz="1600" b="1" dirty="0">
                <a:solidFill>
                  <a:srgbClr val="005BB5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(FG-02)</a:t>
            </a:r>
          </a:p>
          <a:p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점화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OFF 및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출발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시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뒷좌석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점유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+ CL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상태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1회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운전자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알림</a:t>
            </a:r>
            <a:endParaRPr sz="1200" b="0" dirty="0">
              <a:solidFill>
                <a:srgbClr val="1A1A2E"/>
              </a:solidFill>
              <a:latin typeface="현대하모니 L" panose="02020603020101020101" pitchFamily="18" charset="-127"/>
              <a:ea typeface="현대하모니 L" panose="02020603020101020101" pitchFamily="18" charset="-127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457200" y="4023360"/>
            <a:ext cx="11338560" cy="2286000"/>
          </a:xfrm>
          <a:prstGeom prst="roundRect">
            <a:avLst/>
          </a:prstGeom>
          <a:solidFill>
            <a:srgbClr val="F0F8FF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080" y="4114800"/>
            <a:ext cx="109728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3366"/>
                </a:solidFill>
              </a:defRPr>
            </a:pPr>
            <a:r>
              <a:rPr dirty="0" err="1">
                <a:latin typeface="현대하모니 M" panose="02020603020101020101" pitchFamily="18" charset="-127"/>
                <a:ea typeface="현대하모니 M" panose="02020603020101020101" pitchFamily="18" charset="-127"/>
              </a:rPr>
              <a:t>핵심</a:t>
            </a:r>
            <a:r>
              <a:rPr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dirty="0" err="1">
                <a:latin typeface="현대하모니 M" panose="02020603020101020101" pitchFamily="18" charset="-127"/>
                <a:ea typeface="현대하모니 M" panose="02020603020101020101" pitchFamily="18" charset="-127"/>
              </a:rPr>
              <a:t>연구</a:t>
            </a:r>
            <a:r>
              <a:rPr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dirty="0" err="1">
                <a:latin typeface="현대하모니 M" panose="02020603020101020101" pitchFamily="18" charset="-127"/>
                <a:ea typeface="현대하모니 M" panose="02020603020101020101" pitchFamily="18" charset="-127"/>
              </a:rPr>
              <a:t>질문</a:t>
            </a:r>
            <a:endParaRPr dirty="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40080" y="4572000"/>
            <a:ext cx="109728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rPr sz="16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ISO 26262 </a:t>
            </a:r>
            <a:r>
              <a:rPr sz="16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기능</a:t>
            </a:r>
            <a:r>
              <a:rPr sz="16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6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안전을</a:t>
            </a:r>
            <a:r>
              <a:rPr sz="16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6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준수하면서</a:t>
            </a:r>
            <a:r>
              <a:rPr sz="16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, </a:t>
            </a:r>
            <a:r>
              <a:rPr sz="16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승객의</a:t>
            </a:r>
            <a:r>
              <a:rPr sz="16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6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편의성과</a:t>
            </a:r>
            <a:r>
              <a:rPr sz="16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6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하차</a:t>
            </a:r>
            <a:r>
              <a:rPr sz="16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6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안전을</a:t>
            </a:r>
            <a:r>
              <a:rPr sz="16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6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모두</a:t>
            </a:r>
            <a:r>
              <a:rPr sz="16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6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충족하는</a:t>
            </a:r>
            <a:r>
              <a:rPr sz="16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
</a:t>
            </a:r>
            <a:r>
              <a:rPr sz="16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지능형</a:t>
            </a:r>
            <a:r>
              <a:rPr sz="16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6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차일드</a:t>
            </a:r>
            <a:r>
              <a:rPr sz="16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락 </a:t>
            </a:r>
            <a:r>
              <a:rPr sz="16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제어</a:t>
            </a:r>
            <a:r>
              <a:rPr sz="16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6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시스템을</a:t>
            </a:r>
            <a:r>
              <a:rPr sz="16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6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어떻게</a:t>
            </a:r>
            <a:r>
              <a:rPr sz="16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6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설계·구현·검증할</a:t>
            </a:r>
            <a:r>
              <a:rPr sz="16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6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것인가</a:t>
            </a:r>
            <a:r>
              <a:rPr sz="16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?
→ V-</a:t>
            </a:r>
            <a:r>
              <a:rPr sz="16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모델</a:t>
            </a:r>
            <a:r>
              <a:rPr sz="16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6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기반</a:t>
            </a:r>
            <a:r>
              <a:rPr sz="16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6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SRS↔SDD↔Code↔Test</a:t>
            </a:r>
            <a:r>
              <a:rPr sz="16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6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양방향</a:t>
            </a:r>
            <a:r>
              <a:rPr sz="16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6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추적성으로</a:t>
            </a:r>
            <a:r>
              <a:rPr sz="16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6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답한다</a:t>
            </a:r>
            <a:r>
              <a:rPr sz="16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83680"/>
            <a:ext cx="109728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</a:defRPr>
            </a:pPr>
            <a:r>
              <a:rPr dirty="0">
                <a:latin typeface="현대하모니 L" panose="02020603020101020101" pitchFamily="18" charset="-127"/>
                <a:ea typeface="현대하모니 L" panose="02020603020101020101" pitchFamily="18" charset="-127"/>
              </a:rPr>
              <a:t>MOBIUS BOOTCAMP 1기 | PBL </a:t>
            </a:r>
            <a:r>
              <a:rPr dirty="0" err="1">
                <a:latin typeface="현대하모니 L" panose="02020603020101020101" pitchFamily="18" charset="-127"/>
                <a:ea typeface="현대하모니 L" panose="02020603020101020101" pitchFamily="18" charset="-127"/>
              </a:rPr>
              <a:t>결과발표</a:t>
            </a:r>
            <a:r>
              <a:rPr dirty="0">
                <a:latin typeface="현대하모니 L" panose="02020603020101020101" pitchFamily="18" charset="-127"/>
                <a:ea typeface="현대하모니 L" panose="02020603020101020101" pitchFamily="18" charset="-127"/>
              </a:rPr>
              <a:t> | 3/10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defRPr sz="2400" b="1">
                <a:solidFill>
                  <a:srgbClr val="FFFFFF"/>
                </a:solidFill>
              </a:defRPr>
            </a:pPr>
            <a:r>
              <a:rPr lang="ko-KR" altLang="en-US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03. 솔루션 개요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31520"/>
            <a:ext cx="12188952" cy="45720"/>
          </a:xfrm>
          <a:prstGeom prst="rect">
            <a:avLst/>
          </a:prstGeom>
          <a:solidFill>
            <a:srgbClr val="FF6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11338560" cy="1371600"/>
          </a:xfrm>
          <a:prstGeom prst="roundRect">
            <a:avLst>
              <a:gd name="adj" fmla="val 16667"/>
            </a:avLst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 sz="2200" b="1">
                <a:solidFill>
                  <a:srgbClr val="FFFFFF"/>
                </a:solidFill>
              </a:defRPr>
            </a:pPr>
            <a:r>
              <a:rPr lang="ko-KR" altLang="en-US" sz="24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지능형 센서 및 차량 상태 연동 제어 기반의 통합 하차 안전 솔루션 (FG-01 / FG-02)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109728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 sz="1200" b="0">
                <a:solidFill>
                  <a:srgbClr val="B4C8DC"/>
                </a:solidFill>
              </a:defRPr>
            </a:pPr>
            <a:r>
              <a:rPr lang="ko-KR" altLang="en-US" sz="1600" dirty="0">
                <a:latin typeface="현대하모니 L" panose="02020603020101020101" pitchFamily="18" charset="-127"/>
                <a:ea typeface="현대하모니 L" panose="02020603020101020101" pitchFamily="18" charset="-127"/>
              </a:rPr>
              <a:t>C/C++ 기반 ISO 26262 및 FMEA/HAZOP 상위 기능 안전 분석 적용 모듈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926080"/>
            <a:ext cx="3566160" cy="3291840"/>
          </a:xfrm>
          <a:prstGeom prst="roundRect">
            <a:avLst>
              <a:gd name="adj" fmla="val 16667"/>
            </a:avLst>
          </a:prstGeom>
          <a:solidFill>
            <a:srgbClr val="F8F8F8"/>
          </a:solidFill>
          <a:ln>
            <a:solidFill>
              <a:srgbClr val="0066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9" name="Oval 8"/>
          <p:cNvSpPr/>
          <p:nvPr/>
        </p:nvSpPr>
        <p:spPr>
          <a:xfrm>
            <a:off x="1828800" y="3108960"/>
            <a:ext cx="731520" cy="731520"/>
          </a:xfrm>
          <a:prstGeom prst="ellipse">
            <a:avLst/>
          </a:prstGeom>
          <a:solidFill>
            <a:srgbClr val="FF6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0" name="TextBox 9"/>
          <p:cNvSpPr txBox="1"/>
          <p:nvPr/>
        </p:nvSpPr>
        <p:spPr>
          <a:xfrm>
            <a:off x="1828800" y="3239423"/>
            <a:ext cx="7315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 sz="2400" b="1">
                <a:solidFill>
                  <a:srgbClr val="FFFFFF"/>
                </a:solidFill>
              </a:defRPr>
            </a:pPr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11" name="TextBox 10"/>
          <p:cNvSpPr txBox="1"/>
          <p:nvPr/>
        </p:nvSpPr>
        <p:spPr>
          <a:xfrm>
            <a:off x="640080" y="4023360"/>
            <a:ext cx="32004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 sz="1600" b="1">
                <a:solidFill>
                  <a:srgbClr val="333333"/>
                </a:solidFill>
              </a:defRPr>
            </a:pPr>
            <a:r>
              <a:rPr lang="ko-KR" altLang="en-US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FG-01: 도어 잠금 및 해제 제어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480560"/>
            <a:ext cx="3200400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endParaRPr lang="ko-KR" altLang="en-US" dirty="0"/>
          </a:p>
          <a:p>
            <a:pPr lvl="0">
              <a:defRPr/>
            </a:pPr>
            <a:r>
              <a:rPr lang="ko-KR" altLang="en-US" sz="16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속도, 충돌, 스위치 연동 로직 적용 및 직전 상태 복구(</a:t>
            </a:r>
            <a:r>
              <a:rPr lang="ko-KR" altLang="en-US" sz="1600" dirty="0" err="1">
                <a:latin typeface="현대하모니 M" panose="02020603020101020101" pitchFamily="18" charset="-127"/>
                <a:ea typeface="현대하모니 M" panose="02020603020101020101" pitchFamily="18" charset="-127"/>
              </a:rPr>
              <a:t>Safe</a:t>
            </a:r>
            <a:r>
              <a:rPr lang="ko-KR" altLang="en-US" sz="16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 State) 제어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2926080"/>
            <a:ext cx="3566160" cy="3291840"/>
          </a:xfrm>
          <a:prstGeom prst="roundRect">
            <a:avLst>
              <a:gd name="adj" fmla="val 16667"/>
            </a:avLst>
          </a:prstGeom>
          <a:solidFill>
            <a:srgbClr val="F8F8F8"/>
          </a:solidFill>
          <a:ln>
            <a:solidFill>
              <a:srgbClr val="0066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4" name="Oval 13"/>
          <p:cNvSpPr/>
          <p:nvPr/>
        </p:nvSpPr>
        <p:spPr>
          <a:xfrm>
            <a:off x="5669280" y="3108960"/>
            <a:ext cx="731520" cy="731520"/>
          </a:xfrm>
          <a:prstGeom prst="ellipse">
            <a:avLst/>
          </a:prstGeom>
          <a:solidFill>
            <a:srgbClr val="FF6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5" name="TextBox 14"/>
          <p:cNvSpPr txBox="1"/>
          <p:nvPr/>
        </p:nvSpPr>
        <p:spPr>
          <a:xfrm>
            <a:off x="5669280" y="3246612"/>
            <a:ext cx="731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 sz="2400" b="1">
                <a:solidFill>
                  <a:srgbClr val="FFFFFF"/>
                </a:solidFill>
              </a:defRPr>
            </a:pPr>
            <a:r>
              <a:rPr lang="ko-KR" altLang="en-US" dirty="0"/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4023360"/>
            <a:ext cx="32004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 sz="1600" b="1">
                <a:solidFill>
                  <a:srgbClr val="333333"/>
                </a:solidFill>
              </a:defRPr>
            </a:pPr>
            <a:r>
              <a:rPr lang="ko-KR" altLang="en-US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FG-02: 하차 안전 보조 제어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4480560"/>
            <a:ext cx="320040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endParaRPr lang="ko-KR" altLang="en-US" dirty="0"/>
          </a:p>
          <a:p>
            <a:pPr lvl="0">
              <a:defRPr/>
            </a:pPr>
            <a:r>
              <a:rPr lang="ko-KR" altLang="en-US" sz="16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후방 위험 판단 시 자동 잠금 유지 및 뒷좌석 점유/출발 상태 전환 시 운전자 알림 연동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38160" y="2926080"/>
            <a:ext cx="3566160" cy="3291840"/>
          </a:xfrm>
          <a:prstGeom prst="roundRect">
            <a:avLst>
              <a:gd name="adj" fmla="val 16667"/>
            </a:avLst>
          </a:prstGeom>
          <a:solidFill>
            <a:srgbClr val="F8F8F8"/>
          </a:solidFill>
          <a:ln>
            <a:solidFill>
              <a:srgbClr val="0066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9" name="Oval 18"/>
          <p:cNvSpPr/>
          <p:nvPr/>
        </p:nvSpPr>
        <p:spPr>
          <a:xfrm>
            <a:off x="9509760" y="3108960"/>
            <a:ext cx="731520" cy="731520"/>
          </a:xfrm>
          <a:prstGeom prst="ellipse">
            <a:avLst/>
          </a:prstGeom>
          <a:solidFill>
            <a:srgbClr val="FF6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0" name="TextBox 19"/>
          <p:cNvSpPr txBox="1"/>
          <p:nvPr/>
        </p:nvSpPr>
        <p:spPr>
          <a:xfrm>
            <a:off x="9509760" y="3264634"/>
            <a:ext cx="731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 sz="2400" b="1">
                <a:solidFill>
                  <a:srgbClr val="FFFFFF"/>
                </a:solidFill>
              </a:defRPr>
            </a:pPr>
            <a:r>
              <a:rPr lang="ko-KR" altLang="en-US"/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4023360"/>
            <a:ext cx="32004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 sz="1600" b="1">
                <a:solidFill>
                  <a:srgbClr val="333333"/>
                </a:solidFill>
              </a:defRPr>
            </a:pPr>
            <a:r>
              <a:rPr lang="ko-KR" altLang="en-US" dirty="0" err="1">
                <a:latin typeface="현대하모니 M" panose="02020603020101020101" pitchFamily="18" charset="-127"/>
                <a:ea typeface="현대하모니 M" panose="02020603020101020101" pitchFamily="18" charset="-127"/>
              </a:rPr>
              <a:t>Fail-Safe</a:t>
            </a:r>
            <a:r>
              <a:rPr lang="ko-KR" altLang="en-US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 설계 및 테스트 결함 주입 (</a:t>
            </a:r>
            <a:r>
              <a:rPr lang="ko-KR" altLang="en-US" dirty="0" err="1">
                <a:latin typeface="현대하모니 M" panose="02020603020101020101" pitchFamily="18" charset="-127"/>
                <a:ea typeface="현대하모니 M" panose="02020603020101020101" pitchFamily="18" charset="-127"/>
              </a:rPr>
              <a:t>Fault</a:t>
            </a:r>
            <a:r>
              <a:rPr lang="ko-KR" altLang="en-US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lang="ko-KR" altLang="en-US" dirty="0" err="1">
                <a:latin typeface="현대하모니 M" panose="02020603020101020101" pitchFamily="18" charset="-127"/>
                <a:ea typeface="현대하모니 M" panose="02020603020101020101" pitchFamily="18" charset="-127"/>
              </a:rPr>
              <a:t>Injection</a:t>
            </a:r>
            <a:r>
              <a:rPr lang="ko-KR" altLang="en-US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) 방어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4480560"/>
            <a:ext cx="320040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endParaRPr lang="ko-KR" altLang="en-US" dirty="0"/>
          </a:p>
          <a:p>
            <a:pPr lvl="0">
              <a:defRPr/>
            </a:pPr>
            <a:r>
              <a:rPr lang="ko-KR" altLang="en-US" sz="16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FMEA/HAZOP 기반 요구사항 분석 적용 및 </a:t>
            </a:r>
            <a:r>
              <a:rPr lang="ko-KR" altLang="en-US" sz="1600" dirty="0" err="1">
                <a:latin typeface="현대하모니 M" panose="02020603020101020101" pitchFamily="18" charset="-127"/>
                <a:ea typeface="현대하모니 M" panose="02020603020101020101" pitchFamily="18" charset="-127"/>
              </a:rPr>
              <a:t>Fault</a:t>
            </a:r>
            <a:r>
              <a:rPr lang="ko-KR" altLang="en-US" sz="16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lang="ko-KR" altLang="en-US" sz="1600" dirty="0" err="1">
                <a:latin typeface="현대하모니 M" panose="02020603020101020101" pitchFamily="18" charset="-127"/>
                <a:ea typeface="현대하모니 M" panose="02020603020101020101" pitchFamily="18" charset="-127"/>
              </a:rPr>
              <a:t>Injection</a:t>
            </a:r>
            <a:r>
              <a:rPr lang="ko-KR" altLang="en-US" sz="16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 시나리오 방어를 통한 </a:t>
            </a:r>
            <a:r>
              <a:rPr lang="ko-KR" altLang="en-US" sz="1600" dirty="0" err="1">
                <a:latin typeface="현대하모니 M" panose="02020603020101020101" pitchFamily="18" charset="-127"/>
                <a:ea typeface="현대하모니 M" panose="02020603020101020101" pitchFamily="18" charset="-127"/>
              </a:rPr>
              <a:t>Fail-Safe</a:t>
            </a:r>
            <a:r>
              <a:rPr lang="ko-KR" altLang="en-US" sz="16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 설계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583680"/>
            <a:ext cx="109728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r">
              <a:defRPr sz="1000" b="0">
                <a:solidFill>
                  <a:srgbClr val="808080"/>
                </a:solidFill>
              </a:defRPr>
            </a:pPr>
            <a:r>
              <a:rPr lang="ko-KR" altLang="en-US" dirty="0">
                <a:latin typeface="현대하모니 L" panose="02020603020101020101" pitchFamily="18" charset="-127"/>
                <a:ea typeface="현대하모니 L" panose="02020603020101020101" pitchFamily="18" charset="-127"/>
              </a:rPr>
              <a:t>MOBIUS BOOTCAMP 1기 | PBL 결과발표 | 4/10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rPr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04. </a:t>
            </a:r>
            <a:r>
              <a:rPr dirty="0" err="1">
                <a:latin typeface="현대하모니 M" panose="02020603020101020101" pitchFamily="18" charset="-127"/>
                <a:ea typeface="현대하모니 M" panose="02020603020101020101" pitchFamily="18" charset="-127"/>
              </a:rPr>
              <a:t>기술</a:t>
            </a:r>
            <a:r>
              <a:rPr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dirty="0" err="1">
                <a:latin typeface="현대하모니 M" panose="02020603020101020101" pitchFamily="18" charset="-127"/>
                <a:ea typeface="현대하모니 M" panose="02020603020101020101" pitchFamily="18" charset="-127"/>
              </a:rPr>
              <a:t>스택</a:t>
            </a:r>
            <a:r>
              <a:rPr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 &amp; </a:t>
            </a:r>
            <a:r>
              <a:rPr dirty="0" err="1">
                <a:latin typeface="현대하모니 M" panose="02020603020101020101" pitchFamily="18" charset="-127"/>
                <a:ea typeface="현대하모니 M" panose="02020603020101020101" pitchFamily="18" charset="-127"/>
              </a:rPr>
              <a:t>아키텍처</a:t>
            </a:r>
            <a:endParaRPr dirty="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0" y="731520"/>
            <a:ext cx="12188952" cy="45720"/>
          </a:xfrm>
          <a:prstGeom prst="rect">
            <a:avLst/>
          </a:prstGeom>
          <a:solidFill>
            <a:srgbClr val="FF6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7772400" cy="5029200"/>
          </a:xfrm>
          <a:prstGeom prst="roundRect">
            <a:avLst/>
          </a:prstGeom>
          <a:solidFill>
            <a:srgbClr val="FCFCFC"/>
          </a:solidFill>
          <a:ln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8412480" y="1188720"/>
            <a:ext cx="3474720" cy="5029200"/>
          </a:xfrm>
          <a:prstGeom prst="round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595360" y="1371600"/>
            <a:ext cx="310896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rPr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Tech Stack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0" y="1920240"/>
            <a:ext cx="31089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6B4D2"/>
                </a:solidFill>
              </a:defRPr>
            </a:pPr>
            <a:r>
              <a:rPr sz="11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Language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0" y="2148840"/>
            <a:ext cx="310896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rPr sz="16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C11, C++17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0" y="2574593"/>
            <a:ext cx="31089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6B4D2"/>
                </a:solidFill>
              </a:defRPr>
            </a:pPr>
            <a:r>
              <a:rPr sz="11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Framework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0" y="2868682"/>
            <a:ext cx="310896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rPr sz="16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ISO 26262, ASPICE, V-Model </a:t>
            </a:r>
            <a:r>
              <a:rPr sz="1600" dirty="0" err="1">
                <a:latin typeface="현대하모니 M" panose="02020603020101020101" pitchFamily="18" charset="-127"/>
                <a:ea typeface="현대하모니 M" panose="02020603020101020101" pitchFamily="18" charset="-127"/>
              </a:rPr>
              <a:t>워크플로우</a:t>
            </a:r>
            <a:r>
              <a:rPr sz="16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600" dirty="0" err="1">
                <a:latin typeface="현대하모니 M" panose="02020603020101020101" pitchFamily="18" charset="-127"/>
                <a:ea typeface="현대하모니 M" panose="02020603020101020101" pitchFamily="18" charset="-127"/>
              </a:rPr>
              <a:t>적용</a:t>
            </a:r>
            <a:endParaRPr sz="1600" dirty="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8595360" y="3493303"/>
            <a:ext cx="31089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6B4D2"/>
                </a:solidFill>
              </a:defRPr>
            </a:pPr>
            <a:r>
              <a:rPr sz="11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Testing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0" y="3738408"/>
            <a:ext cx="310896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rPr sz="16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Google Test, </a:t>
            </a:r>
            <a:r>
              <a:rPr sz="1600" dirty="0" err="1">
                <a:latin typeface="현대하모니 M" panose="02020603020101020101" pitchFamily="18" charset="-127"/>
                <a:ea typeface="현대하모니 M" panose="02020603020101020101" pitchFamily="18" charset="-127"/>
              </a:rPr>
              <a:t>Cppcheck</a:t>
            </a:r>
            <a:r>
              <a:rPr sz="16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 (</a:t>
            </a:r>
            <a:r>
              <a:rPr sz="1600" dirty="0" err="1">
                <a:latin typeface="현대하모니 M" panose="02020603020101020101" pitchFamily="18" charset="-127"/>
                <a:ea typeface="현대하모니 M" panose="02020603020101020101" pitchFamily="18" charset="-127"/>
              </a:rPr>
              <a:t>단위</a:t>
            </a:r>
            <a:r>
              <a:rPr sz="16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600" dirty="0" err="1">
                <a:latin typeface="현대하모니 M" panose="02020603020101020101" pitchFamily="18" charset="-127"/>
                <a:ea typeface="현대하모니 M" panose="02020603020101020101" pitchFamily="18" charset="-127"/>
              </a:rPr>
              <a:t>테스트</a:t>
            </a:r>
            <a:r>
              <a:rPr sz="16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 및 </a:t>
            </a:r>
            <a:r>
              <a:rPr sz="1600" dirty="0" err="1">
                <a:latin typeface="현대하모니 M" panose="02020603020101020101" pitchFamily="18" charset="-127"/>
                <a:ea typeface="현대하모니 M" panose="02020603020101020101" pitchFamily="18" charset="-127"/>
              </a:rPr>
              <a:t>정적</a:t>
            </a:r>
            <a:r>
              <a:rPr sz="16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600" dirty="0" err="1">
                <a:latin typeface="현대하모니 M" panose="02020603020101020101" pitchFamily="18" charset="-127"/>
                <a:ea typeface="현대하모니 M" panose="02020603020101020101" pitchFamily="18" charset="-127"/>
              </a:rPr>
              <a:t>분석</a:t>
            </a:r>
            <a:r>
              <a:rPr sz="16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0" y="4389120"/>
            <a:ext cx="31089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6B4D2"/>
                </a:solidFill>
              </a:defRPr>
            </a:pPr>
            <a:r>
              <a:rPr sz="1100">
                <a:latin typeface="현대하모니 M" panose="02020603020101020101" pitchFamily="18" charset="-127"/>
                <a:ea typeface="현대하모니 M" panose="02020603020101020101" pitchFamily="18" charset="-127"/>
              </a:rPr>
              <a:t>Tools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60" y="4617720"/>
            <a:ext cx="310896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rPr sz="1600">
                <a:latin typeface="현대하모니 M" panose="02020603020101020101" pitchFamily="18" charset="-127"/>
                <a:ea typeface="현대하모니 M" panose="02020603020101020101" pitchFamily="18" charset="-127"/>
              </a:rPr>
              <a:t>GitHub Actions (CI 자동화), Draw.io (UML)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5212080"/>
            <a:ext cx="31089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6B4D2"/>
                </a:solidFill>
              </a:defRPr>
            </a:pPr>
            <a:r>
              <a:rPr sz="1100">
                <a:latin typeface="현대하모니 M" panose="02020603020101020101" pitchFamily="18" charset="-127"/>
                <a:ea typeface="현대하모니 M" panose="02020603020101020101" pitchFamily="18" charset="-127"/>
              </a:rPr>
              <a:t>Environment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60" y="5440680"/>
            <a:ext cx="310896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rPr sz="1600">
                <a:latin typeface="현대하모니 M" panose="02020603020101020101" pitchFamily="18" charset="-127"/>
                <a:ea typeface="현대하모니 M" panose="02020603020101020101" pitchFamily="18" charset="-127"/>
              </a:rPr>
              <a:t>Ubuntu 22.04 LTS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583680"/>
            <a:ext cx="109728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</a:defRPr>
            </a:pPr>
            <a:r>
              <a:rPr dirty="0">
                <a:latin typeface="현대하모니 L" panose="02020603020101020101" pitchFamily="18" charset="-127"/>
                <a:ea typeface="현대하모니 L" panose="02020603020101020101" pitchFamily="18" charset="-127"/>
              </a:rPr>
              <a:t>MOBIUS BOOTCAMP 1기 | PBL </a:t>
            </a:r>
            <a:r>
              <a:rPr dirty="0" err="1">
                <a:latin typeface="현대하모니 L" panose="02020603020101020101" pitchFamily="18" charset="-127"/>
                <a:ea typeface="현대하모니 L" panose="02020603020101020101" pitchFamily="18" charset="-127"/>
              </a:rPr>
              <a:t>결과발표</a:t>
            </a:r>
            <a:r>
              <a:rPr dirty="0">
                <a:latin typeface="현대하모니 L" panose="02020603020101020101" pitchFamily="18" charset="-127"/>
                <a:ea typeface="현대하모니 L" panose="02020603020101020101" pitchFamily="18" charset="-127"/>
              </a:rPr>
              <a:t> | 5/10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25520" y="1234440"/>
            <a:ext cx="4527201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 dirty="0" err="1">
                <a:solidFill>
                  <a:srgbClr val="00357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시스템</a:t>
            </a:r>
            <a:r>
              <a:rPr sz="2000" b="1" dirty="0">
                <a:solidFill>
                  <a:srgbClr val="00357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2000" b="1" dirty="0" err="1">
                <a:solidFill>
                  <a:srgbClr val="00357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상태</a:t>
            </a:r>
            <a:r>
              <a:rPr sz="2000" b="1" dirty="0">
                <a:solidFill>
                  <a:srgbClr val="00357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2000" b="1" dirty="0" err="1">
                <a:solidFill>
                  <a:srgbClr val="00357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다이어그램</a:t>
            </a:r>
            <a:r>
              <a:rPr sz="2000" b="1" dirty="0">
                <a:solidFill>
                  <a:srgbClr val="00357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(State Diagram)</a:t>
            </a:r>
          </a:p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00589"/>
            <a:ext cx="7406640" cy="431635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defRPr sz="2400" b="1">
                <a:solidFill>
                  <a:srgbClr val="ffffff"/>
                </a:solidFill>
              </a:defRPr>
            </a:pPr>
            <a:r>
              <a:rPr>
                <a:latin typeface="현대하모니 M"/>
                <a:ea typeface="현대하모니 M"/>
              </a:rPr>
              <a:t>05. 구현 결과</a:t>
            </a:r>
            <a:endParaRPr>
              <a:latin typeface="현대하모니 M"/>
              <a:ea typeface="현대하모니 M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0" y="731520"/>
            <a:ext cx="12188952" cy="45720"/>
          </a:xfrm>
          <a:prstGeom prst="rect">
            <a:avLst/>
          </a:prstGeom>
          <a:solidFill>
            <a:srgbClr val="ff6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196532" y="914400"/>
            <a:ext cx="5669280" cy="53035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>
              <a:highlight>
                <a:srgbClr val="ffff00"/>
              </a:highlight>
            </a:endParaRPr>
          </a:p>
        </p:txBody>
      </p:sp>
      <p:sp>
        <p:nvSpPr>
          <p:cNvPr id="21" name="Rounded Rectangle 15"/>
          <p:cNvSpPr/>
          <p:nvPr/>
        </p:nvSpPr>
        <p:spPr>
          <a:xfrm>
            <a:off x="6323013" y="914400"/>
            <a:ext cx="5669280" cy="53035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2" name="TextBox 21"/>
          <p:cNvSpPr txBox="1"/>
          <p:nvPr/>
        </p:nvSpPr>
        <p:spPr>
          <a:xfrm>
            <a:off x="457200" y="137160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200">
                <a:solidFill>
                  <a:srgbClr val="003366"/>
                </a:solidFill>
              </a:defRPr>
            </a:pPr>
            <a:r>
              <a:t>아키텍처 (Architecture)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80960" y="1371600"/>
            <a:ext cx="4114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200">
                <a:solidFill>
                  <a:srgbClr val="003366"/>
                </a:solidFill>
              </a:defRPr>
            </a:pPr>
            <a:r>
              <a:t>핵심 로직 (Core Logic)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2011680"/>
            <a:ext cx="1645920" cy="731520"/>
          </a:xfrm>
          <a:prstGeom prst="roundRect">
            <a:avLst/>
          </a:prstGeom>
          <a:solidFill>
            <a:srgbClr val="DCE6F2"/>
          </a:solidFill>
          <a:ln>
            <a:solidFill>
              <a:srgbClr val="4F81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300">
                <a:solidFill>
                  <a:srgbClr val="000000"/>
                </a:solidFill>
              </a:defRPr>
            </a:pPr>
            <a:r>
              <a:t>[인지]</a:t>
            </a:r>
          </a:p>
          <a:p>
            <a:pPr algn="ctr">
              <a:defRPr sz="1100">
                <a:solidFill>
                  <a:srgbClr val="000000"/>
                </a:solidFill>
              </a:defRPr>
            </a:pPr>
            <a:r>
              <a:t>데이터 입력 (Sensor)</a:t>
            </a:r>
          </a:p>
        </p:txBody>
      </p:sp>
      <p:sp>
        <p:nvSpPr>
          <p:cNvPr id="33" name="Right Arrow 32"/>
          <p:cNvSpPr/>
          <p:nvPr/>
        </p:nvSpPr>
        <p:spPr>
          <a:xfrm>
            <a:off x="2194560" y="2286000"/>
            <a:ext cx="365760" cy="18288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2651760" y="2011680"/>
            <a:ext cx="1828800" cy="731520"/>
          </a:xfrm>
          <a:prstGeom prst="roundRect">
            <a:avLst/>
          </a:prstGeom>
          <a:solidFill>
            <a:srgbClr val="FDE9D9"/>
          </a:solidFill>
          <a:ln>
            <a:solidFill>
              <a:srgbClr val="F79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300">
                <a:solidFill>
                  <a:srgbClr val="000000"/>
                </a:solidFill>
              </a:defRPr>
            </a:pPr>
            <a:r>
              <a:t>[판단]</a:t>
            </a:r>
          </a:p>
          <a:p>
            <a:pPr algn="ctr">
              <a:defRPr sz="1100">
                <a:solidFill>
                  <a:srgbClr val="000000"/>
                </a:solidFill>
              </a:defRPr>
            </a:pPr>
            <a:r>
              <a:t>F-07/F-08 Logic</a:t>
            </a:r>
          </a:p>
        </p:txBody>
      </p:sp>
      <p:sp>
        <p:nvSpPr>
          <p:cNvPr id="35" name="Right Arrow 34"/>
          <p:cNvSpPr/>
          <p:nvPr/>
        </p:nvSpPr>
        <p:spPr>
          <a:xfrm>
            <a:off x="4572000" y="2286000"/>
            <a:ext cx="365760" cy="18288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5029200" y="2011680"/>
            <a:ext cx="1645920" cy="731520"/>
          </a:xfrm>
          <a:prstGeom prst="roundRect">
            <a:avLst/>
          </a:prstGeom>
          <a:solidFill>
            <a:srgbClr val="EBF1DE"/>
          </a:solidFill>
          <a:ln>
            <a:solidFill>
              <a:srgbClr val="9BBB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300">
                <a:solidFill>
                  <a:srgbClr val="000000"/>
                </a:solidFill>
              </a:defRPr>
            </a:pPr>
            <a:r>
              <a:t>[제어]</a:t>
            </a:r>
          </a:p>
          <a:p>
            <a:pPr algn="ctr">
              <a:defRPr sz="1100">
                <a:solidFill>
                  <a:srgbClr val="000000"/>
                </a:solidFill>
              </a:defRPr>
            </a:pPr>
            <a:r>
              <a:t>Child Lock Motor</a:t>
            </a:r>
          </a:p>
        </p:txBody>
      </p:sp>
      <p:sp>
        <p:nvSpPr>
          <p:cNvPr id="37" name="Oval 36"/>
          <p:cNvSpPr/>
          <p:nvPr/>
        </p:nvSpPr>
        <p:spPr>
          <a:xfrm>
            <a:off x="2560320" y="3291840"/>
            <a:ext cx="1097280" cy="457200"/>
          </a:xfrm>
          <a:prstGeom prst="ellipse">
            <a:avLst/>
          </a:prstGeom>
          <a:solidFill>
            <a:srgbClr val="C8C8C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>
                <a:solidFill>
                  <a:srgbClr val="000000"/>
                </a:solidFill>
              </a:defRPr>
            </a:pPr>
            <a:r>
              <a:t>주행 중</a:t>
            </a:r>
          </a:p>
        </p:txBody>
      </p:sp>
      <p:sp>
        <p:nvSpPr>
          <p:cNvPr id="38" name="Down Arrow 37"/>
          <p:cNvSpPr/>
          <p:nvPr/>
        </p:nvSpPr>
        <p:spPr>
          <a:xfrm>
            <a:off x="3017520" y="3749039"/>
            <a:ext cx="182880" cy="274320"/>
          </a:xfrm>
          <a:prstGeom prst="down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Diamond 38"/>
          <p:cNvSpPr/>
          <p:nvPr/>
        </p:nvSpPr>
        <p:spPr>
          <a:xfrm>
            <a:off x="2011680" y="4114800"/>
            <a:ext cx="2194560" cy="914400"/>
          </a:xfrm>
          <a:prstGeom prst="diamond">
            <a:avLst/>
          </a:prstGeom>
          <a:solidFill>
            <a:srgbClr val="FFFFC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>
                <a:solidFill>
                  <a:srgbClr val="000000"/>
                </a:solidFill>
              </a:defRPr>
            </a:pPr>
            <a:r>
              <a:t>센서 정상</a:t>
            </a:r>
          </a:p>
          <a:p>
            <a:r>
              <a:t>(riskValid)</a:t>
            </a:r>
          </a:p>
        </p:txBody>
      </p:sp>
      <p:sp>
        <p:nvSpPr>
          <p:cNvPr id="40" name="Right Arrow 39"/>
          <p:cNvSpPr/>
          <p:nvPr/>
        </p:nvSpPr>
        <p:spPr>
          <a:xfrm>
            <a:off x="4206240" y="4434840"/>
            <a:ext cx="548640" cy="18288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06240" y="420624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No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846320" y="4297680"/>
            <a:ext cx="1828800" cy="548640"/>
          </a:xfrm>
          <a:prstGeom prst="roundRect">
            <a:avLst/>
          </a:prstGeom>
          <a:solidFill>
            <a:srgbClr val="FF999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00000"/>
                </a:solidFill>
              </a:defRPr>
            </a:pPr>
            <a:r>
              <a:t>SAFE_LOCKED</a:t>
            </a:r>
          </a:p>
          <a:p>
            <a:r>
              <a:t>(강제 잠금 + 경고)</a:t>
            </a:r>
          </a:p>
        </p:txBody>
      </p:sp>
      <p:sp>
        <p:nvSpPr>
          <p:cNvPr id="43" name="Down Arrow 42"/>
          <p:cNvSpPr/>
          <p:nvPr/>
        </p:nvSpPr>
        <p:spPr>
          <a:xfrm>
            <a:off x="3017520" y="5029200"/>
            <a:ext cx="182880" cy="365760"/>
          </a:xfrm>
          <a:prstGeom prst="down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108960" y="502920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Yes</a:t>
            </a:r>
          </a:p>
        </p:txBody>
      </p:sp>
      <p:sp>
        <p:nvSpPr>
          <p:cNvPr id="45" name="Diamond 44"/>
          <p:cNvSpPr/>
          <p:nvPr/>
        </p:nvSpPr>
        <p:spPr>
          <a:xfrm>
            <a:off x="1554480" y="5486400"/>
            <a:ext cx="3108960" cy="1005840"/>
          </a:xfrm>
          <a:prstGeom prst="diamond">
            <a:avLst/>
          </a:prstGeom>
          <a:solidFill>
            <a:srgbClr val="FFE5C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>
                <a:solidFill>
                  <a:srgbClr val="000000"/>
                </a:solidFill>
              </a:defRPr>
            </a:pPr>
            <a:r>
              <a:t>위험 감지?</a:t>
            </a:r>
          </a:p>
          <a:p>
            <a:r>
              <a:t>Dist &lt;= THRESH &amp;&amp;</a:t>
            </a:r>
          </a:p>
          <a:p>
            <a:r>
              <a:t>Spd &gt;= THRESH</a:t>
            </a:r>
          </a:p>
        </p:txBody>
      </p:sp>
      <p:sp>
        <p:nvSpPr>
          <p:cNvPr id="46" name="Right Arrow 45"/>
          <p:cNvSpPr/>
          <p:nvPr/>
        </p:nvSpPr>
        <p:spPr>
          <a:xfrm>
            <a:off x="4663440" y="5852160"/>
            <a:ext cx="548640" cy="18288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663440" y="557784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Yes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303520" y="5715000"/>
            <a:ext cx="1371600" cy="548640"/>
          </a:xfrm>
          <a:prstGeom prst="roundRect">
            <a:avLst/>
          </a:prstGeom>
          <a:solidFill>
            <a:srgbClr val="FF666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위험 (Risk High)</a:t>
            </a:r>
          </a:p>
          <a:p>
            <a:r>
              <a:t>잠금 유지 + 경고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315200" y="2011680"/>
            <a:ext cx="4572000" cy="4297680"/>
          </a:xfrm>
          <a:prstGeom prst="rect">
            <a:avLst/>
          </a:prstGeom>
          <a:solidFill>
            <a:srgbClr val="1E1E1E"/>
          </a:solidFill>
          <a:ln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57A64A"/>
                </a:solidFill>
                <a:latin typeface="Consolas"/>
              </a:rPr>
              <a:t>/* F-07: Rear Risk Evaluation */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569CD6"/>
                </a:solidFill>
                <a:latin typeface="Consolas"/>
              </a:rPr>
              <a:t>bool</a:t>
            </a:r>
            <a:r>
              <a:rPr sz="1100">
                <a:solidFill>
                  <a:srgbClr val="D4D4D4"/>
                </a:solidFill>
                <a:latin typeface="Consolas"/>
              </a:rPr>
              <a:t> isRawThreatActive(const RearRiskInput_t *in){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569CD6"/>
                </a:solidFill>
                <a:latin typeface="Consolas"/>
              </a:rPr>
              <a:t>    const </a:t>
            </a:r>
            <a:r>
              <a:rPr sz="1100">
                <a:solidFill>
                  <a:srgbClr val="569CD6"/>
                </a:solidFill>
                <a:latin typeface="Consolas"/>
              </a:rPr>
              <a:t>bool</a:t>
            </a:r>
            <a:r>
              <a:rPr sz="1100">
                <a:solidFill>
                  <a:srgbClr val="D4D4D4"/>
                </a:solidFill>
                <a:latin typeface="Consolas"/>
              </a:rPr>
              <a:t> isClose = (in-&gt;dist &lt;= THRESH);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569CD6"/>
                </a:solidFill>
                <a:latin typeface="Consolas"/>
              </a:rPr>
              <a:t>    const </a:t>
            </a:r>
            <a:r>
              <a:rPr sz="1100">
                <a:solidFill>
                  <a:srgbClr val="569CD6"/>
                </a:solidFill>
                <a:latin typeface="Consolas"/>
              </a:rPr>
              <a:t>bool</a:t>
            </a:r>
            <a:r>
              <a:rPr sz="1100">
                <a:solidFill>
                  <a:srgbClr val="D4D4D4"/>
                </a:solidFill>
                <a:latin typeface="Consolas"/>
              </a:rPr>
              <a:t> isFast = (in-&gt;spd &gt;= THRESH);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569CD6"/>
                </a:solidFill>
                <a:latin typeface="Consolas"/>
              </a:rPr>
              <a:t>    return</a:t>
            </a:r>
            <a:r>
              <a:rPr sz="1100">
                <a:solidFill>
                  <a:srgbClr val="D4D4D4"/>
                </a:solidFill>
                <a:latin typeface="Consolas"/>
              </a:rPr>
              <a:t> (isClose &amp;&amp; isFast);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D4D4D4"/>
                </a:solidFill>
                <a:latin typeface="Consolas"/>
              </a:rPr>
              <a:t>}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D4D4D4"/>
                </a:solidFill>
                <a:latin typeface="Consolas"/>
              </a:rPr>
              <a:t/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57A64A"/>
                </a:solidFill>
                <a:latin typeface="Consolas"/>
              </a:rPr>
              <a:t>/* F-08: Protection Controller */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569CD6"/>
                </a:solidFill>
                <a:latin typeface="Consolas"/>
              </a:rPr>
              <a:t>void</a:t>
            </a:r>
            <a:r>
              <a:rPr sz="1100">
                <a:solidFill>
                  <a:srgbClr val="D4D4D4"/>
                </a:solidFill>
                <a:latin typeface="Consolas"/>
              </a:rPr>
              <a:t> F08_Run(const Input_t* in, Output_t* out){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569CD6"/>
                </a:solidFill>
                <a:latin typeface="Consolas"/>
              </a:rPr>
              <a:t>    if</a:t>
            </a:r>
            <a:r>
              <a:rPr sz="1100">
                <a:solidFill>
                  <a:srgbClr val="D4D4D4"/>
                </a:solidFill>
                <a:latin typeface="Consolas"/>
              </a:rPr>
              <a:t> (!in-&gt;riskValid) { </a:t>
            </a:r>
            <a:r>
              <a:rPr sz="1100">
                <a:solidFill>
                  <a:srgbClr val="57A64A"/>
                </a:solidFill>
                <a:latin typeface="Consolas"/>
              </a:rPr>
              <a:t>// 센서 오류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D4D4D4"/>
                </a:solidFill>
                <a:latin typeface="Consolas"/>
              </a:rPr>
              <a:t>        out-&gt;targetCLState = CL_STATE_ON;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D4D4D4"/>
                </a:solidFill>
                <a:latin typeface="Consolas"/>
              </a:rPr>
              <a:t>        out-&gt;warningSound = </a:t>
            </a:r>
            <a:r>
              <a:rPr sz="1100">
                <a:solidFill>
                  <a:srgbClr val="569CD6"/>
                </a:solidFill>
                <a:latin typeface="Consolas"/>
              </a:rPr>
              <a:t>true</a:t>
            </a:r>
            <a:r>
              <a:rPr sz="1100">
                <a:solidFill>
                  <a:srgbClr val="D4D4D4"/>
                </a:solidFill>
                <a:latin typeface="Consolas"/>
              </a:rPr>
              <a:t>;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D4D4D4"/>
                </a:solidFill>
                <a:latin typeface="Consolas"/>
              </a:rPr>
              <a:t>    }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569CD6"/>
                </a:solidFill>
                <a:latin typeface="Consolas"/>
              </a:rPr>
              <a:t>    else if</a:t>
            </a:r>
            <a:r>
              <a:rPr sz="1100">
                <a:solidFill>
                  <a:srgbClr val="D4D4D4"/>
                </a:solidFill>
                <a:latin typeface="Consolas"/>
              </a:rPr>
              <a:t> (in-&gt;riskHigh) { </a:t>
            </a:r>
            <a:r>
              <a:rPr sz="1100">
                <a:solidFill>
                  <a:srgbClr val="57A64A"/>
                </a:solidFill>
                <a:latin typeface="Consolas"/>
              </a:rPr>
              <a:t>// 위험 단계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D4D4D4"/>
                </a:solidFill>
                <a:latin typeface="Consolas"/>
              </a:rPr>
              <a:t>        out-&gt;targetCLState = CL_STATE_ON;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D4D4D4"/>
                </a:solidFill>
                <a:latin typeface="Consolas"/>
              </a:rPr>
              <a:t>        out-&gt;warningSound = </a:t>
            </a:r>
            <a:r>
              <a:rPr sz="1100">
                <a:solidFill>
                  <a:srgbClr val="569CD6"/>
                </a:solidFill>
                <a:latin typeface="Consolas"/>
              </a:rPr>
              <a:t>true</a:t>
            </a:r>
            <a:r>
              <a:rPr sz="1100">
                <a:solidFill>
                  <a:srgbClr val="D4D4D4"/>
                </a:solidFill>
                <a:latin typeface="Consolas"/>
              </a:rPr>
              <a:t>;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D4D4D4"/>
                </a:solidFill>
                <a:latin typeface="Consolas"/>
              </a:rPr>
              <a:t>    }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D4D4D4"/>
                </a:solidFill>
                <a:latin typeface="Consolas"/>
              </a:rPr>
              <a:t>}</a:t>
            </a:r>
          </a:p>
        </p:txBody>
      </p:sp>
      <p:sp>
        <p:nvSpPr>
          <p:cNvPr id="50" name="Left Arrow 49"/>
          <p:cNvSpPr/>
          <p:nvPr/>
        </p:nvSpPr>
        <p:spPr>
          <a:xfrm>
            <a:off x="6766560" y="2926080"/>
            <a:ext cx="548640" cy="274320"/>
          </a:xfrm>
          <a:prstGeom prst="leftArrow">
            <a:avLst/>
          </a:prstGeom>
          <a:solidFill>
            <a:srgbClr val="FFCC00"/>
          </a:solidFill>
          <a:ln>
            <a:solidFill>
              <a:srgbClr val="FFC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Left Arrow 50"/>
          <p:cNvSpPr/>
          <p:nvPr/>
        </p:nvSpPr>
        <p:spPr>
          <a:xfrm>
            <a:off x="6766560" y="4114800"/>
            <a:ext cx="548640" cy="274320"/>
          </a:xfrm>
          <a:prstGeom prst="leftArrow">
            <a:avLst/>
          </a:prstGeom>
          <a:solidFill>
            <a:srgbClr val="FF9999"/>
          </a:solidFill>
          <a:ln>
            <a:solidFill>
              <a:srgbClr val="FF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Left Arrow 51"/>
          <p:cNvSpPr/>
          <p:nvPr/>
        </p:nvSpPr>
        <p:spPr>
          <a:xfrm>
            <a:off x="6766560" y="5120640"/>
            <a:ext cx="548640" cy="274320"/>
          </a:xfrm>
          <a:prstGeom prst="leftArrow">
            <a:avLst/>
          </a:prstGeom>
          <a:solidFill>
            <a:srgbClr val="FF6666"/>
          </a:solidFill>
          <a:ln>
            <a:solidFill>
              <a:srgbClr val="FF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4218103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rPr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05. </a:t>
            </a:r>
            <a:r>
              <a:rPr dirty="0" err="1">
                <a:latin typeface="현대하모니 M" panose="02020603020101020101" pitchFamily="18" charset="-127"/>
                <a:ea typeface="현대하모니 M" panose="02020603020101020101" pitchFamily="18" charset="-127"/>
              </a:rPr>
              <a:t>구현</a:t>
            </a:r>
            <a:r>
              <a:rPr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dirty="0" err="1">
                <a:latin typeface="현대하모니 M" panose="02020603020101020101" pitchFamily="18" charset="-127"/>
                <a:ea typeface="현대하모니 M" panose="02020603020101020101" pitchFamily="18" charset="-127"/>
              </a:rPr>
              <a:t>결과</a:t>
            </a:r>
            <a:endParaRPr dirty="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0" y="731520"/>
            <a:ext cx="12188952" cy="45720"/>
          </a:xfrm>
          <a:prstGeom prst="rect">
            <a:avLst/>
          </a:prstGeom>
          <a:solidFill>
            <a:srgbClr val="FF6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57200" y="6583680"/>
            <a:ext cx="109728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</a:defRPr>
            </a:pPr>
            <a:r>
              <a:rPr dirty="0">
                <a:latin typeface="현대하모니 L" panose="02020603020101020101" pitchFamily="18" charset="-127"/>
                <a:ea typeface="현대하모니 L" panose="02020603020101020101" pitchFamily="18" charset="-127"/>
              </a:rPr>
              <a:t>MOBIUS BOOTCAMP 1기 | PBL </a:t>
            </a:r>
            <a:r>
              <a:rPr dirty="0" err="1">
                <a:latin typeface="현대하모니 L" panose="02020603020101020101" pitchFamily="18" charset="-127"/>
                <a:ea typeface="현대하모니 L" panose="02020603020101020101" pitchFamily="18" charset="-127"/>
              </a:rPr>
              <a:t>결과발표</a:t>
            </a:r>
            <a:r>
              <a:rPr dirty="0">
                <a:latin typeface="현대하모니 L" panose="02020603020101020101" pitchFamily="18" charset="-127"/>
                <a:ea typeface="현대하모니 L" panose="02020603020101020101" pitchFamily="18" charset="-127"/>
              </a:rPr>
              <a:t> | 6/10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A28675D1-D43A-50C0-B9A6-C9EA8F8650EF}"/>
              </a:ext>
            </a:extLst>
          </p:cNvPr>
          <p:cNvSpPr/>
          <p:nvPr/>
        </p:nvSpPr>
        <p:spPr>
          <a:xfrm>
            <a:off x="196532" y="914400"/>
            <a:ext cx="5669280" cy="53035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dirty="0">
              <a:highlight>
                <a:srgbClr val="FFFF00"/>
              </a:highlight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64616D9-8B2C-933C-8150-E45F17402557}"/>
              </a:ext>
            </a:extLst>
          </p:cNvPr>
          <p:cNvSpPr txBox="1"/>
          <p:nvPr/>
        </p:nvSpPr>
        <p:spPr>
          <a:xfrm>
            <a:off x="196532" y="1051559"/>
            <a:ext cx="566928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sz="2000" b="1" dirty="0" err="1">
                <a:solidFill>
                  <a:srgbClr val="001F54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시뮬레이션</a:t>
            </a:r>
            <a:r>
              <a:rPr sz="2000" b="1" dirty="0">
                <a:solidFill>
                  <a:srgbClr val="001F54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및 </a:t>
            </a:r>
            <a:r>
              <a:rPr sz="2000" b="1" dirty="0" err="1">
                <a:solidFill>
                  <a:srgbClr val="001F54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테스트</a:t>
            </a:r>
            <a:r>
              <a:rPr sz="2000" b="1" dirty="0">
                <a:solidFill>
                  <a:srgbClr val="001F54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2000" b="1" dirty="0" err="1">
                <a:solidFill>
                  <a:srgbClr val="001F54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검증</a:t>
            </a:r>
            <a:endParaRPr sz="2000" b="1" dirty="0">
              <a:solidFill>
                <a:srgbClr val="001F54"/>
              </a:solidFill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9" name="TextBox 7">
            <a:extLst>
              <a:ext uri="{FF2B5EF4-FFF2-40B4-BE49-F238E27FC236}">
                <a16:creationId xmlns:a16="http://schemas.microsoft.com/office/drawing/2014/main" id="{58821658-EED0-D11F-E858-A778A9BAF840}"/>
              </a:ext>
            </a:extLst>
          </p:cNvPr>
          <p:cNvSpPr txBox="1"/>
          <p:nvPr/>
        </p:nvSpPr>
        <p:spPr>
          <a:xfrm>
            <a:off x="379412" y="1417320"/>
            <a:ext cx="53035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defRPr/>
            </a:pPr>
            <a:r>
              <a:rPr sz="1400" b="0" dirty="0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• </a:t>
            </a:r>
            <a:r>
              <a:rPr sz="1400" b="0" dirty="0" err="1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GTest</a:t>
            </a:r>
            <a:r>
              <a:rPr sz="1400" b="0" dirty="0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프레임워크</a:t>
            </a:r>
            <a:r>
              <a:rPr sz="1400" b="0" dirty="0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기반</a:t>
            </a:r>
            <a:r>
              <a:rPr sz="1400" b="0" dirty="0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140개 </a:t>
            </a:r>
            <a:r>
              <a:rPr sz="1400" b="0" dirty="0" err="1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단위</a:t>
            </a:r>
            <a:r>
              <a:rPr sz="1400" b="0" dirty="0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/</a:t>
            </a:r>
            <a:r>
              <a:rPr sz="1400" b="0" dirty="0" err="1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통합</a:t>
            </a:r>
            <a:r>
              <a:rPr sz="1400" b="0" dirty="0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테스트</a:t>
            </a:r>
            <a:r>
              <a:rPr sz="1400" b="0" dirty="0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100% </a:t>
            </a:r>
            <a:r>
              <a:rPr sz="1400" b="0" dirty="0" err="1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통과</a:t>
            </a:r>
            <a:endParaRPr sz="1400" b="0" dirty="0">
              <a:solidFill>
                <a:srgbClr val="212529"/>
              </a:solidFill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  <a:p>
            <a:pPr lvl="0" algn="l">
              <a:defRPr/>
            </a:pPr>
            <a:r>
              <a:rPr sz="1400" b="0" dirty="0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• </a:t>
            </a:r>
            <a:r>
              <a:rPr sz="1400" b="0" dirty="0" err="1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시뮬레이션</a:t>
            </a:r>
            <a:r>
              <a:rPr sz="1400" b="0" dirty="0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환경의</a:t>
            </a:r>
            <a:r>
              <a:rPr sz="1400" b="0" dirty="0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동적</a:t>
            </a:r>
            <a:r>
              <a:rPr sz="1400" b="0" dirty="0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입력</a:t>
            </a:r>
            <a:r>
              <a:rPr sz="1400" b="0" dirty="0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(</a:t>
            </a:r>
            <a:r>
              <a:rPr sz="1400" b="0" dirty="0" err="1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차속</a:t>
            </a:r>
            <a:r>
              <a:rPr sz="1400" b="0" dirty="0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/</a:t>
            </a:r>
            <a:r>
              <a:rPr sz="1400" b="0" dirty="0" err="1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센서</a:t>
            </a:r>
            <a:r>
              <a:rPr sz="1400" b="0" dirty="0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)에 </a:t>
            </a:r>
            <a:r>
              <a:rPr sz="1400" b="0" dirty="0" err="1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따른</a:t>
            </a:r>
            <a:r>
              <a:rPr sz="1400" b="0" dirty="0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정상</a:t>
            </a:r>
            <a:r>
              <a:rPr sz="1400" b="0" dirty="0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상태</a:t>
            </a:r>
            <a:r>
              <a:rPr sz="1400" b="0" dirty="0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전이</a:t>
            </a:r>
            <a:r>
              <a:rPr sz="1400" b="0" dirty="0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검증</a:t>
            </a:r>
            <a:endParaRPr sz="1400" b="0" dirty="0">
              <a:solidFill>
                <a:srgbClr val="212529"/>
              </a:solidFill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10" name="Rounded Rectangle 8">
            <a:extLst>
              <a:ext uri="{FF2B5EF4-FFF2-40B4-BE49-F238E27FC236}">
                <a16:creationId xmlns:a16="http://schemas.microsoft.com/office/drawing/2014/main" id="{31769781-3DB5-D0D3-C38D-3C6D7CDD4203}"/>
              </a:ext>
            </a:extLst>
          </p:cNvPr>
          <p:cNvSpPr/>
          <p:nvPr/>
        </p:nvSpPr>
        <p:spPr>
          <a:xfrm>
            <a:off x="379412" y="2011680"/>
            <a:ext cx="5303520" cy="1737360"/>
          </a:xfrm>
          <a:prstGeom prst="roundRect">
            <a:avLst>
              <a:gd name="adj" fmla="val 16667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1" name="Rounded Rectangle 9">
            <a:extLst>
              <a:ext uri="{FF2B5EF4-FFF2-40B4-BE49-F238E27FC236}">
                <a16:creationId xmlns:a16="http://schemas.microsoft.com/office/drawing/2014/main" id="{166A76EA-25A2-882E-1882-D1F3AC836FFD}"/>
              </a:ext>
            </a:extLst>
          </p:cNvPr>
          <p:cNvSpPr/>
          <p:nvPr/>
        </p:nvSpPr>
        <p:spPr>
          <a:xfrm>
            <a:off x="470852" y="2103120"/>
            <a:ext cx="109728" cy="109728"/>
          </a:xfrm>
          <a:prstGeom prst="roundRect">
            <a:avLst>
              <a:gd name="adj" fmla="val 16667"/>
            </a:avLst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2" name="Rounded Rectangle 10">
            <a:extLst>
              <a:ext uri="{FF2B5EF4-FFF2-40B4-BE49-F238E27FC236}">
                <a16:creationId xmlns:a16="http://schemas.microsoft.com/office/drawing/2014/main" id="{32D4D187-AD91-D44E-2151-DF2CB66CC5C2}"/>
              </a:ext>
            </a:extLst>
          </p:cNvPr>
          <p:cNvSpPr/>
          <p:nvPr/>
        </p:nvSpPr>
        <p:spPr>
          <a:xfrm>
            <a:off x="653732" y="2103120"/>
            <a:ext cx="109728" cy="109728"/>
          </a:xfrm>
          <a:prstGeom prst="roundRect">
            <a:avLst>
              <a:gd name="adj" fmla="val 16667"/>
            </a:avLst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3" name="Rounded Rectangle 11">
            <a:extLst>
              <a:ext uri="{FF2B5EF4-FFF2-40B4-BE49-F238E27FC236}">
                <a16:creationId xmlns:a16="http://schemas.microsoft.com/office/drawing/2014/main" id="{A3E01DA6-5729-A2F3-309A-B6B7D37EEFC2}"/>
              </a:ext>
            </a:extLst>
          </p:cNvPr>
          <p:cNvSpPr/>
          <p:nvPr/>
        </p:nvSpPr>
        <p:spPr>
          <a:xfrm>
            <a:off x="836612" y="2103120"/>
            <a:ext cx="109728" cy="109728"/>
          </a:xfrm>
          <a:prstGeom prst="roundRect">
            <a:avLst>
              <a:gd name="adj" fmla="val 16667"/>
            </a:avLst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D6597676-6CB4-546D-BF71-6217DC0D85BF}"/>
              </a:ext>
            </a:extLst>
          </p:cNvPr>
          <p:cNvSpPr txBox="1"/>
          <p:nvPr/>
        </p:nvSpPr>
        <p:spPr>
          <a:xfrm>
            <a:off x="470852" y="2285999"/>
            <a:ext cx="51206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sz="1100">
                <a:solidFill>
                  <a:srgbClr val="E0E0E0"/>
                </a:solidFill>
                <a:latin typeface="Consolas"/>
              </a:rPr>
              <a:t>[==========] Running 140 tests from 12 test suites.</a:t>
            </a:r>
          </a:p>
          <a:p>
            <a:pPr lvl="0">
              <a:defRPr/>
            </a:pPr>
            <a:endParaRPr sz="1100">
              <a:solidFill>
                <a:srgbClr val="E0E0E0"/>
              </a:solidFill>
              <a:latin typeface="Consolas"/>
            </a:endParaRPr>
          </a:p>
          <a:p>
            <a:pPr lvl="0">
              <a:defRPr/>
            </a:pPr>
            <a:r>
              <a:rPr sz="1100">
                <a:solidFill>
                  <a:srgbClr val="81C784"/>
                </a:solidFill>
                <a:latin typeface="Consolas"/>
              </a:rPr>
              <a:t>[  PASSED  ] </a:t>
            </a:r>
            <a:r>
              <a:rPr sz="1100">
                <a:solidFill>
                  <a:srgbClr val="E0E0E0"/>
                </a:solidFill>
                <a:latin typeface="Consolas"/>
              </a:rPr>
              <a:t>140 tests.</a:t>
            </a:r>
          </a:p>
          <a:p>
            <a:pPr lvl="0">
              <a:defRPr/>
            </a:pPr>
            <a:endParaRPr sz="1100">
              <a:solidFill>
                <a:srgbClr val="E0E0E0"/>
              </a:solidFill>
              <a:latin typeface="Consolas"/>
            </a:endParaRPr>
          </a:p>
          <a:p>
            <a:pPr lvl="0">
              <a:defRPr/>
            </a:pPr>
            <a:endParaRPr sz="1100">
              <a:solidFill>
                <a:srgbClr val="E0E0E0"/>
              </a:solidFill>
              <a:latin typeface="Consolas"/>
            </a:endParaRPr>
          </a:p>
          <a:p>
            <a:pPr lvl="0">
              <a:defRPr/>
            </a:pPr>
            <a:r>
              <a:rPr sz="1100">
                <a:solidFill>
                  <a:srgbClr val="E0E0E0"/>
                </a:solidFill>
                <a:latin typeface="Consolas"/>
              </a:rPr>
              <a:t>Coverage: 100% (Branch)</a:t>
            </a:r>
          </a:p>
          <a:p>
            <a:pPr lvl="0">
              <a:defRPr/>
            </a:pPr>
            <a:endParaRPr sz="1100">
              <a:solidFill>
                <a:srgbClr val="E0E0E0"/>
              </a:solidFill>
              <a:latin typeface="Consolas"/>
            </a:endParaRPr>
          </a:p>
          <a:p>
            <a:pPr lvl="0">
              <a:defRPr/>
            </a:pPr>
            <a:r>
              <a:rPr sz="1100">
                <a:solidFill>
                  <a:srgbClr val="E0E0E0"/>
                </a:solidFill>
                <a:latin typeface="Consolas"/>
              </a:rPr>
              <a:t>Cyclomatic Complexity Average: 7</a:t>
            </a:r>
          </a:p>
        </p:txBody>
      </p:sp>
      <p:sp>
        <p:nvSpPr>
          <p:cNvPr id="15" name="Rounded Rectangle 13">
            <a:extLst>
              <a:ext uri="{FF2B5EF4-FFF2-40B4-BE49-F238E27FC236}">
                <a16:creationId xmlns:a16="http://schemas.microsoft.com/office/drawing/2014/main" id="{23E869DD-D9D4-DB6D-770D-648A808E7973}"/>
              </a:ext>
            </a:extLst>
          </p:cNvPr>
          <p:cNvSpPr/>
          <p:nvPr/>
        </p:nvSpPr>
        <p:spPr>
          <a:xfrm>
            <a:off x="379412" y="3931920"/>
            <a:ext cx="5303520" cy="1828800"/>
          </a:xfrm>
          <a:prstGeom prst="roundRect">
            <a:avLst>
              <a:gd name="adj" fmla="val 16667"/>
            </a:avLst>
          </a:prstGeom>
          <a:solidFill>
            <a:srgbClr val="1E1E1E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6" name="TextBox 14">
            <a:extLst>
              <a:ext uri="{FF2B5EF4-FFF2-40B4-BE49-F238E27FC236}">
                <a16:creationId xmlns:a16="http://schemas.microsoft.com/office/drawing/2014/main" id="{6CC0873E-8B45-6F57-93CB-C8393C044EE5}"/>
              </a:ext>
            </a:extLst>
          </p:cNvPr>
          <p:cNvSpPr txBox="1"/>
          <p:nvPr/>
        </p:nvSpPr>
        <p:spPr>
          <a:xfrm>
            <a:off x="470852" y="4023360"/>
            <a:ext cx="51206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sz="1000">
                <a:solidFill>
                  <a:srgbClr val="AAAAAA"/>
                </a:solidFill>
                <a:latin typeface="Consolas"/>
              </a:rPr>
              <a:t>=== Simulation System Log ===</a:t>
            </a:r>
          </a:p>
          <a:p>
            <a:pPr lvl="0">
              <a:defRPr/>
            </a:pPr>
            <a:endParaRPr sz="1000">
              <a:solidFill>
                <a:srgbClr val="AAAAAA"/>
              </a:solidFill>
              <a:latin typeface="Consolas"/>
            </a:endParaRPr>
          </a:p>
          <a:p>
            <a:pPr lvl="0">
              <a:defRPr/>
            </a:pPr>
            <a:r>
              <a:rPr sz="1000">
                <a:solidFill>
                  <a:srgbClr val="64B5F6"/>
                </a:solidFill>
                <a:latin typeface="Consolas"/>
              </a:rPr>
              <a:t>[VehicleSpeed: 0km/h] </a:t>
            </a:r>
            <a:r>
              <a:rPr sz="1000">
                <a:solidFill>
                  <a:srgbClr val="E0E0E0"/>
                </a:solidFill>
                <a:latin typeface="Consolas"/>
              </a:rPr>
              <a:t>UserRequest -&gt; ManualLock</a:t>
            </a:r>
          </a:p>
          <a:p>
            <a:pPr lvl="0">
              <a:defRPr/>
            </a:pPr>
            <a:r>
              <a:rPr sz="1000">
                <a:solidFill>
                  <a:srgbClr val="64B5F6"/>
                </a:solidFill>
                <a:latin typeface="Consolas"/>
              </a:rPr>
              <a:t>[VehicleSpeed: 16km/h] </a:t>
            </a:r>
            <a:r>
              <a:rPr sz="1000">
                <a:solidFill>
                  <a:srgbClr val="E0E0E0"/>
                </a:solidFill>
                <a:latin typeface="Consolas"/>
              </a:rPr>
              <a:t>-&gt; AUTO_LOCKED</a:t>
            </a:r>
          </a:p>
          <a:p>
            <a:pPr lvl="0">
              <a:defRPr/>
            </a:pPr>
            <a:r>
              <a:rPr sz="1000">
                <a:solidFill>
                  <a:srgbClr val="64B5F6"/>
                </a:solidFill>
                <a:latin typeface="Consolas"/>
              </a:rPr>
              <a:t>[CollisionDetec: TRUE] </a:t>
            </a:r>
            <a:r>
              <a:rPr sz="1000">
                <a:solidFill>
                  <a:srgbClr val="E0E0E0"/>
                </a:solidFill>
                <a:latin typeface="Consolas"/>
              </a:rPr>
              <a:t>-&gt; EMERGENCY_RELEASED</a:t>
            </a:r>
          </a:p>
        </p:txBody>
      </p:sp>
      <p:sp>
        <p:nvSpPr>
          <p:cNvPr id="21" name="Rounded Rectangle 15">
            <a:extLst>
              <a:ext uri="{FF2B5EF4-FFF2-40B4-BE49-F238E27FC236}">
                <a16:creationId xmlns:a16="http://schemas.microsoft.com/office/drawing/2014/main" id="{6F486E3A-49AB-E5C5-336E-78B153DE38D7}"/>
              </a:ext>
            </a:extLst>
          </p:cNvPr>
          <p:cNvSpPr/>
          <p:nvPr/>
        </p:nvSpPr>
        <p:spPr>
          <a:xfrm>
            <a:off x="6323013" y="914400"/>
            <a:ext cx="5669280" cy="53035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2" name="TextBox 16">
            <a:extLst>
              <a:ext uri="{FF2B5EF4-FFF2-40B4-BE49-F238E27FC236}">
                <a16:creationId xmlns:a16="http://schemas.microsoft.com/office/drawing/2014/main" id="{FEF027DB-C9A2-DBAD-D10A-27955CEA5300}"/>
              </a:ext>
            </a:extLst>
          </p:cNvPr>
          <p:cNvSpPr txBox="1"/>
          <p:nvPr/>
        </p:nvSpPr>
        <p:spPr>
          <a:xfrm>
            <a:off x="6323013" y="1051559"/>
            <a:ext cx="566928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sz="2000" b="1" dirty="0">
                <a:solidFill>
                  <a:srgbClr val="001F54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CI/CD 및 </a:t>
            </a:r>
            <a:r>
              <a:rPr sz="2000" b="1" dirty="0" err="1">
                <a:solidFill>
                  <a:srgbClr val="001F54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형상</a:t>
            </a:r>
            <a:r>
              <a:rPr sz="2000" b="1" dirty="0">
                <a:solidFill>
                  <a:srgbClr val="001F54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2000" b="1" dirty="0" err="1">
                <a:solidFill>
                  <a:srgbClr val="001F54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관리</a:t>
            </a:r>
            <a:endParaRPr sz="2000" b="1" dirty="0">
              <a:solidFill>
                <a:srgbClr val="001F54"/>
              </a:solidFill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23" name="TextBox 17">
            <a:extLst>
              <a:ext uri="{FF2B5EF4-FFF2-40B4-BE49-F238E27FC236}">
                <a16:creationId xmlns:a16="http://schemas.microsoft.com/office/drawing/2014/main" id="{63E73FF6-EE6E-8ACA-24A8-0C796CA80491}"/>
              </a:ext>
            </a:extLst>
          </p:cNvPr>
          <p:cNvSpPr txBox="1"/>
          <p:nvPr/>
        </p:nvSpPr>
        <p:spPr>
          <a:xfrm>
            <a:off x="6505893" y="1417320"/>
            <a:ext cx="53035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defRPr/>
            </a:pPr>
            <a:r>
              <a:rPr sz="1400" b="0" dirty="0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• GitHub Actions </a:t>
            </a:r>
            <a:r>
              <a:rPr sz="1400" b="0" dirty="0" err="1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기반</a:t>
            </a:r>
            <a:r>
              <a:rPr sz="1400" b="0" dirty="0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빌드</a:t>
            </a:r>
            <a:r>
              <a:rPr sz="1400" b="0" dirty="0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lang="en-US" sz="1400" dirty="0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/ </a:t>
            </a:r>
            <a:r>
              <a:rPr sz="1400" b="0" dirty="0" err="1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테스트</a:t>
            </a:r>
            <a:r>
              <a:rPr sz="1400" b="0" dirty="0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lang="en-US" sz="1400" b="0" dirty="0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/ </a:t>
            </a:r>
            <a:r>
              <a:rPr sz="1400" b="0" dirty="0" err="1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정적</a:t>
            </a:r>
            <a:r>
              <a:rPr sz="1400" b="0" dirty="0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분석</a:t>
            </a:r>
            <a:r>
              <a:rPr sz="1400" b="0" dirty="0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(</a:t>
            </a:r>
            <a:r>
              <a:rPr sz="1400" b="0" dirty="0" err="1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Cppcheck</a:t>
            </a:r>
            <a:r>
              <a:rPr sz="1400" b="0" dirty="0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) </a:t>
            </a:r>
            <a:r>
              <a:rPr sz="1400" b="0" dirty="0" err="1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자동화</a:t>
            </a:r>
            <a:endParaRPr sz="1400" b="0" dirty="0">
              <a:solidFill>
                <a:srgbClr val="212529"/>
              </a:solidFill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  <a:p>
            <a:pPr lvl="0" algn="l">
              <a:defRPr/>
            </a:pPr>
            <a:r>
              <a:rPr sz="1400" b="0" dirty="0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• </a:t>
            </a:r>
            <a:r>
              <a:rPr sz="1400" b="0" dirty="0" err="1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기능</a:t>
            </a:r>
            <a:r>
              <a:rPr sz="1400" b="0" dirty="0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개발</a:t>
            </a:r>
            <a:r>
              <a:rPr sz="1400" b="0" dirty="0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및 </a:t>
            </a:r>
            <a:r>
              <a:rPr sz="1400" b="0" dirty="0" err="1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버그</a:t>
            </a:r>
            <a:r>
              <a:rPr sz="1400" b="0" dirty="0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수정</a:t>
            </a:r>
            <a:r>
              <a:rPr sz="1400" b="0" dirty="0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후 main </a:t>
            </a:r>
            <a:r>
              <a:rPr sz="1400" b="0" dirty="0" err="1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브랜치로</a:t>
            </a:r>
            <a:r>
              <a:rPr sz="1400" b="0" dirty="0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병합하는</a:t>
            </a:r>
            <a:r>
              <a:rPr sz="1400" b="0" dirty="0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워크플로우</a:t>
            </a:r>
            <a:endParaRPr sz="1400" b="0" dirty="0">
              <a:solidFill>
                <a:srgbClr val="212529"/>
              </a:solidFill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24" name="Rounded Rectangle 18">
            <a:extLst>
              <a:ext uri="{FF2B5EF4-FFF2-40B4-BE49-F238E27FC236}">
                <a16:creationId xmlns:a16="http://schemas.microsoft.com/office/drawing/2014/main" id="{E33DC5EB-068D-4F12-BAFA-60EF669094D6}"/>
              </a:ext>
            </a:extLst>
          </p:cNvPr>
          <p:cNvSpPr/>
          <p:nvPr/>
        </p:nvSpPr>
        <p:spPr>
          <a:xfrm>
            <a:off x="6505893" y="2011680"/>
            <a:ext cx="5303520" cy="18288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5" name="TextBox 19">
            <a:extLst>
              <a:ext uri="{FF2B5EF4-FFF2-40B4-BE49-F238E27FC236}">
                <a16:creationId xmlns:a16="http://schemas.microsoft.com/office/drawing/2014/main" id="{79996AA7-A96A-AA94-83B6-4DAE77D7D013}"/>
              </a:ext>
            </a:extLst>
          </p:cNvPr>
          <p:cNvSpPr txBox="1"/>
          <p:nvPr/>
        </p:nvSpPr>
        <p:spPr>
          <a:xfrm>
            <a:off x="6597333" y="2103120"/>
            <a:ext cx="5303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defRPr/>
            </a:pPr>
            <a:r>
              <a:rPr sz="1100" b="1">
                <a:solidFill>
                  <a:srgbClr val="212529"/>
                </a:solidFill>
                <a:latin typeface="맑은 고딕"/>
              </a:rPr>
              <a:t>GitHub Actions Pipeline</a:t>
            </a:r>
          </a:p>
        </p:txBody>
      </p:sp>
      <p:sp>
        <p:nvSpPr>
          <p:cNvPr id="27" name="TextBox 20">
            <a:extLst>
              <a:ext uri="{FF2B5EF4-FFF2-40B4-BE49-F238E27FC236}">
                <a16:creationId xmlns:a16="http://schemas.microsoft.com/office/drawing/2014/main" id="{06E15547-9B93-7545-174C-B16328FCD553}"/>
              </a:ext>
            </a:extLst>
          </p:cNvPr>
          <p:cNvSpPr txBox="1"/>
          <p:nvPr/>
        </p:nvSpPr>
        <p:spPr>
          <a:xfrm>
            <a:off x="6597333" y="2331720"/>
            <a:ext cx="5303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defRPr/>
            </a:pPr>
            <a:r>
              <a:rPr sz="900" b="0">
                <a:solidFill>
                  <a:srgbClr val="6C757D"/>
                </a:solidFill>
                <a:latin typeface="맑은 고딕"/>
              </a:rPr>
              <a:t>Commit: a1b2c3d  |  Duration: 1m 32s</a:t>
            </a:r>
          </a:p>
        </p:txBody>
      </p:sp>
      <p:sp>
        <p:nvSpPr>
          <p:cNvPr id="28" name="TextBox 21">
            <a:extLst>
              <a:ext uri="{FF2B5EF4-FFF2-40B4-BE49-F238E27FC236}">
                <a16:creationId xmlns:a16="http://schemas.microsoft.com/office/drawing/2014/main" id="{5BCC606E-50DF-2208-A856-EFFEB8BCE7FE}"/>
              </a:ext>
            </a:extLst>
          </p:cNvPr>
          <p:cNvSpPr txBox="1"/>
          <p:nvPr/>
        </p:nvSpPr>
        <p:spPr>
          <a:xfrm>
            <a:off x="6643053" y="251460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defRPr/>
            </a:pPr>
            <a:r>
              <a:rPr sz="1200" b="1">
                <a:solidFill>
                  <a:srgbClr val="00C853"/>
                </a:solidFill>
                <a:latin typeface="Segoe UI Symbol"/>
              </a:rPr>
              <a:t>✔</a:t>
            </a:r>
          </a:p>
        </p:txBody>
      </p:sp>
      <p:sp>
        <p:nvSpPr>
          <p:cNvPr id="29" name="TextBox 22">
            <a:extLst>
              <a:ext uri="{FF2B5EF4-FFF2-40B4-BE49-F238E27FC236}">
                <a16:creationId xmlns:a16="http://schemas.microsoft.com/office/drawing/2014/main" id="{6E4E1BDA-DF73-DA82-45CE-2EC86511B6D8}"/>
              </a:ext>
            </a:extLst>
          </p:cNvPr>
          <p:cNvSpPr txBox="1"/>
          <p:nvPr/>
        </p:nvSpPr>
        <p:spPr>
          <a:xfrm>
            <a:off x="6871653" y="2542032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defRPr/>
            </a:pPr>
            <a:r>
              <a:rPr sz="1000" b="1">
                <a:solidFill>
                  <a:srgbClr val="212529"/>
                </a:solidFill>
                <a:latin typeface="맑은 고딕"/>
              </a:rPr>
              <a:t>Build (Ubuntu)</a:t>
            </a:r>
          </a:p>
        </p:txBody>
      </p:sp>
      <p:sp>
        <p:nvSpPr>
          <p:cNvPr id="30" name="Rounded Rectangle 23">
            <a:extLst>
              <a:ext uri="{FF2B5EF4-FFF2-40B4-BE49-F238E27FC236}">
                <a16:creationId xmlns:a16="http://schemas.microsoft.com/office/drawing/2014/main" id="{77386A35-8B98-E42A-4131-2B0BD15BEA77}"/>
              </a:ext>
            </a:extLst>
          </p:cNvPr>
          <p:cNvSpPr/>
          <p:nvPr/>
        </p:nvSpPr>
        <p:spPr>
          <a:xfrm>
            <a:off x="8791893" y="2633471"/>
            <a:ext cx="1371600" cy="73152"/>
          </a:xfrm>
          <a:prstGeom prst="roundRect">
            <a:avLst>
              <a:gd name="adj" fmla="val 16667"/>
            </a:avLst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1" name="Rounded Rectangle 24">
            <a:extLst>
              <a:ext uri="{FF2B5EF4-FFF2-40B4-BE49-F238E27FC236}">
                <a16:creationId xmlns:a16="http://schemas.microsoft.com/office/drawing/2014/main" id="{D8A5A290-7E52-2738-5596-22FE40170D38}"/>
              </a:ext>
            </a:extLst>
          </p:cNvPr>
          <p:cNvSpPr/>
          <p:nvPr/>
        </p:nvSpPr>
        <p:spPr>
          <a:xfrm>
            <a:off x="8791893" y="2633471"/>
            <a:ext cx="1371600" cy="73152"/>
          </a:xfrm>
          <a:prstGeom prst="roundRect">
            <a:avLst>
              <a:gd name="adj" fmla="val 16667"/>
            </a:avLst>
          </a:prstGeom>
          <a:solidFill>
            <a:srgbClr val="00C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2" name="TextBox 25">
            <a:extLst>
              <a:ext uri="{FF2B5EF4-FFF2-40B4-BE49-F238E27FC236}">
                <a16:creationId xmlns:a16="http://schemas.microsoft.com/office/drawing/2014/main" id="{26921839-9285-BCA3-9960-16FC1B2EF855}"/>
              </a:ext>
            </a:extLst>
          </p:cNvPr>
          <p:cNvSpPr txBox="1"/>
          <p:nvPr/>
        </p:nvSpPr>
        <p:spPr>
          <a:xfrm>
            <a:off x="6643053" y="278892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defRPr/>
            </a:pPr>
            <a:r>
              <a:rPr sz="1200" b="1">
                <a:solidFill>
                  <a:srgbClr val="00C853"/>
                </a:solidFill>
                <a:latin typeface="Segoe UI Symbol"/>
              </a:rPr>
              <a:t>✔</a:t>
            </a:r>
          </a:p>
        </p:txBody>
      </p:sp>
      <p:sp>
        <p:nvSpPr>
          <p:cNvPr id="33" name="TextBox 26">
            <a:extLst>
              <a:ext uri="{FF2B5EF4-FFF2-40B4-BE49-F238E27FC236}">
                <a16:creationId xmlns:a16="http://schemas.microsoft.com/office/drawing/2014/main" id="{DF6AC30C-DC87-982F-A570-0579EE7A1884}"/>
              </a:ext>
            </a:extLst>
          </p:cNvPr>
          <p:cNvSpPr txBox="1"/>
          <p:nvPr/>
        </p:nvSpPr>
        <p:spPr>
          <a:xfrm>
            <a:off x="6871653" y="2816352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defRPr/>
            </a:pPr>
            <a:r>
              <a:rPr sz="1000" b="1">
                <a:solidFill>
                  <a:srgbClr val="212529"/>
                </a:solidFill>
                <a:latin typeface="맑은 고딕"/>
              </a:rPr>
              <a:t>Unit Tests (GTest)</a:t>
            </a:r>
          </a:p>
        </p:txBody>
      </p:sp>
      <p:sp>
        <p:nvSpPr>
          <p:cNvPr id="34" name="Rounded Rectangle 27">
            <a:extLst>
              <a:ext uri="{FF2B5EF4-FFF2-40B4-BE49-F238E27FC236}">
                <a16:creationId xmlns:a16="http://schemas.microsoft.com/office/drawing/2014/main" id="{A819C0CE-BA39-D0D6-E9C7-97DD4C3D86DA}"/>
              </a:ext>
            </a:extLst>
          </p:cNvPr>
          <p:cNvSpPr/>
          <p:nvPr/>
        </p:nvSpPr>
        <p:spPr>
          <a:xfrm>
            <a:off x="8791893" y="2907791"/>
            <a:ext cx="1371600" cy="73152"/>
          </a:xfrm>
          <a:prstGeom prst="roundRect">
            <a:avLst>
              <a:gd name="adj" fmla="val 16667"/>
            </a:avLst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5" name="Rounded Rectangle 28">
            <a:extLst>
              <a:ext uri="{FF2B5EF4-FFF2-40B4-BE49-F238E27FC236}">
                <a16:creationId xmlns:a16="http://schemas.microsoft.com/office/drawing/2014/main" id="{0AB0A78A-9A72-6554-77B3-A17D19B95CD5}"/>
              </a:ext>
            </a:extLst>
          </p:cNvPr>
          <p:cNvSpPr/>
          <p:nvPr/>
        </p:nvSpPr>
        <p:spPr>
          <a:xfrm>
            <a:off x="8791893" y="2907791"/>
            <a:ext cx="1371600" cy="73152"/>
          </a:xfrm>
          <a:prstGeom prst="roundRect">
            <a:avLst>
              <a:gd name="adj" fmla="val 16667"/>
            </a:avLst>
          </a:prstGeom>
          <a:solidFill>
            <a:srgbClr val="00C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6" name="TextBox 29">
            <a:extLst>
              <a:ext uri="{FF2B5EF4-FFF2-40B4-BE49-F238E27FC236}">
                <a16:creationId xmlns:a16="http://schemas.microsoft.com/office/drawing/2014/main" id="{D2E7208B-CA15-D532-1458-6C6C86C57978}"/>
              </a:ext>
            </a:extLst>
          </p:cNvPr>
          <p:cNvSpPr txBox="1"/>
          <p:nvPr/>
        </p:nvSpPr>
        <p:spPr>
          <a:xfrm>
            <a:off x="6643053" y="306324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defRPr/>
            </a:pPr>
            <a:r>
              <a:rPr sz="1200" b="1">
                <a:solidFill>
                  <a:srgbClr val="00C853"/>
                </a:solidFill>
                <a:latin typeface="Segoe UI Symbol"/>
              </a:rPr>
              <a:t>✔</a:t>
            </a:r>
          </a:p>
        </p:txBody>
      </p:sp>
      <p:sp>
        <p:nvSpPr>
          <p:cNvPr id="37" name="TextBox 30">
            <a:extLst>
              <a:ext uri="{FF2B5EF4-FFF2-40B4-BE49-F238E27FC236}">
                <a16:creationId xmlns:a16="http://schemas.microsoft.com/office/drawing/2014/main" id="{0A8D2EED-653E-D5FF-7977-C4145AA8670F}"/>
              </a:ext>
            </a:extLst>
          </p:cNvPr>
          <p:cNvSpPr txBox="1"/>
          <p:nvPr/>
        </p:nvSpPr>
        <p:spPr>
          <a:xfrm>
            <a:off x="6871653" y="3090671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defRPr/>
            </a:pPr>
            <a:r>
              <a:rPr sz="1000" b="1">
                <a:solidFill>
                  <a:srgbClr val="212529"/>
                </a:solidFill>
                <a:latin typeface="맑은 고딕"/>
              </a:rPr>
              <a:t>Static Analysis (Cppcheck)</a:t>
            </a:r>
          </a:p>
        </p:txBody>
      </p:sp>
      <p:sp>
        <p:nvSpPr>
          <p:cNvPr id="38" name="Rounded Rectangle 31">
            <a:extLst>
              <a:ext uri="{FF2B5EF4-FFF2-40B4-BE49-F238E27FC236}">
                <a16:creationId xmlns:a16="http://schemas.microsoft.com/office/drawing/2014/main" id="{0DAD4908-273E-1FAB-9854-8485F4B9CE8F}"/>
              </a:ext>
            </a:extLst>
          </p:cNvPr>
          <p:cNvSpPr/>
          <p:nvPr/>
        </p:nvSpPr>
        <p:spPr>
          <a:xfrm>
            <a:off x="8791893" y="3182111"/>
            <a:ext cx="1371600" cy="73152"/>
          </a:xfrm>
          <a:prstGeom prst="roundRect">
            <a:avLst>
              <a:gd name="adj" fmla="val 16667"/>
            </a:avLst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9" name="Rounded Rectangle 32">
            <a:extLst>
              <a:ext uri="{FF2B5EF4-FFF2-40B4-BE49-F238E27FC236}">
                <a16:creationId xmlns:a16="http://schemas.microsoft.com/office/drawing/2014/main" id="{52AEE3A4-9D58-74BD-A4AC-80C988C4354F}"/>
              </a:ext>
            </a:extLst>
          </p:cNvPr>
          <p:cNvSpPr/>
          <p:nvPr/>
        </p:nvSpPr>
        <p:spPr>
          <a:xfrm>
            <a:off x="8791893" y="3182111"/>
            <a:ext cx="1371600" cy="73152"/>
          </a:xfrm>
          <a:prstGeom prst="roundRect">
            <a:avLst>
              <a:gd name="adj" fmla="val 16667"/>
            </a:avLst>
          </a:prstGeom>
          <a:solidFill>
            <a:srgbClr val="00C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0" name="TextBox 33">
            <a:extLst>
              <a:ext uri="{FF2B5EF4-FFF2-40B4-BE49-F238E27FC236}">
                <a16:creationId xmlns:a16="http://schemas.microsoft.com/office/drawing/2014/main" id="{3207C66E-70F5-BCC9-8EC9-E76F385BE68A}"/>
              </a:ext>
            </a:extLst>
          </p:cNvPr>
          <p:cNvSpPr txBox="1"/>
          <p:nvPr/>
        </p:nvSpPr>
        <p:spPr>
          <a:xfrm>
            <a:off x="6643053" y="3337559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defRPr/>
            </a:pPr>
            <a:r>
              <a:rPr sz="1200" b="1">
                <a:solidFill>
                  <a:srgbClr val="00C853"/>
                </a:solidFill>
                <a:latin typeface="Segoe UI Symbol"/>
              </a:rPr>
              <a:t>✔</a:t>
            </a:r>
          </a:p>
        </p:txBody>
      </p:sp>
      <p:sp>
        <p:nvSpPr>
          <p:cNvPr id="41" name="TextBox 34">
            <a:extLst>
              <a:ext uri="{FF2B5EF4-FFF2-40B4-BE49-F238E27FC236}">
                <a16:creationId xmlns:a16="http://schemas.microsoft.com/office/drawing/2014/main" id="{8D33F66C-21B8-6331-DD87-E6309C09F931}"/>
              </a:ext>
            </a:extLst>
          </p:cNvPr>
          <p:cNvSpPr txBox="1"/>
          <p:nvPr/>
        </p:nvSpPr>
        <p:spPr>
          <a:xfrm>
            <a:off x="6871653" y="3364991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defRPr/>
            </a:pPr>
            <a:r>
              <a:rPr sz="1000" b="1">
                <a:solidFill>
                  <a:srgbClr val="212529"/>
                </a:solidFill>
                <a:latin typeface="맑은 고딕"/>
              </a:rPr>
              <a:t>Code Complexity (Lizard)</a:t>
            </a:r>
          </a:p>
        </p:txBody>
      </p:sp>
      <p:sp>
        <p:nvSpPr>
          <p:cNvPr id="42" name="Rounded Rectangle 35">
            <a:extLst>
              <a:ext uri="{FF2B5EF4-FFF2-40B4-BE49-F238E27FC236}">
                <a16:creationId xmlns:a16="http://schemas.microsoft.com/office/drawing/2014/main" id="{1EEDEDB6-A3E3-D41B-4F56-A15BE7768455}"/>
              </a:ext>
            </a:extLst>
          </p:cNvPr>
          <p:cNvSpPr/>
          <p:nvPr/>
        </p:nvSpPr>
        <p:spPr>
          <a:xfrm>
            <a:off x="8791893" y="3456431"/>
            <a:ext cx="1371600" cy="73152"/>
          </a:xfrm>
          <a:prstGeom prst="roundRect">
            <a:avLst>
              <a:gd name="adj" fmla="val 16667"/>
            </a:avLst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3" name="Rounded Rectangle 36">
            <a:extLst>
              <a:ext uri="{FF2B5EF4-FFF2-40B4-BE49-F238E27FC236}">
                <a16:creationId xmlns:a16="http://schemas.microsoft.com/office/drawing/2014/main" id="{AF428F41-3A54-0159-80E4-959E805D1C1B}"/>
              </a:ext>
            </a:extLst>
          </p:cNvPr>
          <p:cNvSpPr/>
          <p:nvPr/>
        </p:nvSpPr>
        <p:spPr>
          <a:xfrm>
            <a:off x="8791893" y="3456431"/>
            <a:ext cx="1371600" cy="73152"/>
          </a:xfrm>
          <a:prstGeom prst="roundRect">
            <a:avLst>
              <a:gd name="adj" fmla="val 16667"/>
            </a:avLst>
          </a:prstGeom>
          <a:solidFill>
            <a:srgbClr val="00C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4" name="Rounded Rectangle 37">
            <a:extLst>
              <a:ext uri="{FF2B5EF4-FFF2-40B4-BE49-F238E27FC236}">
                <a16:creationId xmlns:a16="http://schemas.microsoft.com/office/drawing/2014/main" id="{E299507E-581F-0BF8-F17C-1E85386A7A77}"/>
              </a:ext>
            </a:extLst>
          </p:cNvPr>
          <p:cNvSpPr/>
          <p:nvPr/>
        </p:nvSpPr>
        <p:spPr>
          <a:xfrm>
            <a:off x="6505893" y="4023360"/>
            <a:ext cx="5303520" cy="17373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5" name="TextBox 38">
            <a:extLst>
              <a:ext uri="{FF2B5EF4-FFF2-40B4-BE49-F238E27FC236}">
                <a16:creationId xmlns:a16="http://schemas.microsoft.com/office/drawing/2014/main" id="{3B8B7DE7-F7B6-6B47-4566-2D95FD0C9EEE}"/>
              </a:ext>
            </a:extLst>
          </p:cNvPr>
          <p:cNvSpPr txBox="1"/>
          <p:nvPr/>
        </p:nvSpPr>
        <p:spPr>
          <a:xfrm>
            <a:off x="6597333" y="4114800"/>
            <a:ext cx="5303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defRPr/>
            </a:pPr>
            <a:r>
              <a:rPr sz="1100" b="1">
                <a:solidFill>
                  <a:srgbClr val="212529"/>
                </a:solidFill>
                <a:latin typeface="맑은 고딕"/>
              </a:rPr>
              <a:t>Branch Network Graph</a:t>
            </a:r>
          </a:p>
        </p:txBody>
      </p:sp>
      <p:sp>
        <p:nvSpPr>
          <p:cNvPr id="46" name="Rectangle 39">
            <a:extLst>
              <a:ext uri="{FF2B5EF4-FFF2-40B4-BE49-F238E27FC236}">
                <a16:creationId xmlns:a16="http://schemas.microsoft.com/office/drawing/2014/main" id="{5ADD1EE5-C9E3-3977-0181-C9CDD9F0CB28}"/>
              </a:ext>
            </a:extLst>
          </p:cNvPr>
          <p:cNvSpPr/>
          <p:nvPr/>
        </p:nvSpPr>
        <p:spPr>
          <a:xfrm>
            <a:off x="6780213" y="4937760"/>
            <a:ext cx="4572000" cy="45720"/>
          </a:xfrm>
          <a:prstGeom prst="rect">
            <a:avLst/>
          </a:prstGeom>
          <a:solidFill>
            <a:srgbClr val="001F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7" name="TextBox 40">
            <a:extLst>
              <a:ext uri="{FF2B5EF4-FFF2-40B4-BE49-F238E27FC236}">
                <a16:creationId xmlns:a16="http://schemas.microsoft.com/office/drawing/2014/main" id="{6D0E4763-A868-13F1-82A4-3000D9BAF88D}"/>
              </a:ext>
            </a:extLst>
          </p:cNvPr>
          <p:cNvSpPr txBox="1"/>
          <p:nvPr/>
        </p:nvSpPr>
        <p:spPr>
          <a:xfrm>
            <a:off x="6780213" y="4663440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defRPr/>
            </a:pPr>
            <a:r>
              <a:rPr sz="900" b="1">
                <a:solidFill>
                  <a:srgbClr val="001F54"/>
                </a:solidFill>
                <a:latin typeface="맑은 고딕"/>
              </a:rPr>
              <a:t>main</a:t>
            </a:r>
          </a:p>
        </p:txBody>
      </p:sp>
      <p:sp>
        <p:nvSpPr>
          <p:cNvPr id="48" name="Rectangle 41">
            <a:extLst>
              <a:ext uri="{FF2B5EF4-FFF2-40B4-BE49-F238E27FC236}">
                <a16:creationId xmlns:a16="http://schemas.microsoft.com/office/drawing/2014/main" id="{285B6816-9C3B-24CA-1B95-989FA4E46C31}"/>
              </a:ext>
            </a:extLst>
          </p:cNvPr>
          <p:cNvSpPr/>
          <p:nvPr/>
        </p:nvSpPr>
        <p:spPr>
          <a:xfrm>
            <a:off x="7237413" y="4480560"/>
            <a:ext cx="1554480" cy="36576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9" name="Rectangle 42">
            <a:extLst>
              <a:ext uri="{FF2B5EF4-FFF2-40B4-BE49-F238E27FC236}">
                <a16:creationId xmlns:a16="http://schemas.microsoft.com/office/drawing/2014/main" id="{76180379-77DE-CB86-4AA7-7E4C43ED4AF7}"/>
              </a:ext>
            </a:extLst>
          </p:cNvPr>
          <p:cNvSpPr/>
          <p:nvPr/>
        </p:nvSpPr>
        <p:spPr>
          <a:xfrm>
            <a:off x="8791893" y="4480560"/>
            <a:ext cx="36576" cy="45720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0" name="TextBox 43">
            <a:extLst>
              <a:ext uri="{FF2B5EF4-FFF2-40B4-BE49-F238E27FC236}">
                <a16:creationId xmlns:a16="http://schemas.microsoft.com/office/drawing/2014/main" id="{32DC53CE-0707-E4C5-9278-FEC9005B02DE}"/>
              </a:ext>
            </a:extLst>
          </p:cNvPr>
          <p:cNvSpPr txBox="1"/>
          <p:nvPr/>
        </p:nvSpPr>
        <p:spPr>
          <a:xfrm>
            <a:off x="7237413" y="4251960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defRPr/>
            </a:pPr>
            <a:r>
              <a:rPr sz="900" b="1">
                <a:solidFill>
                  <a:srgbClr val="FF8C00"/>
                </a:solidFill>
                <a:latin typeface="맑은 고딕"/>
              </a:rPr>
              <a:t>feat/rear-radar</a:t>
            </a:r>
          </a:p>
        </p:txBody>
      </p:sp>
      <p:sp>
        <p:nvSpPr>
          <p:cNvPr id="51" name="Rectangle 44">
            <a:extLst>
              <a:ext uri="{FF2B5EF4-FFF2-40B4-BE49-F238E27FC236}">
                <a16:creationId xmlns:a16="http://schemas.microsoft.com/office/drawing/2014/main" id="{0CE4027D-967E-6E98-A413-8354467603E8}"/>
              </a:ext>
            </a:extLst>
          </p:cNvPr>
          <p:cNvSpPr/>
          <p:nvPr/>
        </p:nvSpPr>
        <p:spPr>
          <a:xfrm>
            <a:off x="7877493" y="5394960"/>
            <a:ext cx="1371600" cy="36576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2" name="Rectangle 45">
            <a:extLst>
              <a:ext uri="{FF2B5EF4-FFF2-40B4-BE49-F238E27FC236}">
                <a16:creationId xmlns:a16="http://schemas.microsoft.com/office/drawing/2014/main" id="{93C54905-97EF-7B2D-9CC1-CD97CEF4F3A3}"/>
              </a:ext>
            </a:extLst>
          </p:cNvPr>
          <p:cNvSpPr/>
          <p:nvPr/>
        </p:nvSpPr>
        <p:spPr>
          <a:xfrm>
            <a:off x="9249093" y="4937760"/>
            <a:ext cx="36576" cy="4572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3" name="TextBox 46">
            <a:extLst>
              <a:ext uri="{FF2B5EF4-FFF2-40B4-BE49-F238E27FC236}">
                <a16:creationId xmlns:a16="http://schemas.microsoft.com/office/drawing/2014/main" id="{645F09EF-AB43-8C1A-F2A5-DFAA980C4955}"/>
              </a:ext>
            </a:extLst>
          </p:cNvPr>
          <p:cNvSpPr txBox="1"/>
          <p:nvPr/>
        </p:nvSpPr>
        <p:spPr>
          <a:xfrm>
            <a:off x="7877493" y="5440680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defRPr/>
            </a:pPr>
            <a:r>
              <a:rPr sz="900" b="1">
                <a:solidFill>
                  <a:srgbClr val="00BCD4"/>
                </a:solidFill>
                <a:latin typeface="맑은 고딕"/>
              </a:rPr>
              <a:t>fix/crash-logic</a:t>
            </a:r>
          </a:p>
        </p:txBody>
      </p:sp>
      <p:sp>
        <p:nvSpPr>
          <p:cNvPr id="54" name="Oval 47">
            <a:extLst>
              <a:ext uri="{FF2B5EF4-FFF2-40B4-BE49-F238E27FC236}">
                <a16:creationId xmlns:a16="http://schemas.microsoft.com/office/drawing/2014/main" id="{5A934D20-F308-F09D-C3ED-619B8D412C2C}"/>
              </a:ext>
            </a:extLst>
          </p:cNvPr>
          <p:cNvSpPr/>
          <p:nvPr/>
        </p:nvSpPr>
        <p:spPr>
          <a:xfrm>
            <a:off x="7164261" y="4887468"/>
            <a:ext cx="146304" cy="14630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1F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5" name="Oval 48">
            <a:extLst>
              <a:ext uri="{FF2B5EF4-FFF2-40B4-BE49-F238E27FC236}">
                <a16:creationId xmlns:a16="http://schemas.microsoft.com/office/drawing/2014/main" id="{4DA335B5-9655-7134-70C0-56A959489BB7}"/>
              </a:ext>
            </a:extLst>
          </p:cNvPr>
          <p:cNvSpPr/>
          <p:nvPr/>
        </p:nvSpPr>
        <p:spPr>
          <a:xfrm>
            <a:off x="7804341" y="4887468"/>
            <a:ext cx="146304" cy="14630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1F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6" name="Oval 49">
            <a:extLst>
              <a:ext uri="{FF2B5EF4-FFF2-40B4-BE49-F238E27FC236}">
                <a16:creationId xmlns:a16="http://schemas.microsoft.com/office/drawing/2014/main" id="{A691656D-1550-0412-B965-D1AAE30D9B05}"/>
              </a:ext>
            </a:extLst>
          </p:cNvPr>
          <p:cNvSpPr/>
          <p:nvPr/>
        </p:nvSpPr>
        <p:spPr>
          <a:xfrm>
            <a:off x="8718741" y="4887468"/>
            <a:ext cx="146304" cy="14630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1F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7" name="Oval 50">
            <a:extLst>
              <a:ext uri="{FF2B5EF4-FFF2-40B4-BE49-F238E27FC236}">
                <a16:creationId xmlns:a16="http://schemas.microsoft.com/office/drawing/2014/main" id="{03DD9C58-E14D-D8CC-E9B1-39D338ECA2A7}"/>
              </a:ext>
            </a:extLst>
          </p:cNvPr>
          <p:cNvSpPr/>
          <p:nvPr/>
        </p:nvSpPr>
        <p:spPr>
          <a:xfrm>
            <a:off x="8700453" y="4869180"/>
            <a:ext cx="182880" cy="18288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8" name="Oval 51">
            <a:extLst>
              <a:ext uri="{FF2B5EF4-FFF2-40B4-BE49-F238E27FC236}">
                <a16:creationId xmlns:a16="http://schemas.microsoft.com/office/drawing/2014/main" id="{CBC781FE-75B5-ADBB-1753-B505C9419FD8}"/>
              </a:ext>
            </a:extLst>
          </p:cNvPr>
          <p:cNvSpPr/>
          <p:nvPr/>
        </p:nvSpPr>
        <p:spPr>
          <a:xfrm>
            <a:off x="9175941" y="4887468"/>
            <a:ext cx="146304" cy="14630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1F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9" name="Oval 52">
            <a:extLst>
              <a:ext uri="{FF2B5EF4-FFF2-40B4-BE49-F238E27FC236}">
                <a16:creationId xmlns:a16="http://schemas.microsoft.com/office/drawing/2014/main" id="{63F67796-9F95-9E1E-E74B-48B1EB8C62D9}"/>
              </a:ext>
            </a:extLst>
          </p:cNvPr>
          <p:cNvSpPr/>
          <p:nvPr/>
        </p:nvSpPr>
        <p:spPr>
          <a:xfrm>
            <a:off x="9157653" y="4869180"/>
            <a:ext cx="182880" cy="182880"/>
          </a:xfrm>
          <a:prstGeom prst="ellipse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0" name="Oval 53">
            <a:extLst>
              <a:ext uri="{FF2B5EF4-FFF2-40B4-BE49-F238E27FC236}">
                <a16:creationId xmlns:a16="http://schemas.microsoft.com/office/drawing/2014/main" id="{A6249D87-DCAD-D01B-F262-BF502F71E625}"/>
              </a:ext>
            </a:extLst>
          </p:cNvPr>
          <p:cNvSpPr/>
          <p:nvPr/>
        </p:nvSpPr>
        <p:spPr>
          <a:xfrm>
            <a:off x="9907461" y="4887468"/>
            <a:ext cx="146304" cy="14630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1F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1" name="Oval 54">
            <a:extLst>
              <a:ext uri="{FF2B5EF4-FFF2-40B4-BE49-F238E27FC236}">
                <a16:creationId xmlns:a16="http://schemas.microsoft.com/office/drawing/2014/main" id="{8B407A24-FA89-2C40-1C1D-82E7D1D1B49D}"/>
              </a:ext>
            </a:extLst>
          </p:cNvPr>
          <p:cNvSpPr/>
          <p:nvPr/>
        </p:nvSpPr>
        <p:spPr>
          <a:xfrm>
            <a:off x="10547541" y="4887468"/>
            <a:ext cx="146304" cy="14630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1F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2" name="Rounded Rectangle 55">
            <a:extLst>
              <a:ext uri="{FF2B5EF4-FFF2-40B4-BE49-F238E27FC236}">
                <a16:creationId xmlns:a16="http://schemas.microsoft.com/office/drawing/2014/main" id="{F6FDCCF2-61E1-920D-453D-9198CF8B65A4}"/>
              </a:ext>
            </a:extLst>
          </p:cNvPr>
          <p:cNvSpPr/>
          <p:nvPr/>
        </p:nvSpPr>
        <p:spPr>
          <a:xfrm>
            <a:off x="10300653" y="4617720"/>
            <a:ext cx="640080" cy="201168"/>
          </a:xfrm>
          <a:prstGeom prst="roundRect">
            <a:avLst>
              <a:gd name="adj" fmla="val 16667"/>
            </a:avLst>
          </a:prstGeom>
          <a:solidFill>
            <a:srgbClr val="00C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3" name="TextBox 56">
            <a:extLst>
              <a:ext uri="{FF2B5EF4-FFF2-40B4-BE49-F238E27FC236}">
                <a16:creationId xmlns:a16="http://schemas.microsoft.com/office/drawing/2014/main" id="{6B46E5DB-0C4B-757B-AC14-F0D13E2B9C56}"/>
              </a:ext>
            </a:extLst>
          </p:cNvPr>
          <p:cNvSpPr txBox="1"/>
          <p:nvPr/>
        </p:nvSpPr>
        <p:spPr>
          <a:xfrm>
            <a:off x="10189322" y="4629682"/>
            <a:ext cx="862742" cy="2084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sz="800" b="1">
                <a:solidFill>
                  <a:srgbClr val="FFFFFF"/>
                </a:solidFill>
                <a:latin typeface="맑은 고딕"/>
              </a:rPr>
              <a:t>Merge PR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defRPr sz="2400" b="1">
                <a:solidFill>
                  <a:srgbClr val="FFFFFF"/>
                </a:solidFill>
              </a:defRPr>
            </a:pPr>
            <a:r>
              <a:rPr lang="ko-KR" altLang="en-US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06. 테스트 &amp; 검증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31520"/>
            <a:ext cx="12188952" cy="45720"/>
          </a:xfrm>
          <a:prstGeom prst="rect">
            <a:avLst/>
          </a:prstGeom>
          <a:solidFill>
            <a:srgbClr val="FF6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" name="Rounded Rectangle 4"/>
          <p:cNvSpPr/>
          <p:nvPr/>
        </p:nvSpPr>
        <p:spPr>
          <a:xfrm>
            <a:off x="338328" y="1188720"/>
            <a:ext cx="7132320" cy="50292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0066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" name="TextBox 5"/>
          <p:cNvSpPr txBox="1"/>
          <p:nvPr/>
        </p:nvSpPr>
        <p:spPr>
          <a:xfrm>
            <a:off x="457200" y="1242691"/>
            <a:ext cx="676656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 sz="1600" b="1">
                <a:solidFill>
                  <a:srgbClr val="003366"/>
                </a:solidFill>
              </a:defRPr>
            </a:pPr>
            <a:r>
              <a:rPr lang="ko-KR" altLang="en-US" dirty="0"/>
              <a:t>   </a:t>
            </a:r>
            <a:r>
              <a:rPr lang="ko-KR" altLang="en-US" sz="20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테스트 케이스 및 결과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808554" y="1188148"/>
            <a:ext cx="4114800" cy="5029200"/>
          </a:xfrm>
          <a:prstGeom prst="roundRect">
            <a:avLst>
              <a:gd name="adj" fmla="val 16667"/>
            </a:avLst>
          </a:prstGeom>
          <a:solidFill>
            <a:srgbClr val="F0F8FF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5" name="Rectangle 64"/>
          <p:cNvSpPr/>
          <p:nvPr/>
        </p:nvSpPr>
        <p:spPr>
          <a:xfrm>
            <a:off x="861822" y="1670495"/>
            <a:ext cx="868680" cy="329184"/>
          </a:xfrm>
          <a:prstGeom prst="rect">
            <a:avLst/>
          </a:prstGeom>
          <a:solidFill>
            <a:srgbClr val="0035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66" name="TextBox 65"/>
          <p:cNvSpPr txBox="1"/>
          <p:nvPr/>
        </p:nvSpPr>
        <p:spPr>
          <a:xfrm>
            <a:off x="889254" y="1734503"/>
            <a:ext cx="813815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1" dirty="0">
                <a:solidFill>
                  <a:srgbClr val="FFFFFF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Test ID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730502" y="1670495"/>
            <a:ext cx="384048" cy="329184"/>
          </a:xfrm>
          <a:prstGeom prst="rect">
            <a:avLst/>
          </a:prstGeom>
          <a:solidFill>
            <a:srgbClr val="0035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68" name="TextBox 67"/>
          <p:cNvSpPr txBox="1"/>
          <p:nvPr/>
        </p:nvSpPr>
        <p:spPr>
          <a:xfrm>
            <a:off x="1559268" y="1728011"/>
            <a:ext cx="711420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1" dirty="0">
                <a:solidFill>
                  <a:srgbClr val="FFFFFF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UC</a:t>
            </a:r>
          </a:p>
        </p:txBody>
      </p:sp>
      <p:sp>
        <p:nvSpPr>
          <p:cNvPr id="69" name="Rectangle 68"/>
          <p:cNvSpPr/>
          <p:nvPr/>
        </p:nvSpPr>
        <p:spPr>
          <a:xfrm>
            <a:off x="2114550" y="1670495"/>
            <a:ext cx="3703320" cy="329184"/>
          </a:xfrm>
          <a:prstGeom prst="rect">
            <a:avLst/>
          </a:prstGeom>
          <a:solidFill>
            <a:srgbClr val="0035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70" name="TextBox 69"/>
          <p:cNvSpPr txBox="1"/>
          <p:nvPr/>
        </p:nvSpPr>
        <p:spPr>
          <a:xfrm>
            <a:off x="2141982" y="1734503"/>
            <a:ext cx="3648456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1">
                <a:solidFill>
                  <a:srgbClr val="FFFFFF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테스트 항목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817870" y="1670495"/>
            <a:ext cx="502920" cy="329184"/>
          </a:xfrm>
          <a:prstGeom prst="rect">
            <a:avLst/>
          </a:prstGeom>
          <a:solidFill>
            <a:srgbClr val="0035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5845302" y="1734503"/>
            <a:ext cx="448056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1">
                <a:solidFill>
                  <a:srgbClr val="FFFFFF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기법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320790" y="1670495"/>
            <a:ext cx="658368" cy="329184"/>
          </a:xfrm>
          <a:prstGeom prst="rect">
            <a:avLst/>
          </a:prstGeom>
          <a:solidFill>
            <a:srgbClr val="0035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74" name="TextBox 73"/>
          <p:cNvSpPr txBox="1"/>
          <p:nvPr/>
        </p:nvSpPr>
        <p:spPr>
          <a:xfrm>
            <a:off x="6348222" y="1734503"/>
            <a:ext cx="603503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1">
                <a:solidFill>
                  <a:srgbClr val="FFFFFF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ASIL</a:t>
            </a:r>
          </a:p>
        </p:txBody>
      </p:sp>
      <p:sp>
        <p:nvSpPr>
          <p:cNvPr id="75" name="Rectangle 74"/>
          <p:cNvSpPr/>
          <p:nvPr/>
        </p:nvSpPr>
        <p:spPr>
          <a:xfrm>
            <a:off x="861822" y="1999679"/>
            <a:ext cx="868680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76" name="TextBox 75"/>
          <p:cNvSpPr txBox="1"/>
          <p:nvPr/>
        </p:nvSpPr>
        <p:spPr>
          <a:xfrm>
            <a:off x="889254" y="2036255"/>
            <a:ext cx="813815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TC-001</a:t>
            </a:r>
          </a:p>
        </p:txBody>
      </p:sp>
      <p:sp>
        <p:nvSpPr>
          <p:cNvPr id="77" name="Rectangle 76"/>
          <p:cNvSpPr/>
          <p:nvPr/>
        </p:nvSpPr>
        <p:spPr>
          <a:xfrm>
            <a:off x="1730502" y="1999679"/>
            <a:ext cx="384048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78" name="TextBox 77"/>
          <p:cNvSpPr txBox="1"/>
          <p:nvPr/>
        </p:nvSpPr>
        <p:spPr>
          <a:xfrm>
            <a:off x="1666292" y="2036255"/>
            <a:ext cx="496062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UC-1</a:t>
            </a:r>
          </a:p>
        </p:txBody>
      </p:sp>
      <p:sp>
        <p:nvSpPr>
          <p:cNvPr id="79" name="Rectangle 78"/>
          <p:cNvSpPr/>
          <p:nvPr/>
        </p:nvSpPr>
        <p:spPr>
          <a:xfrm>
            <a:off x="2114550" y="1999679"/>
            <a:ext cx="3703320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2141982" y="2036255"/>
            <a:ext cx="3648456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정차 중 수동 스위치 제어 정상 동작</a:t>
            </a:r>
          </a:p>
        </p:txBody>
      </p:sp>
      <p:sp>
        <p:nvSpPr>
          <p:cNvPr id="81" name="Rectangle 80"/>
          <p:cNvSpPr/>
          <p:nvPr/>
        </p:nvSpPr>
        <p:spPr>
          <a:xfrm>
            <a:off x="5817870" y="1999679"/>
            <a:ext cx="502920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82" name="TextBox 81"/>
          <p:cNvSpPr txBox="1"/>
          <p:nvPr/>
        </p:nvSpPr>
        <p:spPr>
          <a:xfrm>
            <a:off x="5845302" y="2036255"/>
            <a:ext cx="448056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EP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20790" y="1999679"/>
            <a:ext cx="658368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84" name="TextBox 83"/>
          <p:cNvSpPr txBox="1"/>
          <p:nvPr/>
        </p:nvSpPr>
        <p:spPr>
          <a:xfrm>
            <a:off x="6348222" y="2036255"/>
            <a:ext cx="603503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QM</a:t>
            </a:r>
          </a:p>
        </p:txBody>
      </p:sp>
      <p:sp>
        <p:nvSpPr>
          <p:cNvPr id="85" name="Rectangle 84"/>
          <p:cNvSpPr/>
          <p:nvPr/>
        </p:nvSpPr>
        <p:spPr>
          <a:xfrm>
            <a:off x="861822" y="2260283"/>
            <a:ext cx="868680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86" name="TextBox 85"/>
          <p:cNvSpPr txBox="1"/>
          <p:nvPr/>
        </p:nvSpPr>
        <p:spPr>
          <a:xfrm>
            <a:off x="889254" y="2296859"/>
            <a:ext cx="813815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TC-002</a:t>
            </a:r>
          </a:p>
        </p:txBody>
      </p:sp>
      <p:sp>
        <p:nvSpPr>
          <p:cNvPr id="87" name="Rectangle 86"/>
          <p:cNvSpPr/>
          <p:nvPr/>
        </p:nvSpPr>
        <p:spPr>
          <a:xfrm>
            <a:off x="1730502" y="2260283"/>
            <a:ext cx="384048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1671934" y="2297020"/>
            <a:ext cx="475488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UC-</a:t>
            </a:r>
            <a:r>
              <a:rPr lang="en-US" altLang="ko-KR" sz="88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1</a:t>
            </a:r>
            <a:endParaRPr sz="880" b="0" dirty="0">
              <a:solidFill>
                <a:srgbClr val="1A1A2E"/>
              </a:solidFill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89" name="Rectangle 88"/>
          <p:cNvSpPr/>
          <p:nvPr/>
        </p:nvSpPr>
        <p:spPr>
          <a:xfrm>
            <a:off x="2114550" y="2260283"/>
            <a:ext cx="3703320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2270688" y="2296859"/>
            <a:ext cx="3519750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스위치 채터링 디바운싱 - 49ms (Off-limit)</a:t>
            </a:r>
          </a:p>
        </p:txBody>
      </p:sp>
      <p:sp>
        <p:nvSpPr>
          <p:cNvPr id="91" name="Rectangle 90"/>
          <p:cNvSpPr/>
          <p:nvPr/>
        </p:nvSpPr>
        <p:spPr>
          <a:xfrm>
            <a:off x="5817870" y="2260283"/>
            <a:ext cx="502920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92" name="TextBox 91"/>
          <p:cNvSpPr txBox="1"/>
          <p:nvPr/>
        </p:nvSpPr>
        <p:spPr>
          <a:xfrm>
            <a:off x="5845302" y="2296859"/>
            <a:ext cx="448056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BVA</a:t>
            </a:r>
          </a:p>
        </p:txBody>
      </p:sp>
      <p:sp>
        <p:nvSpPr>
          <p:cNvPr id="93" name="Rectangle 92"/>
          <p:cNvSpPr/>
          <p:nvPr/>
        </p:nvSpPr>
        <p:spPr>
          <a:xfrm>
            <a:off x="6320790" y="2260283"/>
            <a:ext cx="658368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94" name="TextBox 93"/>
          <p:cNvSpPr txBox="1"/>
          <p:nvPr/>
        </p:nvSpPr>
        <p:spPr>
          <a:xfrm>
            <a:off x="6348222" y="2296859"/>
            <a:ext cx="603503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QM</a:t>
            </a:r>
          </a:p>
        </p:txBody>
      </p:sp>
      <p:sp>
        <p:nvSpPr>
          <p:cNvPr id="95" name="Rectangle 94"/>
          <p:cNvSpPr/>
          <p:nvPr/>
        </p:nvSpPr>
        <p:spPr>
          <a:xfrm>
            <a:off x="861822" y="2520887"/>
            <a:ext cx="868680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889254" y="2557463"/>
            <a:ext cx="813815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TC-003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730502" y="2520887"/>
            <a:ext cx="384048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98" name="TextBox 97"/>
          <p:cNvSpPr txBox="1"/>
          <p:nvPr/>
        </p:nvSpPr>
        <p:spPr>
          <a:xfrm>
            <a:off x="1665473" y="2547172"/>
            <a:ext cx="475488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UC-1</a:t>
            </a:r>
          </a:p>
        </p:txBody>
      </p:sp>
      <p:sp>
        <p:nvSpPr>
          <p:cNvPr id="99" name="Rectangle 98"/>
          <p:cNvSpPr/>
          <p:nvPr/>
        </p:nvSpPr>
        <p:spPr>
          <a:xfrm>
            <a:off x="2114550" y="2520887"/>
            <a:ext cx="3703320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100" name="TextBox 99"/>
          <p:cNvSpPr txBox="1"/>
          <p:nvPr/>
        </p:nvSpPr>
        <p:spPr>
          <a:xfrm>
            <a:off x="2141982" y="2557463"/>
            <a:ext cx="3648456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스위치</a:t>
            </a:r>
            <a:r>
              <a:rPr sz="88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88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채터링</a:t>
            </a:r>
            <a:r>
              <a:rPr sz="88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88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디바운싱</a:t>
            </a:r>
            <a:r>
              <a:rPr sz="88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- 50ms (On-limit)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5817870" y="2520887"/>
            <a:ext cx="502920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102" name="TextBox 101"/>
          <p:cNvSpPr txBox="1"/>
          <p:nvPr/>
        </p:nvSpPr>
        <p:spPr>
          <a:xfrm>
            <a:off x="5845302" y="2557463"/>
            <a:ext cx="448056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BVA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6320790" y="2520887"/>
            <a:ext cx="658368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104" name="TextBox 103"/>
          <p:cNvSpPr txBox="1"/>
          <p:nvPr/>
        </p:nvSpPr>
        <p:spPr>
          <a:xfrm>
            <a:off x="6348222" y="2557463"/>
            <a:ext cx="603503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QM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861822" y="2781491"/>
            <a:ext cx="868680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106" name="TextBox 105"/>
          <p:cNvSpPr txBox="1"/>
          <p:nvPr/>
        </p:nvSpPr>
        <p:spPr>
          <a:xfrm>
            <a:off x="889254" y="2818067"/>
            <a:ext cx="813815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TC-004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1730502" y="2781491"/>
            <a:ext cx="384048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108" name="TextBox 107"/>
          <p:cNvSpPr txBox="1"/>
          <p:nvPr/>
        </p:nvSpPr>
        <p:spPr>
          <a:xfrm>
            <a:off x="1676635" y="2807775"/>
            <a:ext cx="475488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UC-1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2114550" y="2781491"/>
            <a:ext cx="3703320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110" name="TextBox 109"/>
          <p:cNvSpPr txBox="1"/>
          <p:nvPr/>
        </p:nvSpPr>
        <p:spPr>
          <a:xfrm>
            <a:off x="2141982" y="2818067"/>
            <a:ext cx="3648456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주행 중 해제 차단 - 3.0km/h (On-limit)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817870" y="2781491"/>
            <a:ext cx="502920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112" name="TextBox 111"/>
          <p:cNvSpPr txBox="1"/>
          <p:nvPr/>
        </p:nvSpPr>
        <p:spPr>
          <a:xfrm>
            <a:off x="5845302" y="2818067"/>
            <a:ext cx="448056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BVA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6320790" y="2781491"/>
            <a:ext cx="658368" cy="260603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114" name="TextBox 113"/>
          <p:cNvSpPr txBox="1"/>
          <p:nvPr/>
        </p:nvSpPr>
        <p:spPr>
          <a:xfrm>
            <a:off x="6348222" y="2818067"/>
            <a:ext cx="603503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1">
                <a:solidFill>
                  <a:srgbClr val="FFFFFF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ASIL B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861822" y="3042095"/>
            <a:ext cx="868680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116" name="TextBox 115"/>
          <p:cNvSpPr txBox="1"/>
          <p:nvPr/>
        </p:nvSpPr>
        <p:spPr>
          <a:xfrm>
            <a:off x="889254" y="3078671"/>
            <a:ext cx="813815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TC-005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1730502" y="3042095"/>
            <a:ext cx="384048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118" name="TextBox 117"/>
          <p:cNvSpPr txBox="1"/>
          <p:nvPr/>
        </p:nvSpPr>
        <p:spPr>
          <a:xfrm>
            <a:off x="1670936" y="3063670"/>
            <a:ext cx="475488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UC-1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2114550" y="3042095"/>
            <a:ext cx="3703320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120" name="TextBox 119"/>
          <p:cNvSpPr txBox="1"/>
          <p:nvPr/>
        </p:nvSpPr>
        <p:spPr>
          <a:xfrm>
            <a:off x="2141982" y="3078671"/>
            <a:ext cx="3648456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주행 중 해제 허용 - 2.9km/h (Off-limit)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5817870" y="3042095"/>
            <a:ext cx="502920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122" name="TextBox 121"/>
          <p:cNvSpPr txBox="1"/>
          <p:nvPr/>
        </p:nvSpPr>
        <p:spPr>
          <a:xfrm>
            <a:off x="5845302" y="3078671"/>
            <a:ext cx="448056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BVA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6320790" y="3042095"/>
            <a:ext cx="658368" cy="260603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124" name="TextBox 123"/>
          <p:cNvSpPr txBox="1"/>
          <p:nvPr/>
        </p:nvSpPr>
        <p:spPr>
          <a:xfrm>
            <a:off x="6348222" y="3078671"/>
            <a:ext cx="603503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1">
                <a:solidFill>
                  <a:srgbClr val="FFFFFF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ASIL B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861822" y="3302699"/>
            <a:ext cx="868680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126" name="TextBox 125"/>
          <p:cNvSpPr txBox="1"/>
          <p:nvPr/>
        </p:nvSpPr>
        <p:spPr>
          <a:xfrm>
            <a:off x="889254" y="3339275"/>
            <a:ext cx="813815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TC-006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1730502" y="3302699"/>
            <a:ext cx="384048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128" name="TextBox 127"/>
          <p:cNvSpPr txBox="1"/>
          <p:nvPr/>
        </p:nvSpPr>
        <p:spPr>
          <a:xfrm>
            <a:off x="1677234" y="3332679"/>
            <a:ext cx="475488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UC-1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2114550" y="3302699"/>
            <a:ext cx="3703320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130" name="TextBox 129"/>
          <p:cNvSpPr txBox="1"/>
          <p:nvPr/>
        </p:nvSpPr>
        <p:spPr>
          <a:xfrm>
            <a:off x="2141982" y="3339275"/>
            <a:ext cx="3648456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ECU 통신 단절 재전송 및 Fail-Safe 안전상태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5817870" y="3302699"/>
            <a:ext cx="502920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132" name="TextBox 131"/>
          <p:cNvSpPr txBox="1"/>
          <p:nvPr/>
        </p:nvSpPr>
        <p:spPr>
          <a:xfrm>
            <a:off x="5845302" y="3339275"/>
            <a:ext cx="448056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FI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6320790" y="3302699"/>
            <a:ext cx="658368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134" name="TextBox 133"/>
          <p:cNvSpPr txBox="1"/>
          <p:nvPr/>
        </p:nvSpPr>
        <p:spPr>
          <a:xfrm>
            <a:off x="6348222" y="3339275"/>
            <a:ext cx="603503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QM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861822" y="3563303"/>
            <a:ext cx="868680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136" name="TextBox 135"/>
          <p:cNvSpPr txBox="1"/>
          <p:nvPr/>
        </p:nvSpPr>
        <p:spPr>
          <a:xfrm>
            <a:off x="889254" y="3599879"/>
            <a:ext cx="813815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TC-007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1730502" y="3563303"/>
            <a:ext cx="384048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138" name="TextBox 137"/>
          <p:cNvSpPr txBox="1"/>
          <p:nvPr/>
        </p:nvSpPr>
        <p:spPr>
          <a:xfrm>
            <a:off x="1665473" y="3599879"/>
            <a:ext cx="475488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UC-2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2114550" y="3563303"/>
            <a:ext cx="3703320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2141982" y="3599879"/>
            <a:ext cx="3648456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속도 초과 자동잠금 미동작 - 14.9km/h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5817870" y="3563303"/>
            <a:ext cx="502920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142" name="TextBox 141"/>
          <p:cNvSpPr txBox="1"/>
          <p:nvPr/>
        </p:nvSpPr>
        <p:spPr>
          <a:xfrm>
            <a:off x="5845302" y="3599879"/>
            <a:ext cx="448056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BVA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6320790" y="3563303"/>
            <a:ext cx="658368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144" name="TextBox 143"/>
          <p:cNvSpPr txBox="1"/>
          <p:nvPr/>
        </p:nvSpPr>
        <p:spPr>
          <a:xfrm>
            <a:off x="6348222" y="3599879"/>
            <a:ext cx="603503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QM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861822" y="3823907"/>
            <a:ext cx="868680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146" name="TextBox 145"/>
          <p:cNvSpPr txBox="1"/>
          <p:nvPr/>
        </p:nvSpPr>
        <p:spPr>
          <a:xfrm>
            <a:off x="889254" y="3860483"/>
            <a:ext cx="813815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TC-008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1730502" y="3823907"/>
            <a:ext cx="384048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148" name="TextBox 147"/>
          <p:cNvSpPr txBox="1"/>
          <p:nvPr/>
        </p:nvSpPr>
        <p:spPr>
          <a:xfrm>
            <a:off x="1669671" y="3860483"/>
            <a:ext cx="475488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UC-2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2114550" y="3823907"/>
            <a:ext cx="3703320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150" name="TextBox 149"/>
          <p:cNvSpPr txBox="1"/>
          <p:nvPr/>
        </p:nvSpPr>
        <p:spPr>
          <a:xfrm>
            <a:off x="2141982" y="3860483"/>
            <a:ext cx="3648456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속도 초과 자동잠금 동작 - 15.0km/h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5817870" y="3823907"/>
            <a:ext cx="502920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152" name="TextBox 151"/>
          <p:cNvSpPr txBox="1"/>
          <p:nvPr/>
        </p:nvSpPr>
        <p:spPr>
          <a:xfrm>
            <a:off x="5845302" y="3860483"/>
            <a:ext cx="448056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BVA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6320790" y="3823907"/>
            <a:ext cx="658368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154" name="TextBox 153"/>
          <p:cNvSpPr txBox="1"/>
          <p:nvPr/>
        </p:nvSpPr>
        <p:spPr>
          <a:xfrm>
            <a:off x="6348222" y="3860483"/>
            <a:ext cx="603503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QM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861822" y="4084511"/>
            <a:ext cx="868680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156" name="TextBox 155"/>
          <p:cNvSpPr txBox="1"/>
          <p:nvPr/>
        </p:nvSpPr>
        <p:spPr>
          <a:xfrm>
            <a:off x="889254" y="4121087"/>
            <a:ext cx="813815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TC-009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1730502" y="4084511"/>
            <a:ext cx="384048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158" name="TextBox 157"/>
          <p:cNvSpPr txBox="1"/>
          <p:nvPr/>
        </p:nvSpPr>
        <p:spPr>
          <a:xfrm>
            <a:off x="1680620" y="4112504"/>
            <a:ext cx="460341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UC-3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2114550" y="4084511"/>
            <a:ext cx="3703320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160" name="TextBox 159"/>
          <p:cNvSpPr txBox="1"/>
          <p:nvPr/>
        </p:nvSpPr>
        <p:spPr>
          <a:xfrm>
            <a:off x="2141982" y="4121087"/>
            <a:ext cx="3648456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충돌 시 비상 해제 (복합조건 = True)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5817870" y="4084511"/>
            <a:ext cx="502920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162" name="TextBox 161"/>
          <p:cNvSpPr txBox="1"/>
          <p:nvPr/>
        </p:nvSpPr>
        <p:spPr>
          <a:xfrm>
            <a:off x="5845302" y="4121087"/>
            <a:ext cx="448056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DT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20790" y="4084511"/>
            <a:ext cx="658368" cy="260603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164" name="TextBox 163"/>
          <p:cNvSpPr txBox="1"/>
          <p:nvPr/>
        </p:nvSpPr>
        <p:spPr>
          <a:xfrm>
            <a:off x="6348222" y="4121087"/>
            <a:ext cx="603503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1">
                <a:solidFill>
                  <a:srgbClr val="FFFFFF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ASIL B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861822" y="4345115"/>
            <a:ext cx="868680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166" name="TextBox 165"/>
          <p:cNvSpPr txBox="1"/>
          <p:nvPr/>
        </p:nvSpPr>
        <p:spPr>
          <a:xfrm>
            <a:off x="889254" y="4381691"/>
            <a:ext cx="813815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TC-010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1730502" y="4345115"/>
            <a:ext cx="384048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168" name="TextBox 167"/>
          <p:cNvSpPr txBox="1"/>
          <p:nvPr/>
        </p:nvSpPr>
        <p:spPr>
          <a:xfrm>
            <a:off x="1691308" y="4381691"/>
            <a:ext cx="455116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UC-3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2114550" y="4345115"/>
            <a:ext cx="3703320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170" name="TextBox 169"/>
          <p:cNvSpPr txBox="1"/>
          <p:nvPr/>
        </p:nvSpPr>
        <p:spPr>
          <a:xfrm>
            <a:off x="2141982" y="4381691"/>
            <a:ext cx="3648456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충돌 단일조건 무시 (오동작 방지)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5817870" y="4345115"/>
            <a:ext cx="502920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172" name="TextBox 171"/>
          <p:cNvSpPr txBox="1"/>
          <p:nvPr/>
        </p:nvSpPr>
        <p:spPr>
          <a:xfrm>
            <a:off x="5845302" y="4381691"/>
            <a:ext cx="448056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DT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6320790" y="4345115"/>
            <a:ext cx="658368" cy="260603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174" name="TextBox 173"/>
          <p:cNvSpPr txBox="1"/>
          <p:nvPr/>
        </p:nvSpPr>
        <p:spPr>
          <a:xfrm>
            <a:off x="6348222" y="4381691"/>
            <a:ext cx="603503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1">
                <a:solidFill>
                  <a:srgbClr val="FFFFFF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ASIL B</a:t>
            </a:r>
          </a:p>
        </p:txBody>
      </p:sp>
      <p:sp>
        <p:nvSpPr>
          <p:cNvPr id="175" name="Rectangle 174"/>
          <p:cNvSpPr/>
          <p:nvPr/>
        </p:nvSpPr>
        <p:spPr>
          <a:xfrm>
            <a:off x="861822" y="4605718"/>
            <a:ext cx="868680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176" name="TextBox 175"/>
          <p:cNvSpPr txBox="1"/>
          <p:nvPr/>
        </p:nvSpPr>
        <p:spPr>
          <a:xfrm>
            <a:off x="889254" y="4642294"/>
            <a:ext cx="813815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TC-011</a:t>
            </a:r>
          </a:p>
        </p:txBody>
      </p:sp>
      <p:sp>
        <p:nvSpPr>
          <p:cNvPr id="177" name="Rectangle 176"/>
          <p:cNvSpPr/>
          <p:nvPr/>
        </p:nvSpPr>
        <p:spPr>
          <a:xfrm>
            <a:off x="1730502" y="4605718"/>
            <a:ext cx="384048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178" name="TextBox 177"/>
          <p:cNvSpPr txBox="1"/>
          <p:nvPr/>
        </p:nvSpPr>
        <p:spPr>
          <a:xfrm>
            <a:off x="1691308" y="4642295"/>
            <a:ext cx="460815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UC-4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2114550" y="4605718"/>
            <a:ext cx="3703320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180" name="TextBox 179"/>
          <p:cNvSpPr txBox="1"/>
          <p:nvPr/>
        </p:nvSpPr>
        <p:spPr>
          <a:xfrm>
            <a:off x="2141982" y="4642294"/>
            <a:ext cx="3648456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ECU 상태 전이(Init→Normal→Lock) 핸들 차단</a:t>
            </a:r>
          </a:p>
        </p:txBody>
      </p:sp>
      <p:sp>
        <p:nvSpPr>
          <p:cNvPr id="181" name="Rectangle 180"/>
          <p:cNvSpPr/>
          <p:nvPr/>
        </p:nvSpPr>
        <p:spPr>
          <a:xfrm>
            <a:off x="5817870" y="4605718"/>
            <a:ext cx="502920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182" name="TextBox 181"/>
          <p:cNvSpPr txBox="1"/>
          <p:nvPr/>
        </p:nvSpPr>
        <p:spPr>
          <a:xfrm>
            <a:off x="5845302" y="4642294"/>
            <a:ext cx="448056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ST</a:t>
            </a:r>
          </a:p>
        </p:txBody>
      </p:sp>
      <p:sp>
        <p:nvSpPr>
          <p:cNvPr id="183" name="Rectangle 182"/>
          <p:cNvSpPr/>
          <p:nvPr/>
        </p:nvSpPr>
        <p:spPr>
          <a:xfrm>
            <a:off x="6320790" y="4605718"/>
            <a:ext cx="658368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184" name="TextBox 183"/>
          <p:cNvSpPr txBox="1"/>
          <p:nvPr/>
        </p:nvSpPr>
        <p:spPr>
          <a:xfrm>
            <a:off x="6348222" y="4642294"/>
            <a:ext cx="603503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QM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861822" y="4866323"/>
            <a:ext cx="868680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186" name="TextBox 185"/>
          <p:cNvSpPr txBox="1"/>
          <p:nvPr/>
        </p:nvSpPr>
        <p:spPr>
          <a:xfrm>
            <a:off x="889254" y="4902899"/>
            <a:ext cx="813815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TC-012</a:t>
            </a:r>
          </a:p>
        </p:txBody>
      </p:sp>
      <p:sp>
        <p:nvSpPr>
          <p:cNvPr id="187" name="Rectangle 186"/>
          <p:cNvSpPr/>
          <p:nvPr/>
        </p:nvSpPr>
        <p:spPr>
          <a:xfrm>
            <a:off x="1730502" y="4866323"/>
            <a:ext cx="384048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188" name="TextBox 187"/>
          <p:cNvSpPr txBox="1"/>
          <p:nvPr/>
        </p:nvSpPr>
        <p:spPr>
          <a:xfrm>
            <a:off x="1686607" y="4902900"/>
            <a:ext cx="460815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UC-5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2114550" y="4866323"/>
            <a:ext cx="3703320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190" name="TextBox 189"/>
          <p:cNvSpPr txBox="1"/>
          <p:nvPr/>
        </p:nvSpPr>
        <p:spPr>
          <a:xfrm>
            <a:off x="2141982" y="4902899"/>
            <a:ext cx="3648456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후방 객체(거리/속도/시간) 복합 감지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5817870" y="4866323"/>
            <a:ext cx="502920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192" name="TextBox 191"/>
          <p:cNvSpPr txBox="1"/>
          <p:nvPr/>
        </p:nvSpPr>
        <p:spPr>
          <a:xfrm>
            <a:off x="5845302" y="4902899"/>
            <a:ext cx="448056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PW</a:t>
            </a:r>
          </a:p>
        </p:txBody>
      </p:sp>
      <p:sp>
        <p:nvSpPr>
          <p:cNvPr id="193" name="Rectangle 192"/>
          <p:cNvSpPr/>
          <p:nvPr/>
        </p:nvSpPr>
        <p:spPr>
          <a:xfrm>
            <a:off x="6320790" y="4866323"/>
            <a:ext cx="658368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194" name="TextBox 193"/>
          <p:cNvSpPr txBox="1"/>
          <p:nvPr/>
        </p:nvSpPr>
        <p:spPr>
          <a:xfrm>
            <a:off x="6348222" y="4902899"/>
            <a:ext cx="603503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QM</a:t>
            </a:r>
          </a:p>
        </p:txBody>
      </p:sp>
      <p:sp>
        <p:nvSpPr>
          <p:cNvPr id="195" name="Rectangle 194"/>
          <p:cNvSpPr/>
          <p:nvPr/>
        </p:nvSpPr>
        <p:spPr>
          <a:xfrm>
            <a:off x="861822" y="5126927"/>
            <a:ext cx="868680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196" name="TextBox 195"/>
          <p:cNvSpPr txBox="1"/>
          <p:nvPr/>
        </p:nvSpPr>
        <p:spPr>
          <a:xfrm>
            <a:off x="889254" y="5163503"/>
            <a:ext cx="813815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TC-013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1730502" y="5126927"/>
            <a:ext cx="384048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198" name="TextBox 197"/>
          <p:cNvSpPr txBox="1"/>
          <p:nvPr/>
        </p:nvSpPr>
        <p:spPr>
          <a:xfrm>
            <a:off x="1679672" y="5163503"/>
            <a:ext cx="461289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UC-5</a:t>
            </a:r>
          </a:p>
        </p:txBody>
      </p:sp>
      <p:sp>
        <p:nvSpPr>
          <p:cNvPr id="199" name="Rectangle 198"/>
          <p:cNvSpPr/>
          <p:nvPr/>
        </p:nvSpPr>
        <p:spPr>
          <a:xfrm>
            <a:off x="2114550" y="5126927"/>
            <a:ext cx="3703320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200" name="TextBox 199"/>
          <p:cNvSpPr txBox="1"/>
          <p:nvPr/>
        </p:nvSpPr>
        <p:spPr>
          <a:xfrm>
            <a:off x="2141982" y="5163503"/>
            <a:ext cx="3648456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후방 센서 노이즈/반복 경고 히스테리시스</a:t>
            </a:r>
          </a:p>
        </p:txBody>
      </p:sp>
      <p:sp>
        <p:nvSpPr>
          <p:cNvPr id="201" name="Rectangle 200"/>
          <p:cNvSpPr/>
          <p:nvPr/>
        </p:nvSpPr>
        <p:spPr>
          <a:xfrm>
            <a:off x="5817870" y="5126927"/>
            <a:ext cx="502920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202" name="TextBox 201"/>
          <p:cNvSpPr txBox="1"/>
          <p:nvPr/>
        </p:nvSpPr>
        <p:spPr>
          <a:xfrm>
            <a:off x="5817870" y="5155487"/>
            <a:ext cx="448056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EP</a:t>
            </a:r>
          </a:p>
        </p:txBody>
      </p:sp>
      <p:sp>
        <p:nvSpPr>
          <p:cNvPr id="203" name="Rectangle 202"/>
          <p:cNvSpPr/>
          <p:nvPr/>
        </p:nvSpPr>
        <p:spPr>
          <a:xfrm>
            <a:off x="6320790" y="5126927"/>
            <a:ext cx="658368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204" name="TextBox 203"/>
          <p:cNvSpPr txBox="1"/>
          <p:nvPr/>
        </p:nvSpPr>
        <p:spPr>
          <a:xfrm>
            <a:off x="6348222" y="5155487"/>
            <a:ext cx="603503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QM</a:t>
            </a:r>
          </a:p>
        </p:txBody>
      </p:sp>
      <p:sp>
        <p:nvSpPr>
          <p:cNvPr id="205" name="Rectangle 204"/>
          <p:cNvSpPr/>
          <p:nvPr/>
        </p:nvSpPr>
        <p:spPr>
          <a:xfrm>
            <a:off x="861822" y="5387531"/>
            <a:ext cx="868680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206" name="TextBox 205"/>
          <p:cNvSpPr txBox="1"/>
          <p:nvPr/>
        </p:nvSpPr>
        <p:spPr>
          <a:xfrm>
            <a:off x="889254" y="5424107"/>
            <a:ext cx="813815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TC-014</a:t>
            </a:r>
          </a:p>
        </p:txBody>
      </p:sp>
      <p:sp>
        <p:nvSpPr>
          <p:cNvPr id="207" name="Rectangle 206"/>
          <p:cNvSpPr/>
          <p:nvPr/>
        </p:nvSpPr>
        <p:spPr>
          <a:xfrm>
            <a:off x="1730502" y="5387531"/>
            <a:ext cx="384048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208" name="TextBox 207"/>
          <p:cNvSpPr txBox="1"/>
          <p:nvPr/>
        </p:nvSpPr>
        <p:spPr>
          <a:xfrm>
            <a:off x="1676975" y="5415369"/>
            <a:ext cx="463986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UC-6</a:t>
            </a:r>
          </a:p>
        </p:txBody>
      </p:sp>
      <p:sp>
        <p:nvSpPr>
          <p:cNvPr id="209" name="Rectangle 208"/>
          <p:cNvSpPr/>
          <p:nvPr/>
        </p:nvSpPr>
        <p:spPr>
          <a:xfrm>
            <a:off x="2114550" y="5387531"/>
            <a:ext cx="3703320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210" name="TextBox 209"/>
          <p:cNvSpPr txBox="1"/>
          <p:nvPr/>
        </p:nvSpPr>
        <p:spPr>
          <a:xfrm>
            <a:off x="2141982" y="5424107"/>
            <a:ext cx="3648456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승객 점유 및 잠금 OFF 출발 시 알림</a:t>
            </a:r>
          </a:p>
        </p:txBody>
      </p:sp>
      <p:sp>
        <p:nvSpPr>
          <p:cNvPr id="211" name="Rectangle 210"/>
          <p:cNvSpPr/>
          <p:nvPr/>
        </p:nvSpPr>
        <p:spPr>
          <a:xfrm>
            <a:off x="5817870" y="5387531"/>
            <a:ext cx="502920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212" name="TextBox 211"/>
          <p:cNvSpPr txBox="1"/>
          <p:nvPr/>
        </p:nvSpPr>
        <p:spPr>
          <a:xfrm>
            <a:off x="5845302" y="5424107"/>
            <a:ext cx="448056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DT</a:t>
            </a:r>
          </a:p>
        </p:txBody>
      </p:sp>
      <p:sp>
        <p:nvSpPr>
          <p:cNvPr id="213" name="Rectangle 212"/>
          <p:cNvSpPr/>
          <p:nvPr/>
        </p:nvSpPr>
        <p:spPr>
          <a:xfrm>
            <a:off x="6320790" y="5387531"/>
            <a:ext cx="658368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214" name="TextBox 213"/>
          <p:cNvSpPr txBox="1"/>
          <p:nvPr/>
        </p:nvSpPr>
        <p:spPr>
          <a:xfrm>
            <a:off x="6348222" y="5424107"/>
            <a:ext cx="603503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QM</a:t>
            </a:r>
          </a:p>
        </p:txBody>
      </p:sp>
      <p:sp>
        <p:nvSpPr>
          <p:cNvPr id="215" name="Rectangle 214"/>
          <p:cNvSpPr/>
          <p:nvPr/>
        </p:nvSpPr>
        <p:spPr>
          <a:xfrm>
            <a:off x="861822" y="5653901"/>
            <a:ext cx="868680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216" name="TextBox 215"/>
          <p:cNvSpPr txBox="1"/>
          <p:nvPr/>
        </p:nvSpPr>
        <p:spPr>
          <a:xfrm>
            <a:off x="885315" y="5669280"/>
            <a:ext cx="813815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TC-015</a:t>
            </a:r>
          </a:p>
        </p:txBody>
      </p:sp>
      <p:sp>
        <p:nvSpPr>
          <p:cNvPr id="217" name="Rectangle 216"/>
          <p:cNvSpPr/>
          <p:nvPr/>
        </p:nvSpPr>
        <p:spPr>
          <a:xfrm>
            <a:off x="1730502" y="5653901"/>
            <a:ext cx="384048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218" name="TextBox 217"/>
          <p:cNvSpPr txBox="1"/>
          <p:nvPr/>
        </p:nvSpPr>
        <p:spPr>
          <a:xfrm>
            <a:off x="1658429" y="5677939"/>
            <a:ext cx="484617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UC-6</a:t>
            </a:r>
          </a:p>
        </p:txBody>
      </p:sp>
      <p:sp>
        <p:nvSpPr>
          <p:cNvPr id="219" name="Rectangle 218"/>
          <p:cNvSpPr/>
          <p:nvPr/>
        </p:nvSpPr>
        <p:spPr>
          <a:xfrm>
            <a:off x="2110912" y="5654646"/>
            <a:ext cx="3703320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220" name="TextBox 219"/>
          <p:cNvSpPr txBox="1"/>
          <p:nvPr/>
        </p:nvSpPr>
        <p:spPr>
          <a:xfrm>
            <a:off x="2052828" y="5684208"/>
            <a:ext cx="3648456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점유 센서 에러 발생 시 보호 로직</a:t>
            </a:r>
          </a:p>
        </p:txBody>
      </p:sp>
      <p:sp>
        <p:nvSpPr>
          <p:cNvPr id="221" name="Rectangle 220"/>
          <p:cNvSpPr/>
          <p:nvPr/>
        </p:nvSpPr>
        <p:spPr>
          <a:xfrm>
            <a:off x="5817870" y="5653901"/>
            <a:ext cx="502920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222" name="TextBox 221"/>
          <p:cNvSpPr txBox="1"/>
          <p:nvPr/>
        </p:nvSpPr>
        <p:spPr>
          <a:xfrm>
            <a:off x="5817870" y="5684208"/>
            <a:ext cx="448056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FI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6320790" y="5653901"/>
            <a:ext cx="658368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224" name="TextBox 223"/>
          <p:cNvSpPr txBox="1"/>
          <p:nvPr/>
        </p:nvSpPr>
        <p:spPr>
          <a:xfrm>
            <a:off x="6320790" y="5684208"/>
            <a:ext cx="603503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QM</a:t>
            </a:r>
          </a:p>
        </p:txBody>
      </p:sp>
      <p:sp>
        <p:nvSpPr>
          <p:cNvPr id="225" name="Rectangle 224"/>
          <p:cNvSpPr/>
          <p:nvPr/>
        </p:nvSpPr>
        <p:spPr>
          <a:xfrm>
            <a:off x="7902702" y="2205418"/>
            <a:ext cx="1920240" cy="256032"/>
          </a:xfrm>
          <a:prstGeom prst="rect">
            <a:avLst/>
          </a:prstGeom>
          <a:solidFill>
            <a:srgbClr val="0035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226" name="TextBox 225"/>
          <p:cNvSpPr txBox="1"/>
          <p:nvPr/>
        </p:nvSpPr>
        <p:spPr>
          <a:xfrm>
            <a:off x="7918703" y="2190571"/>
            <a:ext cx="184708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dirty="0" err="1">
                <a:solidFill>
                  <a:srgbClr val="FFFFFF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단위</a:t>
            </a:r>
            <a:r>
              <a:rPr sz="1100" dirty="0">
                <a:solidFill>
                  <a:srgbClr val="FFFFFF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100" dirty="0" err="1">
                <a:solidFill>
                  <a:srgbClr val="FFFFFF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테스트</a:t>
            </a:r>
            <a:endParaRPr sz="1100" dirty="0">
              <a:solidFill>
                <a:srgbClr val="FFFFFF"/>
              </a:solidFill>
              <a:latin typeface="현대하모니 L" panose="02020603020101020101" pitchFamily="18" charset="-127"/>
              <a:ea typeface="현대하모니 L" panose="02020603020101020101" pitchFamily="18" charset="-127"/>
            </a:endParaRPr>
          </a:p>
        </p:txBody>
      </p:sp>
      <p:sp>
        <p:nvSpPr>
          <p:cNvPr id="227" name="Rectangle 226"/>
          <p:cNvSpPr/>
          <p:nvPr/>
        </p:nvSpPr>
        <p:spPr>
          <a:xfrm>
            <a:off x="7910335" y="2461450"/>
            <a:ext cx="1920240" cy="493775"/>
          </a:xfrm>
          <a:prstGeom prst="rect">
            <a:avLst/>
          </a:prstGeom>
          <a:solidFill>
            <a:srgbClr val="F9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8" name="TextBox 227"/>
          <p:cNvSpPr txBox="1"/>
          <p:nvPr/>
        </p:nvSpPr>
        <p:spPr>
          <a:xfrm>
            <a:off x="7946911" y="2479738"/>
            <a:ext cx="184708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357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140 건</a:t>
            </a:r>
          </a:p>
        </p:txBody>
      </p:sp>
      <p:sp>
        <p:nvSpPr>
          <p:cNvPr id="229" name="Rectangle 228"/>
          <p:cNvSpPr/>
          <p:nvPr/>
        </p:nvSpPr>
        <p:spPr>
          <a:xfrm>
            <a:off x="9922015" y="2205418"/>
            <a:ext cx="1920240" cy="256032"/>
          </a:xfrm>
          <a:prstGeom prst="rect">
            <a:avLst/>
          </a:prstGeom>
          <a:solidFill>
            <a:srgbClr val="0096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230" name="TextBox 229"/>
          <p:cNvSpPr txBox="1"/>
          <p:nvPr/>
        </p:nvSpPr>
        <p:spPr>
          <a:xfrm>
            <a:off x="9930384" y="2203970"/>
            <a:ext cx="184708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dirty="0" err="1">
                <a:solidFill>
                  <a:srgbClr val="FFFFFF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통과율</a:t>
            </a:r>
            <a:endParaRPr sz="1100" dirty="0">
              <a:solidFill>
                <a:srgbClr val="FFFFFF"/>
              </a:solidFill>
              <a:latin typeface="현대하모니 L" panose="02020603020101020101" pitchFamily="18" charset="-127"/>
              <a:ea typeface="현대하모니 L" panose="02020603020101020101" pitchFamily="18" charset="-127"/>
            </a:endParaRPr>
          </a:p>
        </p:txBody>
      </p:sp>
      <p:sp>
        <p:nvSpPr>
          <p:cNvPr id="231" name="Rectangle 230"/>
          <p:cNvSpPr/>
          <p:nvPr/>
        </p:nvSpPr>
        <p:spPr>
          <a:xfrm>
            <a:off x="9922015" y="2461450"/>
            <a:ext cx="1920240" cy="493775"/>
          </a:xfrm>
          <a:prstGeom prst="rect">
            <a:avLst/>
          </a:prstGeom>
          <a:solidFill>
            <a:srgbClr val="F9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232" name="TextBox 231"/>
          <p:cNvSpPr txBox="1"/>
          <p:nvPr/>
        </p:nvSpPr>
        <p:spPr>
          <a:xfrm>
            <a:off x="9958591" y="2479738"/>
            <a:ext cx="184708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9660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100%  (0 Fail)</a:t>
            </a:r>
          </a:p>
        </p:txBody>
      </p:sp>
      <p:sp>
        <p:nvSpPr>
          <p:cNvPr id="233" name="Rectangle 232"/>
          <p:cNvSpPr/>
          <p:nvPr/>
        </p:nvSpPr>
        <p:spPr>
          <a:xfrm>
            <a:off x="7918703" y="3302698"/>
            <a:ext cx="1920240" cy="256032"/>
          </a:xfrm>
          <a:prstGeom prst="rect">
            <a:avLst/>
          </a:prstGeom>
          <a:solidFill>
            <a:srgbClr val="005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234" name="TextBox 233"/>
          <p:cNvSpPr txBox="1"/>
          <p:nvPr/>
        </p:nvSpPr>
        <p:spPr>
          <a:xfrm>
            <a:off x="7955279" y="3280733"/>
            <a:ext cx="184708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dirty="0" err="1">
                <a:solidFill>
                  <a:srgbClr val="FFFFFF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커버리지</a:t>
            </a:r>
            <a:endParaRPr sz="1000" dirty="0">
              <a:solidFill>
                <a:srgbClr val="FFFFFF"/>
              </a:solidFill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235" name="Rectangle 234"/>
          <p:cNvSpPr/>
          <p:nvPr/>
        </p:nvSpPr>
        <p:spPr>
          <a:xfrm>
            <a:off x="7918703" y="3558730"/>
            <a:ext cx="1920240" cy="493775"/>
          </a:xfrm>
          <a:prstGeom prst="rect">
            <a:avLst/>
          </a:prstGeom>
          <a:solidFill>
            <a:srgbClr val="F9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236" name="TextBox 235"/>
          <p:cNvSpPr txBox="1"/>
          <p:nvPr/>
        </p:nvSpPr>
        <p:spPr>
          <a:xfrm>
            <a:off x="7955279" y="3577018"/>
            <a:ext cx="184708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5BB5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100%  Branch</a:t>
            </a:r>
          </a:p>
        </p:txBody>
      </p:sp>
      <p:sp>
        <p:nvSpPr>
          <p:cNvPr id="237" name="Rectangle 236"/>
          <p:cNvSpPr/>
          <p:nvPr/>
        </p:nvSpPr>
        <p:spPr>
          <a:xfrm>
            <a:off x="9930384" y="3302698"/>
            <a:ext cx="1920240" cy="256032"/>
          </a:xfrm>
          <a:prstGeom prst="rect">
            <a:avLst/>
          </a:prstGeom>
          <a:solidFill>
            <a:srgbClr val="00A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238" name="TextBox 237"/>
          <p:cNvSpPr txBox="1"/>
          <p:nvPr/>
        </p:nvSpPr>
        <p:spPr>
          <a:xfrm>
            <a:off x="9966960" y="3297120"/>
            <a:ext cx="184708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FFFFFF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처리 속도</a:t>
            </a:r>
          </a:p>
        </p:txBody>
      </p:sp>
      <p:sp>
        <p:nvSpPr>
          <p:cNvPr id="239" name="Rectangle 238"/>
          <p:cNvSpPr/>
          <p:nvPr/>
        </p:nvSpPr>
        <p:spPr>
          <a:xfrm>
            <a:off x="9930384" y="3558730"/>
            <a:ext cx="1920240" cy="493775"/>
          </a:xfrm>
          <a:prstGeom prst="rect">
            <a:avLst/>
          </a:prstGeom>
          <a:solidFill>
            <a:srgbClr val="F9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240" name="TextBox 239"/>
          <p:cNvSpPr txBox="1"/>
          <p:nvPr/>
        </p:nvSpPr>
        <p:spPr>
          <a:xfrm>
            <a:off x="9966960" y="3577018"/>
            <a:ext cx="184708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A8E8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&lt; 1 ms</a:t>
            </a:r>
          </a:p>
        </p:txBody>
      </p:sp>
      <p:sp>
        <p:nvSpPr>
          <p:cNvPr id="241" name="Rectangle 240"/>
          <p:cNvSpPr/>
          <p:nvPr/>
        </p:nvSpPr>
        <p:spPr>
          <a:xfrm>
            <a:off x="7910335" y="4550854"/>
            <a:ext cx="1920240" cy="256032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2" name="TextBox 241"/>
          <p:cNvSpPr txBox="1"/>
          <p:nvPr/>
        </p:nvSpPr>
        <p:spPr>
          <a:xfrm>
            <a:off x="7918703" y="4550854"/>
            <a:ext cx="184708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FFFFFF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시스템 TC</a:t>
            </a:r>
          </a:p>
        </p:txBody>
      </p:sp>
      <p:sp>
        <p:nvSpPr>
          <p:cNvPr id="243" name="Rectangle 242"/>
          <p:cNvSpPr/>
          <p:nvPr/>
        </p:nvSpPr>
        <p:spPr>
          <a:xfrm>
            <a:off x="7910335" y="4806886"/>
            <a:ext cx="1920240" cy="493775"/>
          </a:xfrm>
          <a:prstGeom prst="rect">
            <a:avLst/>
          </a:prstGeom>
          <a:solidFill>
            <a:srgbClr val="F9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4" name="TextBox 243"/>
          <p:cNvSpPr txBox="1"/>
          <p:nvPr/>
        </p:nvSpPr>
        <p:spPr>
          <a:xfrm>
            <a:off x="7946911" y="4825174"/>
            <a:ext cx="184708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6B35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15 건</a:t>
            </a:r>
          </a:p>
        </p:txBody>
      </p:sp>
      <p:sp>
        <p:nvSpPr>
          <p:cNvPr id="245" name="Rectangle 244"/>
          <p:cNvSpPr/>
          <p:nvPr/>
        </p:nvSpPr>
        <p:spPr>
          <a:xfrm>
            <a:off x="9922015" y="4550854"/>
            <a:ext cx="1920240" cy="256032"/>
          </a:xfrm>
          <a:prstGeom prst="rect">
            <a:avLst/>
          </a:prstGeom>
          <a:solidFill>
            <a:srgbClr val="0035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246" name="TextBox 245"/>
          <p:cNvSpPr txBox="1"/>
          <p:nvPr/>
        </p:nvSpPr>
        <p:spPr>
          <a:xfrm>
            <a:off x="9930384" y="4550854"/>
            <a:ext cx="184708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FFFFFF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프레임워크</a:t>
            </a:r>
          </a:p>
        </p:txBody>
      </p:sp>
      <p:sp>
        <p:nvSpPr>
          <p:cNvPr id="247" name="Rectangle 246"/>
          <p:cNvSpPr/>
          <p:nvPr/>
        </p:nvSpPr>
        <p:spPr>
          <a:xfrm>
            <a:off x="9922015" y="4806886"/>
            <a:ext cx="1920240" cy="493775"/>
          </a:xfrm>
          <a:prstGeom prst="rect">
            <a:avLst/>
          </a:prstGeom>
          <a:solidFill>
            <a:srgbClr val="F9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248" name="TextBox 247"/>
          <p:cNvSpPr txBox="1"/>
          <p:nvPr/>
        </p:nvSpPr>
        <p:spPr>
          <a:xfrm>
            <a:off x="9958591" y="4837786"/>
            <a:ext cx="184708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dirty="0" err="1">
                <a:solidFill>
                  <a:srgbClr val="00357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GTest</a:t>
            </a:r>
            <a:r>
              <a:rPr sz="1600" b="1" dirty="0">
                <a:solidFill>
                  <a:srgbClr val="00357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v1.17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45720" y="6464808"/>
            <a:ext cx="12188952" cy="292608"/>
          </a:xfrm>
          <a:prstGeom prst="rect">
            <a:avLst/>
          </a:prstGeom>
          <a:solidFill>
            <a:srgbClr val="0035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0" name="TextBox 249"/>
          <p:cNvSpPr txBox="1"/>
          <p:nvPr/>
        </p:nvSpPr>
        <p:spPr>
          <a:xfrm>
            <a:off x="91440" y="6501384"/>
            <a:ext cx="118872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dirty="0">
                <a:solidFill>
                  <a:srgbClr val="FFFFFF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MOBIUS BOOTCAMP 1기 | PBL </a:t>
            </a:r>
            <a:r>
              <a:rPr sz="800" b="0" dirty="0" err="1">
                <a:solidFill>
                  <a:srgbClr val="FFFFFF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결과발표</a:t>
            </a:r>
            <a:r>
              <a:rPr sz="800" b="0" dirty="0">
                <a:solidFill>
                  <a:srgbClr val="FFFFFF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| 7/10</a:t>
            </a:r>
          </a:p>
        </p:txBody>
      </p:sp>
      <p:sp>
        <p:nvSpPr>
          <p:cNvPr id="12" name="TextBox 55">
            <a:extLst>
              <a:ext uri="{FF2B5EF4-FFF2-40B4-BE49-F238E27FC236}">
                <a16:creationId xmlns:a16="http://schemas.microsoft.com/office/drawing/2014/main" id="{A04BD982-2EF7-DA0F-B8CB-8685C1E61912}"/>
              </a:ext>
            </a:extLst>
          </p:cNvPr>
          <p:cNvSpPr txBox="1"/>
          <p:nvPr/>
        </p:nvSpPr>
        <p:spPr>
          <a:xfrm>
            <a:off x="7983459" y="1368743"/>
            <a:ext cx="374903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 sz="1600" b="1">
                <a:solidFill>
                  <a:srgbClr val="003366"/>
                </a:solidFill>
              </a:defRPr>
            </a:pPr>
            <a:r>
              <a:rPr lang="ko-KR" altLang="en-US" sz="2000" dirty="0"/>
              <a:t>성과 지표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0"/>
            <a:ext cx="12188952" cy="45720"/>
          </a:xfrm>
          <a:prstGeom prst="rect">
            <a:avLst/>
          </a:prstGeom>
          <a:solidFill>
            <a:srgbClr val="FF6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425132" y="1101852"/>
            <a:ext cx="5669280" cy="2468880"/>
          </a:xfrm>
          <a:prstGeom prst="roundRect">
            <a:avLst/>
          </a:prstGeom>
          <a:solidFill>
            <a:srgbClr val="F0F8FF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196727"/>
            <a:ext cx="530352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3366"/>
                </a:solidFill>
              </a:defRPr>
            </a:pPr>
            <a:r>
              <a:rPr sz="2000" dirty="0" err="1">
                <a:latin typeface="현대하모니 M" panose="02020603020101020101" pitchFamily="18" charset="-127"/>
                <a:ea typeface="현대하모니 M" panose="02020603020101020101" pitchFamily="18" charset="-127"/>
              </a:rPr>
              <a:t>기술적</a:t>
            </a:r>
            <a:r>
              <a:rPr sz="20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2000" dirty="0" err="1">
                <a:latin typeface="현대하모니 M" panose="02020603020101020101" pitchFamily="18" charset="-127"/>
                <a:ea typeface="현대하모니 M" panose="02020603020101020101" pitchFamily="18" charset="-127"/>
              </a:rPr>
              <a:t>학습</a:t>
            </a:r>
            <a:endParaRPr sz="2000" dirty="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6245225" y="1101852"/>
            <a:ext cx="5669280" cy="2468880"/>
          </a:xfrm>
          <a:prstGeom prst="roundRect">
            <a:avLst/>
          </a:prstGeom>
          <a:solidFill>
            <a:srgbClr val="FFF8F0"/>
          </a:solidFill>
          <a:ln>
            <a:solidFill>
              <a:srgbClr val="FF6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92240" y="1216568"/>
            <a:ext cx="530352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6A00"/>
                </a:solidFill>
              </a:defRPr>
            </a:pPr>
            <a:r>
              <a:rPr sz="2000" dirty="0" err="1">
                <a:latin typeface="현대하모니 M" panose="02020603020101020101" pitchFamily="18" charset="-127"/>
                <a:ea typeface="현대하모니 M" panose="02020603020101020101" pitchFamily="18" charset="-127"/>
              </a:rPr>
              <a:t>협업</a:t>
            </a:r>
            <a:r>
              <a:rPr sz="20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 &amp; </a:t>
            </a:r>
            <a:r>
              <a:rPr sz="2000" dirty="0" err="1">
                <a:latin typeface="현대하모니 M" panose="02020603020101020101" pitchFamily="18" charset="-127"/>
                <a:ea typeface="현대하모니 M" panose="02020603020101020101" pitchFamily="18" charset="-127"/>
              </a:rPr>
              <a:t>프로세스</a:t>
            </a:r>
            <a:endParaRPr sz="2000" dirty="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84362" y="1579662"/>
            <a:ext cx="4754880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40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1.</a:t>
            </a:r>
            <a:r>
              <a:rPr lang="ko-KR" altLang="en-US" sz="140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lang="en-US" altLang="ko-KR" sz="140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ISO 26262 </a:t>
            </a:r>
            <a:r>
              <a:rPr lang="ko-KR" altLang="en-US" sz="140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기반 기능 안전 분석 </a:t>
            </a:r>
            <a:r>
              <a:rPr lang="en-US" altLang="ko-KR" sz="140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(HAZOP / FMEA) </a:t>
            </a:r>
            <a:r>
              <a:rPr lang="ko-KR" altLang="en-US" sz="140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및 </a:t>
            </a:r>
            <a:r>
              <a:rPr lang="en-US" altLang="ko-KR" sz="140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ASIL B </a:t>
            </a:r>
            <a:r>
              <a:rPr lang="ko-KR" altLang="en-US" sz="140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수준 안전 목표 도출</a:t>
            </a:r>
          </a:p>
          <a:p>
            <a:pPr lvl="0">
              <a:defRPr/>
            </a:pPr>
            <a:r>
              <a:rPr lang="en-US" altLang="ko-KR" sz="140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2.</a:t>
            </a:r>
            <a:r>
              <a:rPr lang="ko-KR" altLang="en-US" sz="140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lang="en-US" altLang="ko-KR" sz="140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SRS → </a:t>
            </a:r>
            <a:r>
              <a:rPr lang="en-US" altLang="ko-KR" sz="140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SwDD</a:t>
            </a:r>
            <a:r>
              <a:rPr lang="en-US" altLang="ko-KR" sz="140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→ Code → Test </a:t>
            </a:r>
            <a:r>
              <a:rPr lang="ko-KR" altLang="en-US" sz="140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양방향 추적성 확보 </a:t>
            </a:r>
            <a:r>
              <a:rPr lang="en-US" altLang="ko-KR" sz="140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(SWE.1~SWE.6)</a:t>
            </a:r>
          </a:p>
          <a:p>
            <a:pPr lvl="0">
              <a:defRPr/>
            </a:pPr>
            <a:r>
              <a:rPr lang="en-US" altLang="ko-KR" sz="140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3. V-</a:t>
            </a:r>
            <a:r>
              <a:rPr lang="ko-KR" altLang="en-US" sz="140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모델 기반 설계</a:t>
            </a:r>
            <a:r>
              <a:rPr lang="en-US" altLang="ko-KR" sz="140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-</a:t>
            </a:r>
            <a:r>
              <a:rPr lang="ko-KR" altLang="en-US" sz="140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구현 워크플로우 </a:t>
            </a:r>
            <a:r>
              <a:rPr lang="en-US" altLang="ko-KR" sz="140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— </a:t>
            </a:r>
            <a:r>
              <a:rPr lang="ko-KR" altLang="en-US" sz="140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요구사항 작성 전에 테스트 케이스 먼저 정의 </a:t>
            </a:r>
            <a:r>
              <a:rPr lang="en-US" altLang="ko-KR" sz="140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(TDD)</a:t>
            </a:r>
          </a:p>
          <a:p>
            <a:pPr lvl="0">
              <a:defRPr/>
            </a:pPr>
            <a:r>
              <a:rPr lang="en-US" altLang="ko-KR" sz="140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4. Fail-Safe</a:t>
            </a:r>
            <a:r>
              <a:rPr lang="ko-KR" altLang="en-US" sz="140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상태</a:t>
            </a:r>
            <a:r>
              <a:rPr lang="en-US" altLang="ko-KR" sz="140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(SAFE_LOCKED/EMERGENCY_RELEASED) </a:t>
            </a:r>
            <a:r>
              <a:rPr lang="ko-KR" altLang="en-US" sz="140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설계 및 우선순위 정책 수립 </a:t>
            </a:r>
            <a:endParaRPr lang="en-US" altLang="ko-KR" sz="1400" dirty="0">
              <a:solidFill>
                <a:srgbClr val="1A1A2E"/>
              </a:solidFill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34" name="Rectangle 33"/>
          <p:cNvSpPr/>
          <p:nvPr/>
        </p:nvSpPr>
        <p:spPr>
          <a:xfrm>
            <a:off x="0" y="6236208"/>
            <a:ext cx="12188952" cy="292608"/>
          </a:xfrm>
          <a:prstGeom prst="rect">
            <a:avLst/>
          </a:prstGeom>
          <a:solidFill>
            <a:srgbClr val="0035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91440" y="6263640"/>
            <a:ext cx="1188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Malgun Gothic"/>
              </a:rPr>
              <a:t>MOBIUS BOOTCAMP 1기 | PBL 결과발표 | 8/10</a:t>
            </a:r>
          </a:p>
        </p:txBody>
      </p:sp>
      <p:sp>
        <p:nvSpPr>
          <p:cNvPr id="3" name="TextBox 9">
            <a:extLst>
              <a:ext uri="{FF2B5EF4-FFF2-40B4-BE49-F238E27FC236}">
                <a16:creationId xmlns:a16="http://schemas.microsoft.com/office/drawing/2014/main" id="{BE7FAD8A-B6D9-CAD5-F7B2-03306B24A994}"/>
              </a:ext>
            </a:extLst>
          </p:cNvPr>
          <p:cNvSpPr txBox="1"/>
          <p:nvPr/>
        </p:nvSpPr>
        <p:spPr>
          <a:xfrm>
            <a:off x="6428105" y="1601638"/>
            <a:ext cx="5303520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1.</a:t>
            </a:r>
            <a:r>
              <a:rPr lang="ko-KR" altLang="en-US" sz="140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GitHub Actions CI/CD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파이프라인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: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빌드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→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GTest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→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Cppcheck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→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lcov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자동화</a:t>
            </a:r>
            <a:endParaRPr sz="1400" b="0" dirty="0">
              <a:solidFill>
                <a:srgbClr val="1A1A2E"/>
              </a:solidFill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  <a:p>
            <a:pPr lvl="0">
              <a:defRPr/>
            </a:pPr>
            <a:r>
              <a:rPr lang="en-US" sz="140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2.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Lizard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복잡도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분석으로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Cyclomatic Complexity ≤10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준수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자동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검증</a:t>
            </a:r>
            <a:endParaRPr sz="1400" b="0" dirty="0">
              <a:solidFill>
                <a:srgbClr val="1A1A2E"/>
              </a:solidFill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  <a:p>
            <a:pPr lvl="0">
              <a:defRPr/>
            </a:pPr>
            <a:r>
              <a:rPr lang="en-US" sz="140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3.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GoogleTest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Mock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기반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엣지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케이스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(Fault Injection, Null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입력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)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시뮬레이션</a:t>
            </a:r>
            <a:endParaRPr sz="1400" b="0" dirty="0">
              <a:solidFill>
                <a:srgbClr val="1A1A2E"/>
              </a:solidFill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  <a:p>
            <a:pPr lvl="0">
              <a:defRPr/>
            </a:pPr>
            <a:r>
              <a:rPr lang="en-US" sz="140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4.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Branch / MC/DC Coverage 100%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달성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— 140개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단위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테스트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케이스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모두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PASS</a:t>
            </a:r>
          </a:p>
        </p:txBody>
      </p:sp>
      <p:sp>
        <p:nvSpPr>
          <p:cNvPr id="7" name="Rounded Rectangle 10">
            <a:extLst>
              <a:ext uri="{FF2B5EF4-FFF2-40B4-BE49-F238E27FC236}">
                <a16:creationId xmlns:a16="http://schemas.microsoft.com/office/drawing/2014/main" id="{91070F96-0AD8-5385-89DB-AA1FB13413EA}"/>
              </a:ext>
            </a:extLst>
          </p:cNvPr>
          <p:cNvSpPr/>
          <p:nvPr/>
        </p:nvSpPr>
        <p:spPr>
          <a:xfrm>
            <a:off x="457200" y="3753612"/>
            <a:ext cx="11338560" cy="2326487"/>
          </a:xfrm>
          <a:prstGeom prst="roundRect">
            <a:avLst>
              <a:gd name="adj" fmla="val 16667"/>
            </a:avLst>
          </a:prstGeom>
          <a:solidFill>
            <a:srgbClr val="FFFAF5"/>
          </a:solidFill>
          <a:ln>
            <a:solidFill>
              <a:srgbClr val="C896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0" name="TextBox 11">
            <a:extLst>
              <a:ext uri="{FF2B5EF4-FFF2-40B4-BE49-F238E27FC236}">
                <a16:creationId xmlns:a16="http://schemas.microsoft.com/office/drawing/2014/main" id="{914429AD-B43B-F92D-01A8-54720D741E1F}"/>
              </a:ext>
            </a:extLst>
          </p:cNvPr>
          <p:cNvSpPr txBox="1"/>
          <p:nvPr/>
        </p:nvSpPr>
        <p:spPr>
          <a:xfrm>
            <a:off x="640080" y="3845052"/>
            <a:ext cx="109728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defRPr sz="1600" b="1">
                <a:solidFill>
                  <a:srgbClr val="B4783C"/>
                </a:solidFill>
              </a:defRPr>
            </a:pPr>
            <a:r>
              <a:rPr lang="ko-KR" altLang="en-US" sz="20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도전 과제 &amp; 해결 과정</a:t>
            </a:r>
          </a:p>
        </p:txBody>
      </p:sp>
      <p:sp>
        <p:nvSpPr>
          <p:cNvPr id="36" name="TextBox 12">
            <a:extLst>
              <a:ext uri="{FF2B5EF4-FFF2-40B4-BE49-F238E27FC236}">
                <a16:creationId xmlns:a16="http://schemas.microsoft.com/office/drawing/2014/main" id="{A43CB1A7-F9D7-3256-7690-2A83632864FA}"/>
              </a:ext>
            </a:extLst>
          </p:cNvPr>
          <p:cNvSpPr txBox="1"/>
          <p:nvPr/>
        </p:nvSpPr>
        <p:spPr>
          <a:xfrm>
            <a:off x="640080" y="4302252"/>
            <a:ext cx="530352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defRPr sz="1200" b="1">
                <a:solidFill>
                  <a:srgbClr val="333333"/>
                </a:solidFill>
              </a:defRPr>
            </a:pPr>
            <a:r>
              <a:rPr lang="ko-KR" altLang="en-US" sz="1600" dirty="0"/>
              <a:t>도전 과제</a:t>
            </a:r>
          </a:p>
        </p:txBody>
      </p:sp>
      <p:sp>
        <p:nvSpPr>
          <p:cNvPr id="37" name="TextBox 13">
            <a:extLst>
              <a:ext uri="{FF2B5EF4-FFF2-40B4-BE49-F238E27FC236}">
                <a16:creationId xmlns:a16="http://schemas.microsoft.com/office/drawing/2014/main" id="{B03EF8AF-CD83-391C-50FE-27BBCB1E24A7}"/>
              </a:ext>
            </a:extLst>
          </p:cNvPr>
          <p:cNvSpPr txBox="1"/>
          <p:nvPr/>
        </p:nvSpPr>
        <p:spPr>
          <a:xfrm>
            <a:off x="640080" y="4576572"/>
            <a:ext cx="5303520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▸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과제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1: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복합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센서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예외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조건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(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속도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오류+충돌+핸들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동시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입력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)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처리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시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상태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충돌</a:t>
            </a:r>
            <a:endParaRPr sz="1400" b="0" dirty="0">
              <a:solidFill>
                <a:srgbClr val="1A1A2E"/>
              </a:solidFill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  <a:p>
            <a:pPr lvl="0">
              <a:defRPr/>
            </a:pP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▸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과제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2: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단위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테스트로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검증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어려운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시스템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수준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통합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시나리오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구축</a:t>
            </a:r>
            <a:endParaRPr sz="1400" b="0" dirty="0">
              <a:solidFill>
                <a:srgbClr val="1A1A2E"/>
              </a:solidFill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  <a:p>
            <a:pPr lvl="0">
              <a:defRPr/>
            </a:pP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▸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과제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3: Door ECU ACK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미수신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상황의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재전송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/Fail-Safe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로직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복잡성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증가</a:t>
            </a:r>
            <a:endParaRPr sz="1400" b="0" dirty="0">
              <a:solidFill>
                <a:srgbClr val="1A1A2E"/>
              </a:solidFill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38" name="TextBox 14">
            <a:extLst>
              <a:ext uri="{FF2B5EF4-FFF2-40B4-BE49-F238E27FC236}">
                <a16:creationId xmlns:a16="http://schemas.microsoft.com/office/drawing/2014/main" id="{B5D4A84D-E7F6-809B-D5B9-2A5AEF5E9546}"/>
              </a:ext>
            </a:extLst>
          </p:cNvPr>
          <p:cNvSpPr txBox="1"/>
          <p:nvPr/>
        </p:nvSpPr>
        <p:spPr>
          <a:xfrm>
            <a:off x="6126480" y="4302252"/>
            <a:ext cx="530352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defRPr sz="1200" b="1">
                <a:solidFill>
                  <a:srgbClr val="333333"/>
                </a:solidFill>
              </a:defRPr>
            </a:pPr>
            <a:r>
              <a:rPr lang="ko-KR" altLang="en-US" sz="1600" dirty="0"/>
              <a:t>해결 방법</a:t>
            </a:r>
          </a:p>
        </p:txBody>
      </p:sp>
      <p:sp>
        <p:nvSpPr>
          <p:cNvPr id="39" name="TextBox 15">
            <a:extLst>
              <a:ext uri="{FF2B5EF4-FFF2-40B4-BE49-F238E27FC236}">
                <a16:creationId xmlns:a16="http://schemas.microsoft.com/office/drawing/2014/main" id="{B9CAFD97-7961-3830-1E21-34AE7B36DBFF}"/>
              </a:ext>
            </a:extLst>
          </p:cNvPr>
          <p:cNvSpPr txBox="1"/>
          <p:nvPr/>
        </p:nvSpPr>
        <p:spPr>
          <a:xfrm>
            <a:off x="6126480" y="4576572"/>
            <a:ext cx="530352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▸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해결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1: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CrashSignal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&gt;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SensorFault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&gt;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DriverInput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&gt;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AutoLock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우선순위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Decision Table</a:t>
            </a:r>
            <a:endParaRPr lang="en-US" sz="1400" b="0" dirty="0">
              <a:solidFill>
                <a:srgbClr val="1A1A2E"/>
              </a:solidFill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  <a:p>
            <a:pPr lvl="0">
              <a:defRPr/>
            </a:pP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▸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해결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2: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GTest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Mock으로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ECU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미응답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/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센서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고장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시나리오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Fault Injection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자동화</a:t>
            </a:r>
            <a:endParaRPr sz="1400" b="0" dirty="0">
              <a:solidFill>
                <a:srgbClr val="1A1A2E"/>
              </a:solidFill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  <a:p>
            <a:pPr lvl="0">
              <a:defRPr/>
            </a:pP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▸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해결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3: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상태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전이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다이어그램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(State Diagram)을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코드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구조에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1:1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대응시켜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가독성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확보</a:t>
            </a:r>
            <a:endParaRPr sz="1400" b="0" dirty="0">
              <a:solidFill>
                <a:srgbClr val="1A1A2E"/>
              </a:solidFill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12" name="TextBox 2">
            <a:extLst>
              <a:ext uri="{FF2B5EF4-FFF2-40B4-BE49-F238E27FC236}">
                <a16:creationId xmlns:a16="http://schemas.microsoft.com/office/drawing/2014/main" id="{A9D2B8A8-E667-CA08-41BC-CB989C525451}"/>
              </a:ext>
            </a:extLst>
          </p:cNvPr>
          <p:cNvSpPr txBox="1"/>
          <p:nvPr/>
        </p:nvSpPr>
        <p:spPr>
          <a:xfrm>
            <a:off x="91440" y="163931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defRPr sz="2400" b="1">
                <a:solidFill>
                  <a:srgbClr val="FFFFFF"/>
                </a:solidFill>
              </a:defRPr>
            </a:pPr>
            <a:r>
              <a:rPr lang="ko-KR" altLang="en-US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07. 학습 내용 &amp; 교훈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rPr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08. </a:t>
            </a:r>
            <a:r>
              <a:rPr dirty="0" err="1">
                <a:latin typeface="현대하모니 M" panose="02020603020101020101" pitchFamily="18" charset="-127"/>
                <a:ea typeface="현대하모니 M" panose="02020603020101020101" pitchFamily="18" charset="-127"/>
              </a:rPr>
              <a:t>향후</a:t>
            </a:r>
            <a:r>
              <a:rPr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dirty="0" err="1">
                <a:latin typeface="현대하모니 M" panose="02020603020101020101" pitchFamily="18" charset="-127"/>
                <a:ea typeface="현대하모니 M" panose="02020603020101020101" pitchFamily="18" charset="-127"/>
              </a:rPr>
              <a:t>계획</a:t>
            </a:r>
            <a:endParaRPr dirty="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0" y="731520"/>
            <a:ext cx="12188952" cy="45720"/>
          </a:xfrm>
          <a:prstGeom prst="rect">
            <a:avLst/>
          </a:prstGeom>
          <a:solidFill>
            <a:srgbClr val="FF6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457200" y="4114800"/>
            <a:ext cx="5486400" cy="2194560"/>
          </a:xfrm>
          <a:prstGeom prst="roundRect">
            <a:avLst/>
          </a:prstGeom>
          <a:solidFill>
            <a:srgbClr val="F0FFF0"/>
          </a:solidFill>
          <a:ln>
            <a:solidFill>
              <a:srgbClr val="64B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0080" y="4206240"/>
            <a:ext cx="512064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C8C3C"/>
                </a:solidFill>
              </a:defRPr>
            </a:pPr>
            <a:r>
              <a:rPr sz="2000" dirty="0" err="1">
                <a:latin typeface="현대하모니 M" panose="02020603020101020101" pitchFamily="18" charset="-127"/>
                <a:ea typeface="현대하모니 M" panose="02020603020101020101" pitchFamily="18" charset="-127"/>
              </a:rPr>
              <a:t>실무</a:t>
            </a:r>
            <a:r>
              <a:rPr sz="20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2000" dirty="0" err="1">
                <a:latin typeface="현대하모니 M" panose="02020603020101020101" pitchFamily="18" charset="-127"/>
                <a:ea typeface="현대하모니 M" panose="02020603020101020101" pitchFamily="18" charset="-127"/>
              </a:rPr>
              <a:t>적용</a:t>
            </a:r>
            <a:r>
              <a:rPr sz="20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2000" dirty="0" err="1">
                <a:latin typeface="현대하모니 M" panose="02020603020101020101" pitchFamily="18" charset="-127"/>
                <a:ea typeface="현대하모니 M" panose="02020603020101020101" pitchFamily="18" charset="-127"/>
              </a:rPr>
              <a:t>가능성</a:t>
            </a:r>
            <a:endParaRPr sz="2000" dirty="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640080" y="4663440"/>
            <a:ext cx="5120640" cy="12926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dirty="0" err="1">
                <a:solidFill>
                  <a:srgbClr val="00357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현대모비스</a:t>
            </a:r>
            <a:r>
              <a:rPr b="1" dirty="0">
                <a:solidFill>
                  <a:srgbClr val="00357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b="1" dirty="0" err="1">
                <a:solidFill>
                  <a:srgbClr val="00357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차세대</a:t>
            </a:r>
            <a:r>
              <a:rPr b="1" dirty="0">
                <a:solidFill>
                  <a:srgbClr val="00357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b="1" dirty="0" err="1">
                <a:solidFill>
                  <a:srgbClr val="00357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통합</a:t>
            </a:r>
            <a:r>
              <a:rPr b="1" dirty="0">
                <a:solidFill>
                  <a:srgbClr val="00357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b="1" dirty="0" err="1">
                <a:solidFill>
                  <a:srgbClr val="00357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하차</a:t>
            </a:r>
            <a:r>
              <a:rPr b="1" dirty="0">
                <a:solidFill>
                  <a:srgbClr val="00357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b="1" dirty="0" err="1">
                <a:solidFill>
                  <a:srgbClr val="00357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안전</a:t>
            </a:r>
            <a:r>
              <a:rPr b="1" dirty="0">
                <a:solidFill>
                  <a:srgbClr val="00357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b="1" dirty="0" err="1">
                <a:solidFill>
                  <a:srgbClr val="00357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제어기</a:t>
            </a:r>
            <a:r>
              <a:rPr b="1" dirty="0">
                <a:solidFill>
                  <a:srgbClr val="00357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b="1" dirty="0" err="1">
                <a:solidFill>
                  <a:srgbClr val="00357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모듈</a:t>
            </a:r>
            <a:r>
              <a:rPr b="1" dirty="0">
                <a:solidFill>
                  <a:srgbClr val="00357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b="1" dirty="0" err="1">
                <a:solidFill>
                  <a:srgbClr val="00357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적용</a:t>
            </a:r>
            <a:r>
              <a:rPr b="1" dirty="0">
                <a:solidFill>
                  <a:srgbClr val="00357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endParaRPr lang="en-US" b="1" dirty="0">
              <a:solidFill>
                <a:srgbClr val="00357E"/>
              </a:solidFill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  <a:p>
            <a:endParaRPr b="1" dirty="0">
              <a:solidFill>
                <a:srgbClr val="00357E"/>
              </a:solidFill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  <a:p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•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기존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기계식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차일드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락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대체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→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비용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절감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+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안전성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향상</a:t>
            </a:r>
            <a:endParaRPr sz="1400" b="0" dirty="0">
              <a:solidFill>
                <a:srgbClr val="1A1A2E"/>
              </a:solidFill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  <a:p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• ASIL B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인증으로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글로벌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완성차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OEM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납품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가능</a:t>
            </a:r>
            <a:endParaRPr sz="1400" b="0" dirty="0">
              <a:solidFill>
                <a:srgbClr val="1A1A2E"/>
              </a:solidFill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  <a:p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• V2X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연동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확장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시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원격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잠금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/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해제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상업화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가능</a:t>
            </a:r>
            <a:endParaRPr sz="1400" b="0" dirty="0">
              <a:solidFill>
                <a:srgbClr val="1A1A2E"/>
              </a:solidFill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6126480" y="4114800"/>
            <a:ext cx="5669280" cy="2194560"/>
          </a:xfrm>
          <a:prstGeom prst="roundRect">
            <a:avLst/>
          </a:prstGeom>
          <a:solidFill>
            <a:srgbClr val="F8F8FF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309360" y="4206240"/>
            <a:ext cx="530352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3366"/>
                </a:solidFill>
              </a:defRPr>
            </a:pPr>
            <a:r>
              <a:rPr sz="2000" dirty="0" err="1">
                <a:latin typeface="현대하모니 M" panose="02020603020101020101" pitchFamily="18" charset="-127"/>
                <a:ea typeface="현대하모니 M" panose="02020603020101020101" pitchFamily="18" charset="-127"/>
              </a:rPr>
              <a:t>추가</a:t>
            </a:r>
            <a:r>
              <a:rPr sz="20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2000" dirty="0" err="1">
                <a:latin typeface="현대하모니 M" panose="02020603020101020101" pitchFamily="18" charset="-127"/>
                <a:ea typeface="현대하모니 M" panose="02020603020101020101" pitchFamily="18" charset="-127"/>
              </a:rPr>
              <a:t>개발</a:t>
            </a:r>
            <a:r>
              <a:rPr sz="20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2000" dirty="0" err="1">
                <a:latin typeface="현대하모니 M" panose="02020603020101020101" pitchFamily="18" charset="-127"/>
                <a:ea typeface="현대하모니 M" panose="02020603020101020101" pitchFamily="18" charset="-127"/>
              </a:rPr>
              <a:t>아이디어</a:t>
            </a:r>
            <a:endParaRPr sz="2000" dirty="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6309360" y="4663440"/>
            <a:ext cx="530352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 dirty="0">
                <a:solidFill>
                  <a:srgbClr val="005BB5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💡 </a:t>
            </a:r>
            <a:r>
              <a:rPr sz="1600" b="1" dirty="0" err="1">
                <a:solidFill>
                  <a:srgbClr val="005BB5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아이디어</a:t>
            </a:r>
            <a:r>
              <a:rPr sz="1600" b="1" dirty="0">
                <a:solidFill>
                  <a:srgbClr val="005BB5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1: BLE </a:t>
            </a:r>
            <a:r>
              <a:rPr sz="1600" b="1" dirty="0" err="1">
                <a:solidFill>
                  <a:srgbClr val="005BB5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스마트폰</a:t>
            </a:r>
            <a:r>
              <a:rPr sz="1600" b="1" dirty="0">
                <a:solidFill>
                  <a:srgbClr val="005BB5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앱 </a:t>
            </a:r>
            <a:r>
              <a:rPr sz="1600" b="1" dirty="0" err="1">
                <a:solidFill>
                  <a:srgbClr val="005BB5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연동</a:t>
            </a:r>
            <a:r>
              <a:rPr sz="1600" b="1" dirty="0">
                <a:solidFill>
                  <a:srgbClr val="005BB5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600" b="1" dirty="0" err="1">
                <a:solidFill>
                  <a:srgbClr val="005BB5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강제</a:t>
            </a:r>
            <a:r>
              <a:rPr sz="1600" b="1" dirty="0">
                <a:solidFill>
                  <a:srgbClr val="005BB5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600" b="1" dirty="0" err="1">
                <a:solidFill>
                  <a:srgbClr val="005BB5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오버라이드</a:t>
            </a:r>
            <a:endParaRPr sz="1600" b="1" dirty="0">
              <a:solidFill>
                <a:srgbClr val="005BB5"/>
              </a:solidFill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  <a:p>
            <a:r>
              <a:rPr sz="12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  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•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부모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앱에서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원격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잠금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/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해제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+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긴급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해제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알림</a:t>
            </a:r>
            <a:endParaRPr sz="1400" b="0" dirty="0">
              <a:solidFill>
                <a:srgbClr val="1A1A2E"/>
              </a:solidFill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  <a:p>
            <a:r>
              <a:rPr sz="1600" b="1" dirty="0">
                <a:solidFill>
                  <a:srgbClr val="005BB5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💡 </a:t>
            </a:r>
            <a:r>
              <a:rPr sz="1600" b="1" dirty="0" err="1">
                <a:solidFill>
                  <a:srgbClr val="005BB5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아이디어</a:t>
            </a:r>
            <a:r>
              <a:rPr sz="1600" b="1" dirty="0">
                <a:solidFill>
                  <a:srgbClr val="005BB5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2: AI </a:t>
            </a:r>
            <a:r>
              <a:rPr sz="1600" b="1" dirty="0" err="1">
                <a:solidFill>
                  <a:srgbClr val="005BB5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기반</a:t>
            </a:r>
            <a:r>
              <a:rPr sz="1600" b="1" dirty="0">
                <a:solidFill>
                  <a:srgbClr val="005BB5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600" b="1" dirty="0" err="1">
                <a:solidFill>
                  <a:srgbClr val="005BB5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영유아</a:t>
            </a:r>
            <a:r>
              <a:rPr sz="1600" b="1" dirty="0">
                <a:solidFill>
                  <a:srgbClr val="005BB5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600" b="1" dirty="0" err="1">
                <a:solidFill>
                  <a:srgbClr val="005BB5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방치</a:t>
            </a:r>
            <a:r>
              <a:rPr sz="1600" b="1" dirty="0">
                <a:solidFill>
                  <a:srgbClr val="005BB5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600" b="1" dirty="0" err="1">
                <a:solidFill>
                  <a:srgbClr val="005BB5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감지</a:t>
            </a:r>
            <a:endParaRPr sz="1600" b="1" dirty="0">
              <a:solidFill>
                <a:srgbClr val="005BB5"/>
              </a:solidFill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  <a:p>
            <a:r>
              <a:rPr sz="12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  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•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좌석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점유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+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온도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+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시간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복합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분석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→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방치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사고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예방</a:t>
            </a:r>
            <a:endParaRPr sz="1400" b="0" dirty="0">
              <a:solidFill>
                <a:srgbClr val="1A1A2E"/>
              </a:solidFill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  <a:p>
            <a:r>
              <a:rPr sz="1600" b="1" dirty="0">
                <a:solidFill>
                  <a:srgbClr val="005BB5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💡 </a:t>
            </a:r>
            <a:r>
              <a:rPr sz="1600" b="1" dirty="0" err="1">
                <a:solidFill>
                  <a:srgbClr val="005BB5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아이디어</a:t>
            </a:r>
            <a:r>
              <a:rPr sz="1600" b="1" dirty="0">
                <a:solidFill>
                  <a:srgbClr val="005BB5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3: OTA </a:t>
            </a:r>
            <a:r>
              <a:rPr sz="1600" b="1" dirty="0" err="1">
                <a:solidFill>
                  <a:srgbClr val="005BB5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업데이트로</a:t>
            </a:r>
            <a:r>
              <a:rPr sz="1600" b="1" dirty="0">
                <a:solidFill>
                  <a:srgbClr val="005BB5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600" b="1" dirty="0" err="1">
                <a:solidFill>
                  <a:srgbClr val="005BB5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임계값</a:t>
            </a:r>
            <a:r>
              <a:rPr sz="1600" b="1" dirty="0">
                <a:solidFill>
                  <a:srgbClr val="005BB5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600" b="1" dirty="0" err="1">
                <a:solidFill>
                  <a:srgbClr val="005BB5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동적</a:t>
            </a:r>
            <a:r>
              <a:rPr sz="1600" b="1" dirty="0">
                <a:solidFill>
                  <a:srgbClr val="005BB5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600" b="1" dirty="0" err="1">
                <a:solidFill>
                  <a:srgbClr val="005BB5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조정</a:t>
            </a:r>
            <a:endParaRPr sz="1600" b="1" dirty="0">
              <a:solidFill>
                <a:srgbClr val="005BB5"/>
              </a:solidFill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  <a:p>
            <a:r>
              <a:rPr sz="12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  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• Safety Goal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변경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없이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파라미터</a:t>
            </a:r>
            <a:r>
              <a:rPr lang="en-US"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lang="ko-KR" altLang="en-US"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업데이트</a:t>
            </a:r>
            <a:endParaRPr sz="1200" b="0" dirty="0">
              <a:solidFill>
                <a:srgbClr val="1A1A2E"/>
              </a:solidFill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457200" y="6583680"/>
            <a:ext cx="109728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</a:defRPr>
            </a:pPr>
            <a:r>
              <a:rPr dirty="0">
                <a:latin typeface="현대하모니 L" panose="02020603020101020101" pitchFamily="18" charset="-127"/>
                <a:ea typeface="현대하모니 L" panose="02020603020101020101" pitchFamily="18" charset="-127"/>
              </a:rPr>
              <a:t>MOBIUS BOOTCAMP 1기 | PBL </a:t>
            </a:r>
            <a:r>
              <a:rPr dirty="0" err="1">
                <a:latin typeface="현대하모니 L" panose="02020603020101020101" pitchFamily="18" charset="-127"/>
                <a:ea typeface="현대하모니 L" panose="02020603020101020101" pitchFamily="18" charset="-127"/>
              </a:rPr>
              <a:t>결과발표</a:t>
            </a:r>
            <a:r>
              <a:rPr dirty="0">
                <a:latin typeface="현대하모니 L" panose="02020603020101020101" pitchFamily="18" charset="-127"/>
                <a:ea typeface="현대하모니 L" panose="02020603020101020101" pitchFamily="18" charset="-127"/>
              </a:rPr>
              <a:t> | 9/10</a:t>
            </a:r>
          </a:p>
        </p:txBody>
      </p:sp>
      <p:pic>
        <p:nvPicPr>
          <p:cNvPr id="27" name="그림 26">
            <a:extLst>
              <a:ext uri="{FF2B5EF4-FFF2-40B4-BE49-F238E27FC236}">
                <a16:creationId xmlns:a16="http://schemas.microsoft.com/office/drawing/2014/main" id="{6553A7E9-E2B9-D002-D7D6-2AFAFAB84D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060" y="863225"/>
            <a:ext cx="11427700" cy="3165697"/>
          </a:xfrm>
          <a:prstGeom prst="rect">
            <a:avLst/>
          </a:prstGeom>
        </p:spPr>
      </p:pic>
      <p:sp>
        <p:nvSpPr>
          <p:cNvPr id="28" name="AutoShape 2" descr="🚘">
            <a:extLst>
              <a:ext uri="{FF2B5EF4-FFF2-40B4-BE49-F238E27FC236}">
                <a16:creationId xmlns:a16="http://schemas.microsoft.com/office/drawing/2014/main" id="{6186E44D-AE64-2AB1-2AD4-801C1C2138D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2013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0" name="AutoShape 6" descr="🚘">
            <a:extLst>
              <a:ext uri="{FF2B5EF4-FFF2-40B4-BE49-F238E27FC236}">
                <a16:creationId xmlns:a16="http://schemas.microsoft.com/office/drawing/2014/main" id="{1A71D790-1288-3B46-DA90-826AB12E835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4413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-1828800" y="-1828800"/>
            <a:ext cx="5486400" cy="5486400"/>
          </a:xfrm>
          <a:prstGeom prst="ellipse">
            <a:avLst/>
          </a:prstGeom>
          <a:solidFill>
            <a:srgbClr val="003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9144000" y="3657600"/>
            <a:ext cx="4572000" cy="4572000"/>
          </a:xfrm>
          <a:prstGeom prst="ellipse">
            <a:avLst/>
          </a:prstGeom>
          <a:solidFill>
            <a:srgbClr val="003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0" y="2286000"/>
            <a:ext cx="1218895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200" b="1">
                <a:solidFill>
                  <a:srgbClr val="FFFFFF"/>
                </a:solidFill>
              </a:defRPr>
            </a:pPr>
            <a:r>
              <a:rPr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Q &amp;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3474720"/>
            <a:ext cx="1218895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B4C8DC"/>
                </a:solidFill>
              </a:defRPr>
            </a:pPr>
            <a:r>
              <a:rPr sz="3200" dirty="0" err="1">
                <a:solidFill>
                  <a:schemeClr val="bg1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질문과</a:t>
            </a:r>
            <a:r>
              <a:rPr sz="3200" dirty="0">
                <a:solidFill>
                  <a:schemeClr val="bg1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3200" dirty="0" err="1">
                <a:solidFill>
                  <a:schemeClr val="bg1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답변</a:t>
            </a:r>
            <a:endParaRPr sz="3200" dirty="0">
              <a:solidFill>
                <a:schemeClr val="bg1"/>
              </a:solidFill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0" y="5029200"/>
            <a:ext cx="121889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rPr lang="ko-KR" altLang="en-US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팀 </a:t>
            </a:r>
            <a:r>
              <a:rPr dirty="0" err="1">
                <a:latin typeface="현대하모니 M" panose="02020603020101020101" pitchFamily="18" charset="-127"/>
                <a:ea typeface="현대하모니 M" panose="02020603020101020101" pitchFamily="18" charset="-127"/>
              </a:rPr>
              <a:t>전차</a:t>
            </a:r>
            <a:r>
              <a:rPr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5486400"/>
            <a:ext cx="1218895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B4C8DC"/>
                </a:solidFill>
              </a:defRPr>
            </a:pPr>
            <a:r>
              <a:rPr dirty="0" err="1">
                <a:latin typeface="현대하모니 M" panose="02020603020101020101" pitchFamily="18" charset="-127"/>
                <a:ea typeface="현대하모니 M" panose="02020603020101020101" pitchFamily="18" charset="-127"/>
              </a:rPr>
              <a:t>감사합니다</a:t>
            </a:r>
            <a:endParaRPr dirty="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0" y="6217920"/>
            <a:ext cx="1218895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6AABE"/>
                </a:solidFill>
              </a:defRPr>
            </a:pPr>
            <a:r>
              <a:rPr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MOBIUS BOOTCAMP 1기 | </a:t>
            </a:r>
            <a:r>
              <a:rPr dirty="0" err="1">
                <a:latin typeface="현대하모니 M" panose="02020603020101020101" pitchFamily="18" charset="-127"/>
                <a:ea typeface="현대하모니 M" panose="02020603020101020101" pitchFamily="18" charset="-127"/>
              </a:rPr>
              <a:t>현대모비스</a:t>
            </a:r>
            <a:r>
              <a:rPr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 x LIKELION</a:t>
            </a:r>
          </a:p>
        </p:txBody>
      </p:sp>
    </p:spTree>
  </p:cSld>
  <p:clrMapOvr>
    <a:masterClrMapping/>
  </p:clrMapOvr>
</p:sld>
</file>

<file path=ppt/theme/theme1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/>
      <a:bodyPr/>
      <a:lstStyle/>
    </a:txDef>
  </a:objectDefaults>
</a:theme>
</file>

<file path=docProps/app.xml><?xml version="1.0" encoding="utf-8"?>
<ep:Properties xmlns:r="http://schemas.openxmlformats.org/officeDocument/2006/relationships" xmlns:ep="http://schemas.openxmlformats.org/officeDocument/2006/extended-properties" xmlns:vt="http://schemas.openxmlformats.org/officeDocument/2006/docPropsVTypes">
  <ep:Manager/>
  <ep:Company/>
  <ep:Words>1193</ep:Words>
  <ep:PresentationFormat>사용자 지정</ep:PresentationFormat>
  <ep:Paragraphs>461</ep:Paragraphs>
  <ep:Slides>11</ep:Slides>
  <ep:Notes>0</ep:Notes>
  <ep:TotalTime>0</ep:TotalTime>
  <ep:HiddenSlides>0</ep:HiddenSlides>
  <ep:MMClips>0</ep:MMClips>
  <ep: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11</vt:i4>
      </vt:variant>
    </vt:vector>
  </ep:HeadingPairs>
  <ep:TitlesOfParts>
    <vt:vector size="12" baseType="lpstr">
      <vt:lpstr>Office Theme</vt:lpstr>
      <vt:lpstr>슬라이드 1</vt:lpstr>
      <vt:lpstr>슬라이드 2</vt:lpstr>
      <vt:lpstr>슬라이드 3</vt:lpstr>
      <vt:lpstr>슬라이드 4</vt:lpstr>
      <vt:lpstr>슬라이드 5</vt:lpstr>
      <vt:lpstr>슬라이드 6</vt:lpstr>
      <vt:lpstr>슬라이드 7</vt:lpstr>
      <vt:lpstr>슬라이드 8</vt:lpstr>
      <vt:lpstr>슬라이드 9</vt:lpstr>
      <vt:lpstr>슬라이드 10</vt:lpstr>
      <vt:lpstr>슬라이드 11</vt:lpstr>
    </vt:vector>
  </ep:TitlesOfParts>
  <ep:HyperlinkBase/>
  <ep:Application>Show</ep:Application>
  <ep:AppVersion>12.0000</ep:AppVersion>
</ep:Properties>
</file>

<file path=docProps/core.xml><?xml version="1.0" encoding="utf-8"?>
<cp:coreProperties xmlns:r="http://schemas.openxmlformats.org/officeDocument/2006/relationships"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2013-01-27T09:14:16.000</dcterms:created>
  <dc:creator>박기준</dc:creator>
  <dc:description>generated using python-pptx</dc:description>
  <cp:lastModifiedBy>fish0</cp:lastModifiedBy>
  <dcterms:modified xsi:type="dcterms:W3CDTF">2026-03-22T23:52:39.631</dcterms:modified>
  <cp:revision>133</cp:revision>
  <cp:version/>
</cp:coreProperties>
</file>

<file path=docProps/custom.xml><?xml version="1.0" encoding="utf-8"?>
<cfp:Properties xmlns:r="http://schemas.openxmlformats.org/officeDocument/2006/relationships" xmlns:cfp="http://schemas.openxmlformats.org/officeDocument/2006/custom-properties" xmlns:vt="http://schemas.openxmlformats.org/officeDocument/2006/docPropsVTypes"/>
</file>