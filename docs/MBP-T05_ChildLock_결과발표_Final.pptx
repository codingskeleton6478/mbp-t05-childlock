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9144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MOBIUS BOOTCAMP 1기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PBL 결과발표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3366"/>
                </a:solidFill>
              </a:defRPr>
            </a:pPr>
            <a:r>
              <a:t>ISO 26262 기반 소프트웨어 V-모델 V&amp;V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08080"/>
                </a:solidFill>
              </a:defRPr>
            </a:pPr>
            <a:r>
              <a:t>ISO 26262 및 A-SPICE 기반 프로세스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3333"/>
                </a:solidFill>
              </a:defRPr>
            </a:pPr>
            <a: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33333"/>
                </a:solidFill>
              </a:defRPr>
            </a:pPr>
            <a:r>
              <a:t>전자식 차일드 락 시스템 (MBP-T05)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80"/>
                </a:solidFill>
              </a:defRPr>
            </a:pPr>
            <a:r>
              <a:t>2026. 03. 22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217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현대모비스 x LIKELION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01. 팀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2588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6052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9516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5440" y="1371600"/>
            <a:ext cx="256032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29800" y="1645920"/>
            <a:ext cx="1371600" cy="1371600"/>
          </a:xfrm>
          <a:prstGeom prst="ellipse">
            <a:avLst/>
          </a:prstGeom>
          <a:solidFill>
            <a:srgbClr val="DCDCDC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2/10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024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이한결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@hangyeoli  |  프로젝트 메인테이너 &amp; F-01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8872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0312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F-01 InputMonitorAndValidator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전체 Issues 생성 관리 (Issue #4~#13)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CMake 빌드 구성 (PR#17)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" y="2953512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Scope Fix &amp; CTest (PR#26)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86783" y="1207008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5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김이안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59935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@iank1m  |  상태 결정 로직 개발자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86783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78223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F-02 ChildLockStateDecision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96511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차일드락 핵심 상태 전이 로직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6511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단독 구현 (PR#14)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6511" y="2953512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ISO 26262 ASIL 설계 반영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54696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1261872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박찬석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7848" y="1609344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@p-chanseok  |  TDD 기반 제어 로직 개발자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54696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46136" y="1984248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F-03 DoorEcuCommandHandler
F-04 RearDoorOpenBlockHandler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4423" y="244144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TDD 방식 Door ECU 제어 (PR#23)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4423" y="2697480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69/69 테스트 케이스 통과 (PR#22)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8872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이승욱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2024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@josephuk77  |  상태 유지 &amp; 알림 개발자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8872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0312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F-05 StatePersistenceManager
F-10 IgnitionOffStatusAlert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상태 저장/복구 및 시동 OFF 알림 (PR#19, #20)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UML 다이어그램 문서화 (Issue#1/PR#2)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86783" y="3648456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59935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김도균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59935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@codingSkeleton6478  |  HMI &amp; 좌석 알림 개발자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86783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78223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357E"/>
                </a:solidFill>
                <a:latin typeface="Malgun Gothic"/>
              </a:rPr>
              <a:t>F-06 HmiAndEventLogger
F-09 RearSeatOccupancyAlert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96511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경고/알림 HMI 출력 로직 (PR#24)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96511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이벤트 로거 구현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54696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27848" y="3703320"/>
            <a:ext cx="360273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algun Gothic"/>
              </a:rPr>
              <a:t>박기준 (팀장)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27848" y="4050792"/>
            <a:ext cx="360273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CE5FF"/>
                </a:solidFill>
                <a:latin typeface="Malgun Gothic"/>
              </a:rPr>
              <a:t>@PKJthecreator  |  PM &amp; Safety 모듈 개발자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54696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6136" y="4425696"/>
            <a:ext cx="35661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5BB5"/>
                </a:solidFill>
                <a:latin typeface="Malgun Gothic"/>
              </a:rPr>
              <a:t>F-07 RearRiskEvaluation
F-08 RearRiskProtectionController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64423" y="4882896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후방 위험 평가/보호 핵심 ASIL B 로직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64423" y="5138928"/>
            <a:ext cx="35295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algun Gothic"/>
              </a:rPr>
              <a:t>• (PR#15, PR#16) + PM 총괄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02. 문제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560320"/>
          </a:xfrm>
          <a:prstGeom prst="roundRect">
            <a:avLst/>
          </a:prstGeom>
          <a:solidFill>
            <a:srgbClr val="FFF0F0"/>
          </a:solidFill>
          <a:ln>
            <a:solidFill>
              <a:srgbClr val="C8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3C3C"/>
                </a:solidFill>
              </a:defRPr>
            </a:pPr>
            <a:r>
              <a:t>AS-IS (현재 문제점)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문제점 1: 기계식 차일드 락의 운전자 직접 제어 불편함 및 확인 어려움
문제점 2: 보호자가 뒷좌석 상황을 인지하지 못한 상태에서 문 열림 시 사고 위험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2160" y="2194560"/>
            <a:ext cx="548640" cy="4572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303520" cy="256032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C8C3C"/>
                </a:solidFill>
              </a:defRPr>
            </a:pPr>
            <a:r>
              <a:t>TO-BE (목표 상태)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목표 1: 뒷좌석 통합 전자 제어(운전석 제어) 도입을 통한 편의성 개선
목표 2: 후방 레이더 연동 스마트 하차 안전 보조(FG-02) 기능 도입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11338560" cy="228600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핵심 연구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ISO 26262 기능 안전을 준수하면서, 승객의 편의성과 하차 안전을 모두 충족하는 지능형 시스템을 어떻게 구현·검증할 것인가?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03. 솔루션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13716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지능형 센서 및 차량 상태 연동 제어 기반의 통합 하차 안전 솔루션 (FG-01 / FG-02)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C8DC"/>
                </a:solidFill>
              </a:defRPr>
            </a:pPr>
            <a:r>
              <a:t>C/C++ 기반 ISO 26262 및 FMEA/HAZOP 상위 기능 안전 분석 적용 모듈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3566160" cy="3291840"/>
          </a:xfrm>
          <a:prstGeom prst="roundRect">
            <a:avLst/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FG-01: 도어 잠금 및 해제 제어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속도, 충돌, 스위치 연동 로직 적용 및 직전 상태 복구(Safe State) 제어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566160" cy="3291840"/>
          </a:xfrm>
          <a:prstGeom prst="roundRect">
            <a:avLst/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FG-02: 하차 안전 보조 제어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후방 위험 판단 시 자동 잠금 유지 및 뒷좌석 점유/출발 상태 전환 시 운전자 알림 연동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926080"/>
            <a:ext cx="3566160" cy="3291840"/>
          </a:xfrm>
          <a:prstGeom prst="roundRect">
            <a:avLst/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31546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Fail-Safe 설계 및 테스트 결함 주입 (Fault Injection)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80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FMEA/HAZOP 기반 요구사항 분석 적용 및 Fault Injection 시나리오 방어를 통한 Fail-Safe 설계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04. 기술 스택 &amp;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772400" cy="5029200"/>
          </a:xfrm>
          <a:prstGeom prst="roundRect">
            <a:avLst/>
          </a:prstGeom>
          <a:solidFill>
            <a:srgbClr val="FCFCFC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202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48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C11, C++17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7432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971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ISO 26262, ASPICE, V-Model 워크플로우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56616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Google Test, Cppcheck (단위 테스트 및 정적 분석)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891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617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GitHub Actions (CI 자동화), Draw.io (UML)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2120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t>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440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Ubuntu 22.04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5/10</a:t>
            </a:r>
          </a:p>
        </p:txBody>
      </p:sp>
      <p:pic>
        <p:nvPicPr>
          <p:cNvPr id="21" name="Picture 20" descr="childlock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784531" cy="457200"/>
          </a:xfrm>
          <a:prstGeom prst="rect">
            <a:avLst/>
          </a:prstGeom>
        </p:spPr>
      </p:pic>
      <p:pic>
        <p:nvPicPr>
          <p:cNvPr id="22" name="Picture 21" descr="childlock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749039"/>
            <a:ext cx="470719" cy="27432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114800" cy="41148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349240" y="1097280"/>
            <a:ext cx="36576" cy="5029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0680" y="1097280"/>
            <a:ext cx="3291840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40680" y="109728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🔷 Child Lock 상태 다이어그램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36537"/>
            <a:ext cx="3291840" cy="1918381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823960" y="1097280"/>
            <a:ext cx="3246120" cy="292608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109728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🔷 유스케이스 다이어그램 (Normal)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5477" y="1389888"/>
            <a:ext cx="1823085" cy="201168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440680" y="3474720"/>
            <a:ext cx="6629400" cy="292608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3474720"/>
            <a:ext cx="6629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⚙️  CI/CT 자동화 파이프라인 (GitHub Actions)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3813048"/>
            <a:ext cx="2157984" cy="51206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40680" y="3813048"/>
            <a:ext cx="36576" cy="51206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2120" y="3849624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357E"/>
                </a:solidFill>
                <a:latin typeface="Malgun Gothic"/>
              </a:rPr>
              <a:t>Static Analysis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069080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2E"/>
                </a:solidFill>
                <a:latin typeface="Malgun Gothic"/>
              </a:rPr>
              <a:t>Cppcheck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5240" y="3813048"/>
            <a:ext cx="2157984" cy="51206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35240" y="3813048"/>
            <a:ext cx="36576" cy="512064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6679" y="3849624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5BB5"/>
                </a:solidFill>
                <a:latin typeface="Malgun Gothic"/>
              </a:rPr>
              <a:t>Complexity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6679" y="4069080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2E"/>
                </a:solidFill>
                <a:latin typeface="Malgun Gothic"/>
              </a:rPr>
              <a:t>Lizard (≤10)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29800" y="3813048"/>
            <a:ext cx="2157984" cy="51206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29800" y="3813048"/>
            <a:ext cx="36576" cy="51206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21240" y="3849624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357E"/>
                </a:solidFill>
                <a:latin typeface="Malgun Gothic"/>
              </a:rPr>
              <a:t>Coverage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4069080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2E"/>
                </a:solidFill>
                <a:latin typeface="Malgun Gothic"/>
              </a:rPr>
              <a:t>lcov / gcov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40680" y="4361688"/>
            <a:ext cx="2157984" cy="51206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40680" y="4361688"/>
            <a:ext cx="36576" cy="512064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32120" y="4398264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5BB5"/>
                </a:solidFill>
                <a:latin typeface="Malgun Gothic"/>
              </a:rPr>
              <a:t>Code Metrics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4617720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2E"/>
                </a:solidFill>
                <a:latin typeface="Malgun Gothic"/>
              </a:rPr>
              <a:t>cloc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35240" y="4361688"/>
            <a:ext cx="2157984" cy="51206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4361688"/>
            <a:ext cx="36576" cy="51206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79" y="4398264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357E"/>
                </a:solidFill>
                <a:latin typeface="Malgun Gothic"/>
              </a:rPr>
              <a:t>Unit Test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26679" y="4617720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2E"/>
                </a:solidFill>
                <a:latin typeface="Malgun Gothic"/>
              </a:rPr>
              <a:t>GTest v1.17.0
(140 cases)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4361688"/>
            <a:ext cx="2157984" cy="51206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29800" y="4361688"/>
            <a:ext cx="36576" cy="512064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21240" y="4398264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05BB5"/>
                </a:solidFill>
                <a:latin typeface="Malgun Gothic"/>
              </a:rPr>
              <a:t>Build System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1240" y="4617720"/>
            <a:ext cx="20299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A1A2E"/>
                </a:solidFill>
                <a:latin typeface="Malgun Gothic"/>
              </a:rPr>
              <a:t>CMake + CTest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40680" y="4919472"/>
            <a:ext cx="6629400" cy="2743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0" y="4937760"/>
            <a:ext cx="6537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357E"/>
                </a:solidFill>
                <a:latin typeface="Malgun Gothic"/>
              </a:rPr>
              <a:t>📌 품질 기준: 함수 ≤80 lines  |  Dynamic Memory 금지  |  Defensive Programming  |  MISRA C/C++ 준수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05. 구현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2860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0" y="1188720"/>
            <a:ext cx="5303520" cy="22860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03520" cy="22860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0" y="3657600"/>
            <a:ext cx="5303520" cy="2286000"/>
          </a:xfrm>
          <a:prstGeom prst="roundRect">
            <a:avLst/>
          </a:prstGeom>
          <a:solidFill>
            <a:srgbClr val="F5F5F5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case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4937760" cy="5448563"/>
          </a:xfrm>
          <a:prstGeom prst="rect">
            <a:avLst/>
          </a:prstGeom>
        </p:spPr>
      </p:pic>
      <p:pic>
        <p:nvPicPr>
          <p:cNvPr id="19" name="Picture 18" descr="usecase_emerg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4937760" cy="3325568"/>
          </a:xfrm>
          <a:prstGeom prst="rect">
            <a:avLst/>
          </a:prstGeom>
        </p:spPr>
      </p:pic>
      <p:pic>
        <p:nvPicPr>
          <p:cNvPr id="20" name="Picture 19" descr="FG-01_door_contr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572000"/>
            <a:ext cx="4937760" cy="2737045"/>
          </a:xfrm>
          <a:prstGeom prst="rect">
            <a:avLst/>
          </a:prstGeom>
        </p:spPr>
      </p:pic>
      <p:pic>
        <p:nvPicPr>
          <p:cNvPr id="21" name="Picture 20" descr="FG-02_exit_safe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572000"/>
            <a:ext cx="4937760" cy="1783826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3657600" cy="41148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371600"/>
            <a:ext cx="3657600" cy="41148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440" y="1207008"/>
            <a:ext cx="594360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1243584"/>
            <a:ext cx="38633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algun Gothic"/>
              </a:rPr>
              <a:t>🔷 FG-01: 도어 잠금/해제 제어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0420" y="1261872"/>
            <a:ext cx="25557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CCE5FF"/>
                </a:solidFill>
                <a:latin typeface="Malgun Gothic"/>
              </a:rPr>
              <a:t>UC-1, 2, 3, 4 반영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5664" y="1536192"/>
            <a:ext cx="3695151" cy="204825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144768" y="1207008"/>
            <a:ext cx="5943600" cy="329184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7" y="1243584"/>
            <a:ext cx="38633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algun Gothic"/>
              </a:rPr>
              <a:t>🔷 FG-02: 하차 안전 보조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3748" y="1261872"/>
            <a:ext cx="25557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CCE5FF"/>
                </a:solidFill>
                <a:latin typeface="Malgun Gothic"/>
              </a:rPr>
              <a:t>UC-5, 6, 7 반영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707" y="1536192"/>
            <a:ext cx="5669720" cy="2048256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91440" y="3749039"/>
            <a:ext cx="594360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" y="3785615"/>
            <a:ext cx="38633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algun Gothic"/>
              </a:rPr>
              <a:t>🔷 UC-1 시퀀스: 운전자 ON/OFF 제어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0420" y="3803903"/>
            <a:ext cx="25557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CCE5FF"/>
                </a:solidFill>
                <a:latin typeface="Malgun Gothic"/>
              </a:rPr>
              <a:t>스위치 → ECU → HMI 흐름</a:t>
            </a:r>
          </a:p>
        </p:txBody>
      </p:sp>
      <p:pic>
        <p:nvPicPr>
          <p:cNvPr id="36" name="Picture 35" descr="sequence_u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985" y="4078224"/>
            <a:ext cx="1444508" cy="2048256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6144768" y="3749039"/>
            <a:ext cx="5943600" cy="32918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7" y="3785615"/>
            <a:ext cx="38633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algun Gothic"/>
              </a:rPr>
              <a:t>🔷 UC-3 시퀀스: 충돌 시 비상 해제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3748" y="3803903"/>
            <a:ext cx="25557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CCE5FF"/>
                </a:solidFill>
                <a:latin typeface="Malgun Gothic"/>
              </a:rPr>
              <a:t>ASIL B 안전 해제 경로</a:t>
            </a:r>
          </a:p>
        </p:txBody>
      </p:sp>
      <p:pic>
        <p:nvPicPr>
          <p:cNvPr id="40" name="Picture 39" descr="sequence_uc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0269" y="4078224"/>
            <a:ext cx="1152597" cy="2048256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6016752" y="1207008"/>
            <a:ext cx="64008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06. 테스트 &amp;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13232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테스트 케이스 및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28600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1737360"/>
            <a:ext cx="164592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ASIL B / QM 검증 요구사항 충족 및 양방향 추적성(Traceability) 점검 완료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37360"/>
            <a:ext cx="164592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109728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0" y="210312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0" y="210312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103120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265176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0" y="2651760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0" y="2651760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6517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3200400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26080" y="320040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0" y="3200400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3200400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3749039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26080" y="3749039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3749039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3749039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4297679"/>
            <a:ext cx="228600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26080" y="4297679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0" y="4297679"/>
            <a:ext cx="164592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4297679"/>
            <a:ext cx="1097280" cy="502920"/>
          </a:xfrm>
          <a:prstGeom prst="rect">
            <a:avLst/>
          </a:prstGeom>
          <a:solidFill>
            <a:srgbClr val="F8F8F8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72400" y="1188720"/>
            <a:ext cx="4114800" cy="502920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79" y="21031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100%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79" y="31089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&lt;1ms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5279" y="41148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55279" y="512064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100%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35808" y="1207008"/>
            <a:ext cx="77724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63240" y="1271016"/>
            <a:ext cx="7223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Test ID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13048" y="1207008"/>
            <a:ext cx="47548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40480" y="1271016"/>
            <a:ext cx="420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UC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88536" y="1207008"/>
            <a:ext cx="37033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15968" y="1271016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테스트 항목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91855" y="1207008"/>
            <a:ext cx="5029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19287" y="1271016"/>
            <a:ext cx="4480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기법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94776" y="1207008"/>
            <a:ext cx="65836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22207" y="1271016"/>
            <a:ext cx="603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lgun Gothic"/>
              </a:rPr>
              <a:t>ASIL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035808" y="1536192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063240" y="1572768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813048" y="1536192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40480" y="1572768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88536" y="1536192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15968" y="1572768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정차 중 수동 스위치 제어 정상 동작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991855" y="1536192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019287" y="1572768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94776" y="1536192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22207" y="1572768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35808" y="1796796"/>
            <a:ext cx="77724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63240" y="1833372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13048" y="1796796"/>
            <a:ext cx="47548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0" y="1833372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88536" y="1796796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315968" y="183337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스위치 채터링 디바운싱 - 49ms (Off-limit)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991855" y="1796796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19287" y="183337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94776" y="1796796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522207" y="183337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035808" y="2057400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063240" y="2093976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813048" y="2057400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840480" y="2093976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288536" y="2057400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15968" y="209397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스위치 채터링 디바운싱 - 50ms (On-limit)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991855" y="2057400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19287" y="209397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94776" y="2057400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22207" y="209397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035808" y="2318004"/>
            <a:ext cx="77724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063240" y="2354580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813048" y="2318004"/>
            <a:ext cx="47548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840480" y="2354580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288536" y="2318004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315968" y="235458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주행 중 해제 차단 - 3.0km/h (On-limit)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991855" y="2318004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19287" y="235458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494776" y="2318004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522207" y="235458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035808" y="2578608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063240" y="2615184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813048" y="2578608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840480" y="2615184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288536" y="257860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15968" y="261518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주행 중 해제 허용 - 2.9km/h (Off-limit)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91855" y="257860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19287" y="261518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494776" y="2578608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22207" y="261518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035808" y="2839212"/>
            <a:ext cx="77724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063240" y="2875788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813048" y="2839212"/>
            <a:ext cx="47548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840480" y="2875788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288536" y="2839212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315968" y="2875788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ECU 통신 단절 재전송 및 Fail-Safe 안전상태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991855" y="2839212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19287" y="2875788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FI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94776" y="2839212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522207" y="2875788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035808" y="3099816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063240" y="3136392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TC-007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813048" y="3099816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40480" y="3136392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288536" y="3099816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315968" y="313639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속도 초과 자동잠금 미동작 - 14.9km/h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991855" y="3099816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019287" y="313639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494776" y="3099816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522207" y="313639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035808" y="3360420"/>
            <a:ext cx="77724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063240" y="3396996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813048" y="3360420"/>
            <a:ext cx="47548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840480" y="3396996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88536" y="3360420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315968" y="339699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속도 초과 자동잠금 동작 - 15.0km/h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991855" y="3360420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019287" y="339699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BVA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494776" y="3360420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522207" y="339699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035808" y="3621024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063240" y="3657600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TC-009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813048" y="3621024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840480" y="3657600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288536" y="3621024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315968" y="365760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충돌 시 비상 해제 (복합조건 = True)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991855" y="3621024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19287" y="365760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494776" y="3621024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522207" y="365760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035808" y="3881628"/>
            <a:ext cx="77724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063240" y="3918204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813048" y="3881628"/>
            <a:ext cx="47548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840480" y="3918204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288536" y="3881628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315968" y="391820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충돌 단일조건 무시 (오동작 방지)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991855" y="3881628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19287" y="391820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494776" y="3881628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522207" y="391820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ASIL 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3035808" y="4142231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063240" y="4178807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TC-011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813048" y="4142231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840480" y="4178807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288536" y="4142231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15968" y="4178807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ECU 상태 전이(Init→Normal→Lock) 핸들 차단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991855" y="414223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019287" y="4178807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ST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494776" y="4142231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522207" y="4178807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035808" y="4402836"/>
            <a:ext cx="77724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063240" y="4439412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TC-012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813048" y="4402836"/>
            <a:ext cx="47548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840480" y="4439412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288536" y="4402836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315968" y="4439412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후방 객체(거리/속도/시간) 복합 감지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991855" y="4402836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019287" y="4439412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PW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8494776" y="4402836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522207" y="4439412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035808" y="4663440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063240" y="4700016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TC-013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813048" y="4663440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840480" y="4700016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4288536" y="4663440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4315968" y="4700016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후방 센서 노이즈/반복 경고 히스테리시스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991855" y="4663440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8019287" y="4700016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EP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494776" y="4663440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8522207" y="4700016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3035808" y="4924044"/>
            <a:ext cx="77724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3063240" y="4960620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TC-014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3813048" y="4924044"/>
            <a:ext cx="47548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3840480" y="4960620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4288536" y="4924044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4315968" y="4960620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승객 점유 및 잠금 OFF 출발 시 알림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991855" y="4924044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8019287" y="4960620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DT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494776" y="4924044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522207" y="4960620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3035808" y="5184648"/>
            <a:ext cx="77724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3063240" y="5221224"/>
            <a:ext cx="72237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TC-015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3813048" y="5184648"/>
            <a:ext cx="47548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3840480" y="5221224"/>
            <a:ext cx="420624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UC-6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4288536" y="518464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4315968" y="5221224"/>
            <a:ext cx="36484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점유 센서 에러 발생 시 보호 로직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7991855" y="518464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19287" y="5221224"/>
            <a:ext cx="448056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FI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8494776" y="5184648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522207" y="5221224"/>
            <a:ext cx="603503" cy="205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A1A2E"/>
                </a:solidFill>
                <a:latin typeface="Malgun Gothic"/>
              </a:rPr>
              <a:t>QM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05155" y="5554980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4173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단위 테스트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0515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4173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357E"/>
                </a:solidFill>
                <a:latin typeface="Malgun Gothic"/>
              </a:rPr>
              <a:t>140 건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116835" y="5554980"/>
            <a:ext cx="1920240" cy="256032"/>
          </a:xfrm>
          <a:prstGeom prst="rect">
            <a:avLst/>
          </a:prstGeom>
          <a:solidFill>
            <a:srgbClr val="00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215341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통과율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11683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15341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9660"/>
                </a:solidFill>
                <a:latin typeface="Malgun Gothic"/>
              </a:rPr>
              <a:t>100%  (0 Fail)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4128515" y="5554980"/>
            <a:ext cx="1920240" cy="256032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416509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커버리지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412851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416509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5BB5"/>
                </a:solidFill>
                <a:latin typeface="Malgun Gothic"/>
              </a:rPr>
              <a:t>100%  Branch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6140196" y="5554980"/>
            <a:ext cx="1920240" cy="25603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6176772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처리 속도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6140196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176772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A8E8"/>
                </a:solidFill>
                <a:latin typeface="Malgun Gothic"/>
              </a:rPr>
              <a:t>&lt; 1 ms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151875" y="5554980"/>
            <a:ext cx="192024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18845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시스템 TC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815187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18845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6B35"/>
                </a:solidFill>
                <a:latin typeface="Malgun Gothic"/>
              </a:rPr>
              <a:t>15 건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0163555" y="5554980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0200131" y="5591556"/>
            <a:ext cx="18470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algun Gothic"/>
              </a:rPr>
              <a:t>프레임워크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10163555" y="5811012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10200131" y="5829300"/>
            <a:ext cx="184708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357E"/>
                </a:solidFill>
                <a:latin typeface="Malgun Gothic"/>
              </a:rPr>
              <a:t>GTest v1.17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07. 학습 내용 &amp; 교훈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669280" cy="246888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기술적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ISO 26262/ASPICE 산출물 기반 요구사항(SRS, SwDD) 작성 체화 및 V-모델 기반 설계-구현 워크플로우 경험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669280" cy="2468880"/>
          </a:xfrm>
          <a:prstGeom prst="roundRect">
            <a:avLst/>
          </a:prstGeom>
          <a:solidFill>
            <a:srgbClr val="FFF8F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A00"/>
                </a:solidFill>
              </a:defRPr>
            </a:pPr>
            <a:r>
              <a:t>협업 &amp; 프로세스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GitHub Action을 활용한 CI/CT 자동 검증 파이프라인 연동 및 정적 분석 룰셋(Cppcheck) 도입 경험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11338560" cy="2468880"/>
          </a:xfrm>
          <a:prstGeom prst="roundRect">
            <a:avLst/>
          </a:prstGeom>
          <a:solidFill>
            <a:srgbClr val="FFFAF5"/>
          </a:solidFill>
          <a:ln>
            <a:solidFill>
              <a:srgbClr val="C8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4783C"/>
                </a:solidFill>
              </a:defRPr>
            </a:pPr>
            <a:r>
              <a:t>도전 과제 &amp; 해결 과정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</a:defRPr>
            </a:pPr>
            <a:r>
              <a:t>도전 과제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정상 동작 외의 복잡한 예외 조건(센서 에러, 동시 입력 등) 처리 시 상태 전이 충돌 위험 증가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</a:defRPr>
            </a:pPr>
            <a:r>
              <a:t>해결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6634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제어 우선순위를 반영한 Decision Table 설계로 논리적 결함 차단 및 Fault Injection 시나리오화로 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08. 향후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10515600" cy="45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1단계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t>CAN 통신 프로토콜 통합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다중 제어기 통합 시그널 최적화 연동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2단계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t>동적 주행 센서 (라이다/레이더) 시그널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결합 시나리오 확장 및 판단 신뢰성 증대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0" y="2423160"/>
            <a:ext cx="320040" cy="32004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3단계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t>T-05 도어 제어 ECU 타겟 하드웨어 포팅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</a:defRPr>
            </a:pPr>
            <a:r>
              <a:t>제어기 로직 고도화 적용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486400" cy="219456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8C3C"/>
                </a:solidFill>
              </a:defRPr>
            </a:pPr>
            <a:r>
              <a:t>실무 적용 가능성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현대모비스 차세대 통합 하차 제어 시스템 모듈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4114800"/>
            <a:ext cx="5669280" cy="2194560"/>
          </a:xfrm>
          <a:prstGeom prst="roundRect">
            <a:avLst/>
          </a:prstGeom>
          <a:solidFill>
            <a:srgbClr val="F8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추가 개발 아이디어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BLE 기반 부모 스마트폰 앱 연동 강제 오버라이드 기능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t>MOBIUS BOOTCAMP 1기 | PBL 결과발표 |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4C8DC"/>
                </a:solidFill>
              </a:defRPr>
            </a:pPr>
            <a:r>
              <a:t>질문과 답변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전차 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</a:defRPr>
            </a:pPr>
            <a:r>
              <a:t>감사합니다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21792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AABE"/>
                </a:solidFill>
              </a:defRPr>
            </a:pPr>
            <a:r>
              <a:t>MOBIUS BOOTCAMP 1기 | 현대모비스 x LIKELION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