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743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88952" cy="9144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MOBIUS BOOTCAMP 1기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PBL 결과발표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3366"/>
                </a:solidFill>
              </a:defRPr>
            </a:pPr>
            <a:r>
              <a:t>ISO 26262 기반 소프트웨어 V-모델 V&amp;V 적용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49039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08080"/>
                </a:solidFill>
              </a:defRPr>
            </a:pPr>
            <a:r>
              <a:t>ISO 26262 및 A-SPICE 기반 프로세스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33333"/>
                </a:solidFill>
              </a:defRPr>
            </a:pPr>
            <a: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120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333333"/>
                </a:solidFill>
              </a:defRPr>
            </a:pPr>
            <a:r>
              <a:t>전자식 차일드 락 시스템 (MBP-T05)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943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08080"/>
                </a:solidFill>
              </a:defRPr>
            </a:pPr>
            <a:r>
              <a:t>2026. 03. 22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217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</a:defRPr>
            </a:pPr>
            <a:r>
              <a:t>현대모비스 x LIKELION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01. 팀 소개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4572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560320" cy="4114800"/>
          </a:xfrm>
          <a:prstGeom prst="roundRect">
            <a:avLst/>
          </a:prstGeom>
          <a:solidFill>
            <a:srgbClr val="F5F5F5"/>
          </a:solidFill>
          <a:ln>
            <a:solidFill>
              <a:srgbClr val="00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25880" y="1645920"/>
            <a:ext cx="1371600" cy="1371600"/>
          </a:xfrm>
          <a:prstGeom prst="ellipse">
            <a:avLst/>
          </a:prstGeom>
          <a:solidFill>
            <a:srgbClr val="DCDCDC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</a:defRPr>
            </a:pPr>
            <a:r>
              <a:rPr sz="1300" b="1">
                <a:solidFill>
                  <a:srgbClr val="FFFFFF"/>
                </a:solidFill>
                <a:latin typeface="Malgun Gothic"/>
              </a:rPr>
              <a:t>박기준 (팀장)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661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66B2"/>
                </a:solidFill>
              </a:defRPr>
            </a:pPr>
            <a:r>
              <a:rPr sz="900">
                <a:latin typeface="Malgun Gothic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3192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rPr sz="900">
                <a:latin typeface="Malgun Gothic"/>
              </a:rPr>
              <a:t/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1371600"/>
            <a:ext cx="2560320" cy="4114800"/>
          </a:xfrm>
          <a:prstGeom prst="roundRect">
            <a:avLst/>
          </a:prstGeom>
          <a:solidFill>
            <a:srgbClr val="F5F5F5"/>
          </a:solidFill>
          <a:ln>
            <a:solidFill>
              <a:srgbClr val="00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160520" y="1645920"/>
            <a:ext cx="1371600" cy="1371600"/>
          </a:xfrm>
          <a:prstGeom prst="ellipse">
            <a:avLst/>
          </a:prstGeom>
          <a:solidFill>
            <a:srgbClr val="DCDCDC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40" y="32004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</a:defRPr>
            </a:pPr>
            <a:r>
              <a:t>김도균 / 김이안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35661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66B2"/>
                </a:solidFill>
              </a:defRPr>
            </a:pPr>
            <a:r>
              <a:rPr sz="900">
                <a:latin typeface="Malgun Gothic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393192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rPr sz="900">
                <a:latin typeface="Malgun Gothic"/>
              </a:rPr>
              <a:t/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371600"/>
            <a:ext cx="2560320" cy="4114800"/>
          </a:xfrm>
          <a:prstGeom prst="roundRect">
            <a:avLst/>
          </a:prstGeom>
          <a:solidFill>
            <a:srgbClr val="F5F5F5"/>
          </a:solidFill>
          <a:ln>
            <a:solidFill>
              <a:srgbClr val="00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995160" y="1645920"/>
            <a:ext cx="1371600" cy="1371600"/>
          </a:xfrm>
          <a:prstGeom prst="ellipse">
            <a:avLst/>
          </a:prstGeom>
          <a:solidFill>
            <a:srgbClr val="DCDCDC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2004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</a:defRPr>
            </a:pPr>
            <a:r>
              <a:t>이한결 / 이승욱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5661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66B2"/>
                </a:solidFill>
              </a:defRPr>
            </a:pPr>
            <a:r>
              <a:rPr sz="900">
                <a:latin typeface="Malgun Gothic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93192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rPr sz="900">
                <a:latin typeface="Malgun Gothic"/>
              </a:rPr>
              <a:t/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40" y="1371600"/>
            <a:ext cx="2560320" cy="4114800"/>
          </a:xfrm>
          <a:prstGeom prst="roundRect">
            <a:avLst/>
          </a:prstGeom>
          <a:solidFill>
            <a:srgbClr val="F5F5F5"/>
          </a:solidFill>
          <a:ln>
            <a:solidFill>
              <a:srgbClr val="00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829800" y="1645920"/>
            <a:ext cx="1371600" cy="1371600"/>
          </a:xfrm>
          <a:prstGeom prst="ellipse">
            <a:avLst/>
          </a:prstGeom>
          <a:solidFill>
            <a:srgbClr val="DCDCDC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0" y="32004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</a:defRPr>
            </a:pPr>
            <a:r>
              <a:rPr sz="1300" b="1">
                <a:solidFill>
                  <a:srgbClr val="FFFFFF"/>
                </a:solidFill>
                <a:latin typeface="Malgun Gothic"/>
              </a:rPr>
              <a:t>박찬석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35661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66B2"/>
                </a:solidFill>
              </a:defRPr>
            </a:pPr>
            <a:r>
              <a:rPr sz="900">
                <a:latin typeface="Malgun Gothic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393192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rPr sz="900">
                <a:latin typeface="Malgun Gothic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583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</a:defRPr>
            </a:pPr>
            <a:r>
              <a:t>MOBIUS BOOTCAMP 1기 | PBL 결과발표 | 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02. 문제 정의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4572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303520" cy="2560320"/>
          </a:xfrm>
          <a:prstGeom prst="roundRect">
            <a:avLst/>
          </a:prstGeom>
          <a:solidFill>
            <a:srgbClr val="FFF0F0"/>
          </a:solidFill>
          <a:ln>
            <a:solidFill>
              <a:srgbClr val="C8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43C3C"/>
                </a:solidFill>
              </a:defRPr>
            </a:pPr>
            <a:r>
              <a:t>AS-IS (현재 문제점)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A1A2E"/>
                </a:solidFill>
                <a:latin typeface="Malgun Gothic"/>
              </a:rPr>
              <a:t>▪ 문제점 1: 기계식 차일드 락의 수동 제어 불편</a:t>
            </a:r>
          </a:p>
          <a:p>
            <a:r>
              <a:rPr sz="1000" b="0">
                <a:solidFill>
                  <a:srgbClr val="1A1A2E"/>
                </a:solidFill>
                <a:latin typeface="Malgun Gothic"/>
              </a:rPr>
              <a:t>  운전자가 뒷좌석에 직접 접근하여 개별 조작 필요 → 운전 중 불가</a:t>
            </a:r>
          </a:p>
          <a:p>
            <a:r>
              <a:rPr sz="1100" b="1">
                <a:solidFill>
                  <a:srgbClr val="1A1A2E"/>
                </a:solidFill>
                <a:latin typeface="Malgun Gothic"/>
              </a:rPr>
              <a:t>▪ 문제점 2: 사고·충돌 발생 시 뒷좌석 탈출 지연</a:t>
            </a:r>
          </a:p>
          <a:p>
            <a:r>
              <a:rPr sz="1000" b="0">
                <a:solidFill>
                  <a:srgbClr val="1A1A2E"/>
                </a:solidFill>
                <a:latin typeface="Malgun Gothic"/>
              </a:rPr>
              <a:t>  기계식 잠금 시 비상 해제 수단 없어 인명 피해 위험 가중</a:t>
            </a:r>
          </a:p>
          <a:p>
            <a:r>
              <a:rPr sz="1100" b="1">
                <a:solidFill>
                  <a:srgbClr val="1A1A2E"/>
                </a:solidFill>
                <a:latin typeface="Malgun Gothic"/>
              </a:rPr>
              <a:t>▪ 문제점 3: 후방 위험 접근 정보와 하차 안전 연동 부재</a:t>
            </a:r>
          </a:p>
          <a:p>
            <a:r>
              <a:rPr sz="1000" b="0">
                <a:solidFill>
                  <a:srgbClr val="1A1A2E"/>
                </a:solidFill>
                <a:latin typeface="Malgun Gothic"/>
              </a:rPr>
              <a:t>  후방 이륜차·차량 접근 중에도 뒷좌석 문이 열릴 수 있어 사고 위험</a:t>
            </a:r>
          </a:p>
          <a:p>
            <a:r>
              <a:rPr sz="1100" b="1">
                <a:solidFill>
                  <a:srgbClr val="1A1A2E"/>
                </a:solidFill>
                <a:latin typeface="Malgun Gothic"/>
              </a:rPr>
              <a:t>▪ 문제점 4: 점화 OFF 시 차일드 락 상태 인지 부재</a:t>
            </a:r>
          </a:p>
          <a:p>
            <a:r>
              <a:rPr sz="1000" b="0">
                <a:solidFill>
                  <a:srgbClr val="1A1A2E"/>
                </a:solidFill>
                <a:latin typeface="Malgun Gothic"/>
              </a:rPr>
              <a:t>  하차 직전 잠금 상태 미인지로 아이가 내부에서 열기 불가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852160" y="2194560"/>
            <a:ext cx="548640" cy="457200"/>
          </a:xfrm>
          <a:prstGeom prst="rightArrow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92240" y="1188720"/>
            <a:ext cx="5303520" cy="2560320"/>
          </a:xfrm>
          <a:prstGeom prst="roundRect">
            <a:avLst/>
          </a:prstGeom>
          <a:solidFill>
            <a:srgbClr val="F0FFF0"/>
          </a:solidFill>
          <a:ln>
            <a:solidFill>
              <a:srgbClr val="64B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280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C8C3C"/>
                </a:solidFill>
              </a:defRPr>
            </a:pPr>
            <a:r>
              <a:t>TO-BE (목표 상태)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173736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05BB5"/>
                </a:solidFill>
                <a:latin typeface="Malgun Gothic"/>
              </a:rPr>
              <a:t>✔ 목표 1: 전자식 통합 차일드 락 제어 (FG-01)</a:t>
            </a:r>
          </a:p>
          <a:p>
            <a:r>
              <a:rPr sz="1000" b="0">
                <a:solidFill>
                  <a:srgbClr val="1A1A2E"/>
                </a:solidFill>
                <a:latin typeface="Malgun Gothic"/>
              </a:rPr>
              <a:t>  운전석에서 원버튼 ON/OFF + 속도 기반 자동 잠금 (≥15 km/h)</a:t>
            </a:r>
          </a:p>
          <a:p>
            <a:r>
              <a:rPr sz="1100" b="1">
                <a:solidFill>
                  <a:srgbClr val="005BB5"/>
                </a:solidFill>
                <a:latin typeface="Malgun Gothic"/>
              </a:rPr>
              <a:t>✔ 목표 2: 사고 시 즉각 자동 해제 (ASIL B, FG-01)</a:t>
            </a:r>
          </a:p>
          <a:p>
            <a:r>
              <a:rPr sz="1000" b="0">
                <a:solidFill>
                  <a:srgbClr val="1A1A2E"/>
                </a:solidFill>
                <a:latin typeface="Malgun Gothic"/>
              </a:rPr>
              <a:t>  충돌·에어백 신호 동시 감지 시 비상 해제 최우선 수행</a:t>
            </a:r>
          </a:p>
          <a:p>
            <a:r>
              <a:rPr sz="1100" b="1">
                <a:solidFill>
                  <a:srgbClr val="005BB5"/>
                </a:solidFill>
                <a:latin typeface="Malgun Gothic"/>
              </a:rPr>
              <a:t>✔ 목표 3: 후방 위험 연동 자동 보호 (FG-02)</a:t>
            </a:r>
          </a:p>
          <a:p>
            <a:r>
              <a:rPr sz="1000" b="0">
                <a:solidFill>
                  <a:srgbClr val="1A1A2E"/>
                </a:solidFill>
                <a:latin typeface="Malgun Gothic"/>
              </a:rPr>
              <a:t>  후방 레이더 연동 — 위험 감지 시 자동 잠금 유지 &amp; 운전자 경고</a:t>
            </a:r>
          </a:p>
          <a:p>
            <a:r>
              <a:rPr sz="1100" b="1">
                <a:solidFill>
                  <a:srgbClr val="005BB5"/>
                </a:solidFill>
                <a:latin typeface="Malgun Gothic"/>
              </a:rPr>
              <a:t>✔ 목표 4: 시동 OFF / 출발 시 상태 알림 (FG-02)</a:t>
            </a:r>
          </a:p>
          <a:p>
            <a:r>
              <a:rPr sz="1000" b="0">
                <a:solidFill>
                  <a:srgbClr val="1A1A2E"/>
                </a:solidFill>
                <a:latin typeface="Malgun Gothic"/>
              </a:rPr>
              <a:t>  점화 OFF 및 출발 시 뒷좌석 점유 + CL 상태 1회 운전자 알림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023360"/>
            <a:ext cx="11338560" cy="2286000"/>
          </a:xfrm>
          <a:prstGeom prst="roundRect">
            <a:avLst/>
          </a:prstGeom>
          <a:solidFill>
            <a:srgbClr val="F0F8FF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114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</a:defRPr>
            </a:pPr>
            <a:r>
              <a:t>핵심 연구 질문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57200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rPr sz="1300" b="0">
                <a:solidFill>
                  <a:srgbClr val="1A1A2E"/>
                </a:solidFill>
                <a:latin typeface="Malgun Gothic"/>
              </a:rPr>
              <a:t>ISO 26262 기능 안전을 준수하면서, 승객의 편의성과 하차 안전을 모두 충족하는
지능형 차일드 락 제어 시스템을 어떻게 설계·구현·검증할 것인가?
→ V-모델 기반 SRS↔SDD↔Code↔Test 양방향 추적성으로 답한다.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83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</a:defRPr>
            </a:pPr>
            <a:r>
              <a:t>MOBIUS BOOTCAMP 1기 | PBL 결과발표 | 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03. 솔루션 개요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4572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11338560" cy="137160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지능형 센서 및 차량 상태 연동 제어 기반의 통합 하차 안전 솔루션 (FG-01 / FG-02)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4C8DC"/>
                </a:solidFill>
              </a:defRPr>
            </a:pPr>
            <a:r>
              <a:t>C/C++ 기반 ISO 26262 및 FMEA/HAZOP 상위 기능 안전 분석 적용 모듈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26080"/>
            <a:ext cx="3566160" cy="3291840"/>
          </a:xfrm>
          <a:prstGeom prst="roundRect">
            <a:avLst/>
          </a:prstGeom>
          <a:solidFill>
            <a:srgbClr val="F8F8F8"/>
          </a:solidFill>
          <a:ln>
            <a:solidFill>
              <a:srgbClr val="00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828800" y="3108960"/>
            <a:ext cx="731520" cy="731520"/>
          </a:xfrm>
          <a:prstGeom prst="ellipse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315468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023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</a:defRPr>
            </a:pPr>
            <a:r>
              <a:t>FG-01: 도어 잠금 및 해제 제어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48056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속도, 충돌, 스위치 연동 로직 적용 및 직전 상태 복구(Safe State) 제어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2926080"/>
            <a:ext cx="3566160" cy="3291840"/>
          </a:xfrm>
          <a:prstGeom prst="roundRect">
            <a:avLst/>
          </a:prstGeom>
          <a:solidFill>
            <a:srgbClr val="F8F8F8"/>
          </a:solidFill>
          <a:ln>
            <a:solidFill>
              <a:srgbClr val="00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669280" y="3108960"/>
            <a:ext cx="731520" cy="731520"/>
          </a:xfrm>
          <a:prstGeom prst="ellipse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315468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4023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</a:defRPr>
            </a:pPr>
            <a:r>
              <a:t>FG-02: 하차 안전 보조 제어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448056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후방 위험 판단 시 자동 잠금 유지 및 뒷좌석 점유/출발 상태 전환 시 운전자 알림 연동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2926080"/>
            <a:ext cx="3566160" cy="3291840"/>
          </a:xfrm>
          <a:prstGeom prst="roundRect">
            <a:avLst/>
          </a:prstGeom>
          <a:solidFill>
            <a:srgbClr val="F8F8F8"/>
          </a:solidFill>
          <a:ln>
            <a:solidFill>
              <a:srgbClr val="00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509760" y="3108960"/>
            <a:ext cx="731520" cy="731520"/>
          </a:xfrm>
          <a:prstGeom prst="ellipse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0" y="315468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4023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</a:defRPr>
            </a:pPr>
            <a:r>
              <a:t>Fail-Safe 설계 및 테스트 결함 주입 (Fault Injection) 방어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448056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FMEA/HAZOP 기반 요구사항 분석 적용 및 Fault Injection 시나리오 방어를 통한 Fail-Safe 설계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583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</a:defRPr>
            </a:pPr>
            <a:r>
              <a:t>MOBIUS BOOTCAMP 1기 | PBL 결과발표 | 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04. 기술 스택 &amp; 아키텍처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4572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7772400" cy="5029200"/>
          </a:xfrm>
          <a:prstGeom prst="roundRect">
            <a:avLst/>
          </a:prstGeom>
          <a:solidFill>
            <a:srgbClr val="FCFCFC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412480" y="1188720"/>
            <a:ext cx="3474720" cy="502920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0" y="13716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Tech 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192024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6B4D2"/>
                </a:solidFill>
              </a:defRPr>
            </a:pPr>
            <a:r>
              <a:t>Language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21488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C11, C++17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274320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6B4D2"/>
                </a:solidFill>
              </a:defRPr>
            </a:pPr>
            <a:r>
              <a:t>Framework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29718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ISO 26262, ASPICE, V-Model 워크플로우 적용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356616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6B4D2"/>
                </a:solidFill>
              </a:defRPr>
            </a:pPr>
            <a:r>
              <a:t>Testing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37947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Google Test, Cppcheck (단위 테스트 및 정적 분석)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438912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6B4D2"/>
                </a:solidFill>
              </a:defRPr>
            </a:pPr>
            <a:r>
              <a:t>Tools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46177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GitHub Actions (CI 자동화), Draw.io (UML)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521208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6B4D2"/>
                </a:solidFill>
              </a:defRPr>
            </a:pPr>
            <a:r>
              <a:t>Environment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5440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Ubuntu 22.04 LTS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583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</a:defRPr>
            </a:pPr>
            <a:r>
              <a:t>MOBIUS BOOTCAMP 1기 | PBL 결과발표 | 5/10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1234440"/>
            <a:ext cx="749807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00357E"/>
                </a:solidFill>
                <a:latin typeface="Malgun Gothic"/>
              </a:rPr>
              <a:t>시스템 상태 다이어그램 (State Diagram)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00589"/>
            <a:ext cx="7406640" cy="431635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05. 구현 결과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4572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303520" cy="2286000"/>
          </a:xfrm>
          <a:prstGeom prst="roundRect">
            <a:avLst/>
          </a:prstGeom>
          <a:solidFill>
            <a:srgbClr val="F5F5F5"/>
          </a:solidFill>
          <a:ln>
            <a:solidFill>
              <a:srgbClr val="00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035040" y="1188720"/>
            <a:ext cx="5303520" cy="2286000"/>
          </a:xfrm>
          <a:prstGeom prst="roundRect">
            <a:avLst/>
          </a:prstGeom>
          <a:solidFill>
            <a:srgbClr val="F5F5F5"/>
          </a:solidFill>
          <a:ln>
            <a:solidFill>
              <a:srgbClr val="00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3657600"/>
            <a:ext cx="5303520" cy="2286000"/>
          </a:xfrm>
          <a:prstGeom prst="roundRect">
            <a:avLst/>
          </a:prstGeom>
          <a:solidFill>
            <a:srgbClr val="F5F5F5"/>
          </a:solidFill>
          <a:ln>
            <a:solidFill>
              <a:srgbClr val="00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035040" y="3657600"/>
            <a:ext cx="5303520" cy="2286000"/>
          </a:xfrm>
          <a:prstGeom prst="roundRect">
            <a:avLst/>
          </a:prstGeom>
          <a:solidFill>
            <a:srgbClr val="F5F5F5"/>
          </a:solidFill>
          <a:ln>
            <a:solidFill>
              <a:srgbClr val="00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583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</a:defRPr>
            </a:pPr>
            <a:r>
              <a:t>MOBIUS BOOTCAMP 1기 | PBL 결과발표 | 6/10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1234440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00357E"/>
                </a:solidFill>
                <a:latin typeface="Malgun Gothic"/>
              </a:rPr>
              <a:t>FG-01 플로우차트: 도어 잠금/해제 제어 (UC-1,2,3,4)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6857" y="1508760"/>
            <a:ext cx="3464204" cy="192024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126479" y="1234440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00357E"/>
                </a:solidFill>
                <a:latin typeface="Malgun Gothic"/>
              </a:rPr>
              <a:t>FG-02 플로우차트: 하차 안전 보조 (UC-5,6,7)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79" y="1543933"/>
            <a:ext cx="5120640" cy="1849893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48640" y="3703320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00357E"/>
                </a:solidFill>
                <a:latin typeface="Malgun Gothic"/>
              </a:rPr>
              <a:t>UC-1 시퀀스: 운전자 스위치 ON/OFF 제어 흐름</a:t>
            </a:r>
          </a:p>
        </p:txBody>
      </p:sp>
      <p:pic>
        <p:nvPicPr>
          <p:cNvPr id="23" name="Picture 22" descr="sequence_uc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31846" y="3977639"/>
            <a:ext cx="1354227" cy="192024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126479" y="3703320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00357E"/>
                </a:solidFill>
                <a:latin typeface="Malgun Gothic"/>
              </a:rPr>
              <a:t>UC-3 시퀀스: 충돌 감지 시 ASIL B 비상 해제 경로</a:t>
            </a:r>
          </a:p>
        </p:txBody>
      </p:sp>
      <p:pic>
        <p:nvPicPr>
          <p:cNvPr id="25" name="Picture 24" descr="sequence_uc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46519" y="3977639"/>
            <a:ext cx="1080560" cy="19202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06. 테스트 &amp; 검증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4572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713232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00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6766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</a:defRPr>
            </a:pPr>
            <a:r>
              <a:t>테스트 케이스 및 결과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2286000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  <a:latin typeface="Malgun Gothic"/>
              </a:rPr>
              <a:t>Test ID / 기법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0" y="1737360"/>
            <a:ext cx="1645920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0" y="17830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  <a:latin typeface="Malgun Gothic"/>
              </a:rPr>
              <a:t>UC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37360"/>
            <a:ext cx="1645920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7830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  <a:latin typeface="Malgun Gothic"/>
              </a:rPr>
              <a:t>테스트 항목 (15건 중 핵심)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737360"/>
            <a:ext cx="1097280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7830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  <a:latin typeface="Malgun Gothic"/>
              </a:rPr>
              <a:t>PASS/FAIL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103120"/>
            <a:ext cx="2286000" cy="502920"/>
          </a:xfrm>
          <a:prstGeom prst="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148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</a:defRPr>
            </a:pPr>
            <a:r>
              <a:rPr sz="850" b="1">
                <a:solidFill>
                  <a:srgbClr val="D44500"/>
                </a:solidFill>
                <a:latin typeface="Malgun Gothic"/>
              </a:rPr>
              <a:t>TC-004 / BVA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26080" y="2103120"/>
            <a:ext cx="1645920" cy="502920"/>
          </a:xfrm>
          <a:prstGeom prst="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6080" y="21488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</a:defRPr>
            </a:pPr>
            <a:r>
              <a:rPr sz="900" b="0">
                <a:solidFill>
                  <a:srgbClr val="1A1A2E"/>
                </a:solidFill>
                <a:latin typeface="Malgun Gothic"/>
              </a:rPr>
              <a:t>UC-1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0" y="2103120"/>
            <a:ext cx="1645920" cy="502920"/>
          </a:xfrm>
          <a:prstGeom prst="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21488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</a:defRPr>
            </a:pPr>
            <a:r>
              <a:rPr sz="850" b="0">
                <a:solidFill>
                  <a:srgbClr val="1A1A2E"/>
                </a:solidFill>
                <a:latin typeface="Malgun Gothic"/>
              </a:rPr>
              <a:t>주행 중 해제 차단 (3.0 km/h)  [ASIL B]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2103120"/>
            <a:ext cx="1097280" cy="502920"/>
          </a:xfrm>
          <a:prstGeom prst="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21488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</a:defRPr>
            </a:pPr>
            <a:r>
              <a:rPr sz="1000" b="1">
                <a:solidFill>
                  <a:srgbClr val="007048"/>
                </a:solidFill>
                <a:latin typeface="Malgun Gothic"/>
              </a:rPr>
              <a:t>PASS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2651760"/>
            <a:ext cx="22860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2697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</a:defRPr>
            </a:pPr>
            <a:r>
              <a:rPr sz="850" b="1">
                <a:solidFill>
                  <a:srgbClr val="D44500"/>
                </a:solidFill>
                <a:latin typeface="Malgun Gothic"/>
              </a:rPr>
              <a:t>TC-005 / BVA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26080" y="2651760"/>
            <a:ext cx="16459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26080" y="26974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</a:defRPr>
            </a:pPr>
            <a:r>
              <a:rPr sz="900" b="0">
                <a:solidFill>
                  <a:srgbClr val="1A1A2E"/>
                </a:solidFill>
                <a:latin typeface="Malgun Gothic"/>
              </a:rPr>
              <a:t>UC-1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0" y="2651760"/>
            <a:ext cx="16459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0" y="26974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</a:defRPr>
            </a:pPr>
            <a:r>
              <a:rPr sz="850" b="0">
                <a:solidFill>
                  <a:srgbClr val="1A1A2E"/>
                </a:solidFill>
                <a:latin typeface="Malgun Gothic"/>
              </a:rPr>
              <a:t>주행 중 해제 허용 (2.9 km/h)  [ASIL B]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2651760"/>
            <a:ext cx="10972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0" y="26974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</a:defRPr>
            </a:pPr>
            <a:r>
              <a:rPr sz="1000" b="1">
                <a:solidFill>
                  <a:srgbClr val="007048"/>
                </a:solidFill>
                <a:latin typeface="Malgun Gothic"/>
              </a:rPr>
              <a:t>PASS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3200400"/>
            <a:ext cx="2286000" cy="502920"/>
          </a:xfrm>
          <a:prstGeom prst="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3246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</a:defRPr>
            </a:pPr>
            <a:r>
              <a:rPr sz="850" b="0">
                <a:solidFill>
                  <a:srgbClr val="1A1A2E"/>
                </a:solidFill>
                <a:latin typeface="Malgun Gothic"/>
              </a:rPr>
              <a:t>TC-008 / BVA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26080" y="3200400"/>
            <a:ext cx="1645920" cy="502920"/>
          </a:xfrm>
          <a:prstGeom prst="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926080" y="32461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</a:defRPr>
            </a:pPr>
            <a:r>
              <a:rPr sz="900" b="0">
                <a:solidFill>
                  <a:srgbClr val="1A1A2E"/>
                </a:solidFill>
                <a:latin typeface="Malgun Gothic"/>
              </a:rPr>
              <a:t>UC-2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0" y="3200400"/>
            <a:ext cx="1645920" cy="502920"/>
          </a:xfrm>
          <a:prstGeom prst="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0" y="32461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</a:defRPr>
            </a:pPr>
            <a:r>
              <a:rPr sz="850" b="0">
                <a:solidFill>
                  <a:srgbClr val="1A1A2E"/>
                </a:solidFill>
                <a:latin typeface="Malgun Gothic"/>
              </a:rPr>
              <a:t>속도 초과 자동잠금 동작 (15.0 km/h)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3200400"/>
            <a:ext cx="1097280" cy="502920"/>
          </a:xfrm>
          <a:prstGeom prst="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7920" y="32461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</a:defRPr>
            </a:pPr>
            <a:r>
              <a:rPr sz="1000" b="1">
                <a:solidFill>
                  <a:srgbClr val="007048"/>
                </a:solidFill>
                <a:latin typeface="Malgun Gothic"/>
              </a:rPr>
              <a:t>PASS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3749039"/>
            <a:ext cx="22860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3794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</a:defRPr>
            </a:pPr>
            <a:r>
              <a:rPr sz="850" b="1">
                <a:solidFill>
                  <a:srgbClr val="D44500"/>
                </a:solidFill>
                <a:latin typeface="Malgun Gothic"/>
              </a:rPr>
              <a:t>TC-009 / DT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926080" y="3749039"/>
            <a:ext cx="16459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926080" y="37947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</a:defRPr>
            </a:pPr>
            <a:r>
              <a:rPr sz="900" b="0">
                <a:solidFill>
                  <a:srgbClr val="1A1A2E"/>
                </a:solidFill>
                <a:latin typeface="Malgun Gothic"/>
              </a:rPr>
              <a:t>UC-3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0" y="3749039"/>
            <a:ext cx="16459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0" y="37947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</a:defRPr>
            </a:pPr>
            <a:r>
              <a:rPr sz="850" b="0">
                <a:solidFill>
                  <a:srgbClr val="1A1A2E"/>
                </a:solidFill>
                <a:latin typeface="Malgun Gothic"/>
              </a:rPr>
              <a:t>충돌 시 비상 해제 — 복합조건  [ASIL B]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17920" y="3749039"/>
            <a:ext cx="10972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17920" y="37947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</a:defRPr>
            </a:pPr>
            <a:r>
              <a:rPr sz="1000" b="1">
                <a:solidFill>
                  <a:srgbClr val="007048"/>
                </a:solidFill>
                <a:latin typeface="Malgun Gothic"/>
              </a:rPr>
              <a:t>PASS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" y="4297679"/>
            <a:ext cx="2286000" cy="502920"/>
          </a:xfrm>
          <a:prstGeom prst="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" y="4343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</a:defRPr>
            </a:pPr>
            <a:r>
              <a:rPr sz="850" b="1">
                <a:solidFill>
                  <a:srgbClr val="D44500"/>
                </a:solidFill>
                <a:latin typeface="Malgun Gothic"/>
              </a:rPr>
              <a:t>TC-010 / DT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926080" y="4297679"/>
            <a:ext cx="1645920" cy="502920"/>
          </a:xfrm>
          <a:prstGeom prst="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926080" y="43434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</a:defRPr>
            </a:pPr>
            <a:r>
              <a:rPr sz="900" b="0">
                <a:solidFill>
                  <a:srgbClr val="1A1A2E"/>
                </a:solidFill>
                <a:latin typeface="Malgun Gothic"/>
              </a:rPr>
              <a:t>UC-3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0" y="4297679"/>
            <a:ext cx="1645920" cy="502920"/>
          </a:xfrm>
          <a:prstGeom prst="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72000" y="43434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</a:defRPr>
            </a:pPr>
            <a:r>
              <a:rPr sz="850" b="0">
                <a:solidFill>
                  <a:srgbClr val="1A1A2E"/>
                </a:solidFill>
                <a:latin typeface="Malgun Gothic"/>
              </a:rPr>
              <a:t>충돌 단일조건 무시 (오동작 방지)  [ASIL B]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17920" y="4297679"/>
            <a:ext cx="1097280" cy="502920"/>
          </a:xfrm>
          <a:prstGeom prst="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17920" y="43434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</a:defRPr>
            </a:pPr>
            <a:r>
              <a:rPr sz="1000" b="1">
                <a:solidFill>
                  <a:srgbClr val="007048"/>
                </a:solidFill>
                <a:latin typeface="Malgun Gothic"/>
              </a:rPr>
              <a:t>PASS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772400" y="1188720"/>
            <a:ext cx="4114800" cy="5029200"/>
          </a:xfrm>
          <a:prstGeom prst="roundRect">
            <a:avLst/>
          </a:prstGeom>
          <a:solidFill>
            <a:srgbClr val="F0F8FF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955279" y="128016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</a:defRPr>
            </a:pPr>
            <a:r>
              <a:t>성과 지표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955279" y="1828800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rPr sz="1000" b="0">
                <a:solidFill>
                  <a:srgbClr val="00357E"/>
                </a:solidFill>
                <a:latin typeface="Malgun Gothic"/>
              </a:rPr>
              <a:t>단위 테스트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55279" y="210312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rPr sz="2200" b="1">
                <a:solidFill>
                  <a:srgbClr val="00357E"/>
                </a:solidFill>
                <a:latin typeface="Malgun Gothic"/>
              </a:rPr>
              <a:t>140 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955279" y="2834640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rPr sz="1000" b="0">
                <a:solidFill>
                  <a:srgbClr val="00357E"/>
                </a:solidFill>
                <a:latin typeface="Malgun Gothic"/>
              </a:rPr>
              <a:t>통과율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955279" y="310896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rPr sz="1800" b="1">
                <a:solidFill>
                  <a:srgbClr val="007048"/>
                </a:solidFill>
                <a:latin typeface="Malgun Gothic"/>
              </a:rPr>
              <a:t>100%
(0 Fail)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955279" y="3840480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rPr sz="1000" b="0">
                <a:solidFill>
                  <a:srgbClr val="00357E"/>
                </a:solidFill>
                <a:latin typeface="Malgun Gothic"/>
              </a:rPr>
              <a:t>시스템 TC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955279" y="411480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rPr sz="2200" b="1">
                <a:solidFill>
                  <a:srgbClr val="D44500"/>
                </a:solidFill>
                <a:latin typeface="Malgun Gothic"/>
              </a:rPr>
              <a:t>15 건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955279" y="4846320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rPr sz="1000" b="0">
                <a:solidFill>
                  <a:srgbClr val="00357E"/>
                </a:solidFill>
                <a:latin typeface="Malgun Gothic"/>
              </a:rPr>
              <a:t>커버리지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955279" y="512064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100%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7200" y="6583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</a:defRPr>
            </a:pPr>
            <a:r>
              <a:t>MOBIUS BOOTCAMP 1기 | PBL 결과발표 | 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07. 학습 내용 &amp; 교훈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4572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669280" cy="2468880"/>
          </a:xfrm>
          <a:prstGeom prst="roundRect">
            <a:avLst/>
          </a:prstGeom>
          <a:solidFill>
            <a:srgbClr val="F0F8FF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</a:defRPr>
            </a:pPr>
            <a:r>
              <a:t>기술적 학습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A1A2E"/>
                </a:solidFill>
                <a:latin typeface="Malgun Gothic"/>
              </a:rPr>
              <a:t>① ISO 26262 기반 기능 안전 분석 (HAZOP / FMEA) 및 ASIL B 수준 안전 목표 도출</a:t>
            </a:r>
          </a:p>
          <a:p>
            <a:r>
              <a:rPr sz="1000" b="0">
                <a:solidFill>
                  <a:srgbClr val="1A1A2E"/>
                </a:solidFill>
                <a:latin typeface="Malgun Gothic"/>
              </a:rPr>
              <a:t>② SRS → SwDD → Code → Test 양방향 추적성 확보 (ASPICE SWE.1~SWE.6)</a:t>
            </a:r>
          </a:p>
          <a:p>
            <a:r>
              <a:rPr sz="1000" b="0">
                <a:solidFill>
                  <a:srgbClr val="1A1A2E"/>
                </a:solidFill>
                <a:latin typeface="Malgun Gothic"/>
              </a:rPr>
              <a:t>③ V-모델 기반 설계-구현 워크플로우 — 요구사항 작성 전에 테스트 케이스 먼저 정의 (TDD)</a:t>
            </a:r>
          </a:p>
          <a:p>
            <a:r>
              <a:rPr sz="1000" b="0">
                <a:solidFill>
                  <a:srgbClr val="1A1A2E"/>
                </a:solidFill>
                <a:latin typeface="Malgun Gothic"/>
              </a:rPr>
              <a:t>④ Fail-Safe 상태(SAFE_LOCKED / EMERGENCY_RELEASED) 설계 및 우선순위 정책 수립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188720"/>
            <a:ext cx="5669280" cy="2468880"/>
          </a:xfrm>
          <a:prstGeom prst="roundRect">
            <a:avLst/>
          </a:prstGeom>
          <a:solidFill>
            <a:srgbClr val="FFF8F0"/>
          </a:solidFill>
          <a:ln>
            <a:solidFill>
              <a:srgbClr val="FF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280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A00"/>
                </a:solidFill>
              </a:defRPr>
            </a:pPr>
            <a:r>
              <a:t>협업 &amp; 프로세스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A1A2E"/>
                </a:solidFill>
                <a:latin typeface="Malgun Gothic"/>
              </a:rPr>
              <a:t>① GitHub Actions CI/CD 파이프라인: 빌드 → GTest → Cppcheck → lcov 자동화</a:t>
            </a:r>
          </a:p>
          <a:p>
            <a:r>
              <a:rPr sz="1000" b="0">
                <a:solidFill>
                  <a:srgbClr val="1A1A2E"/>
                </a:solidFill>
                <a:latin typeface="Malgun Gothic"/>
              </a:rPr>
              <a:t>② Lizard 복잡도 분석으로 Cyclomatic Complexity ≤10 준수 자동 검증</a:t>
            </a:r>
          </a:p>
          <a:p>
            <a:r>
              <a:rPr sz="1000" b="0">
                <a:solidFill>
                  <a:srgbClr val="1A1A2E"/>
                </a:solidFill>
                <a:latin typeface="Malgun Gothic"/>
              </a:rPr>
              <a:t>③ GoogleTest Mock 기반 엣지 케이스(Fault Injection, Null 입력) 시뮬레이션</a:t>
            </a:r>
          </a:p>
          <a:p>
            <a:r>
              <a:rPr sz="1000" b="0">
                <a:solidFill>
                  <a:srgbClr val="1A1A2E"/>
                </a:solidFill>
                <a:latin typeface="Malgun Gothic"/>
              </a:rPr>
              <a:t>④ Branch / MC/DC Coverage 100% 달성 — 140개 단위 테스트 케이스 모두 PASS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840480"/>
            <a:ext cx="11338560" cy="2468880"/>
          </a:xfrm>
          <a:prstGeom prst="roundRect">
            <a:avLst/>
          </a:prstGeom>
          <a:solidFill>
            <a:srgbClr val="FFFAF5"/>
          </a:solidFill>
          <a:ln>
            <a:solidFill>
              <a:srgbClr val="C89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931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4783C"/>
                </a:solidFill>
              </a:defRPr>
            </a:pPr>
            <a:r>
              <a:t>도전 과제 &amp; 해결 과정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3891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</a:defRPr>
            </a:pPr>
            <a:r>
              <a:t>도전 과제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66344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A1A2E"/>
                </a:solidFill>
                <a:latin typeface="Malgun Gothic"/>
              </a:rPr>
              <a:t>▸ 과제 1: 복합 센서 예외 조건 (속도 오류+충돌+핸들 동시 입력) 처리 시 상태 충돌</a:t>
            </a:r>
          </a:p>
          <a:p>
            <a:r>
              <a:rPr sz="1000" b="0">
                <a:solidFill>
                  <a:srgbClr val="1A1A2E"/>
                </a:solidFill>
                <a:latin typeface="Malgun Gothic"/>
              </a:rPr>
              <a:t>▸ 과제 2: 단위 테스트로 검증 어려운 시스템 수준 통합 시나리오 구축</a:t>
            </a:r>
          </a:p>
          <a:p>
            <a:r>
              <a:rPr sz="1000" b="0">
                <a:solidFill>
                  <a:srgbClr val="1A1A2E"/>
                </a:solidFill>
                <a:latin typeface="Malgun Gothic"/>
              </a:rPr>
              <a:t>▸ 과제 3: Door ECU ACK 미수신 상황의 재전송/Fail-Safe 로직 복잡성 증가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43891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</a:defRPr>
            </a:pPr>
            <a:r>
              <a:t>해결 방법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466344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A1A2E"/>
                </a:solidFill>
                <a:latin typeface="Malgun Gothic"/>
              </a:rPr>
              <a:t>▸ 해결 1: CrashSignal &gt; SensorFault &gt; DriverInput &gt; AutoLock 우선순위 Decision Table</a:t>
            </a:r>
          </a:p>
          <a:p>
            <a:r>
              <a:rPr sz="1000" b="0">
                <a:solidFill>
                  <a:srgbClr val="1A1A2E"/>
                </a:solidFill>
                <a:latin typeface="Malgun Gothic"/>
              </a:rPr>
              <a:t>▸ 해결 2: GTest Mock으로 ECU 미응답/센서 고장 시나리오 Fault Injection 자동화</a:t>
            </a:r>
          </a:p>
          <a:p>
            <a:r>
              <a:rPr sz="1000" b="0">
                <a:solidFill>
                  <a:srgbClr val="1A1A2E"/>
                </a:solidFill>
                <a:latin typeface="Malgun Gothic"/>
              </a:rPr>
              <a:t>▸ 해결 3: 상태 전이 다이어그램(State Diagram)을 코드 구조에 1:1 대응시켜 가독성 확보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583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</a:defRPr>
            </a:pPr>
            <a:r>
              <a:t>MOBIUS BOOTCAMP 1기 | PBL 결과발표 | 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08. 향후 계획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4572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1133856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00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560320"/>
            <a:ext cx="10515600" cy="45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286000" y="2423160"/>
            <a:ext cx="320040" cy="320040"/>
          </a:xfrm>
          <a:prstGeom prst="ellipse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1645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3366"/>
                </a:solidFill>
              </a:defRPr>
            </a:pPr>
            <a:r>
              <a:t>1단계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11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</a:defRPr>
            </a:pPr>
            <a:r>
              <a:rPr sz="1000">
                <a:latin typeface="Malgun Gothic"/>
              </a:rPr>
              <a:t>CAN / CAN-FD 기반 도어 ECU 실시간 제어
다중 제어기 통합 시그널 최적화 연동
★ 차량 네트워크 통신 스택 통합 검증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9260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다중 제어기 통합 시그널 최적화 연동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0" y="2423160"/>
            <a:ext cx="320040" cy="320040"/>
          </a:xfrm>
          <a:prstGeom prst="ellipse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1645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3366"/>
                </a:solidFill>
              </a:defRPr>
            </a:pPr>
            <a:r>
              <a:t>2단계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011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</a:defRPr>
            </a:pPr>
            <a:r>
              <a:rPr sz="1000">
                <a:latin typeface="Malgun Gothic"/>
              </a:rPr>
              <a:t>LiDAR / Radar 복합 센서 데이터 퓨전
TTC(Time-to-Collision) 기반 위험도 고도화
★ 오탐률 최소화 히스테리시스 알고리즘 고도화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9260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결합 시나리오 확장 및 판단 신뢰성 증대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0" y="2423160"/>
            <a:ext cx="320040" cy="320040"/>
          </a:xfrm>
          <a:prstGeom prst="ellipse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79" y="1645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3366"/>
                </a:solidFill>
              </a:defRPr>
            </a:pPr>
            <a:r>
              <a:t>3단계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2011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</a:defRPr>
            </a:pPr>
            <a:r>
              <a:rPr sz="1000">
                <a:latin typeface="Malgun Gothic"/>
              </a:rPr>
              <a:t>도어 제어 ECU 타겟 하드웨어 포팅 (AUTOSAR RTE)
HIL(Hardware-in-the-Loop) 환경 검증
★ ISO 26262 ASIL B 인증 준비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29260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</a:defRPr>
            </a:pPr>
            <a:r>
              <a:t>제어기 로직 고도화 적용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114800"/>
            <a:ext cx="5486400" cy="2194560"/>
          </a:xfrm>
          <a:prstGeom prst="roundRect">
            <a:avLst/>
          </a:prstGeom>
          <a:solidFill>
            <a:srgbClr val="F0FFF0"/>
          </a:solidFill>
          <a:ln>
            <a:solidFill>
              <a:srgbClr val="64B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2062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C8C3C"/>
                </a:solidFill>
              </a:defRPr>
            </a:pPr>
            <a:r>
              <a:t>실무 적용 가능성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6634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0357E"/>
                </a:solidFill>
                <a:latin typeface="Malgun Gothic"/>
              </a:rPr>
              <a:t>🚗 현대모비스 차세대 통합 하차 안전 제어기 모듈 적용 가능</a:t>
            </a:r>
          </a:p>
          <a:p>
            <a:r>
              <a:rPr sz="1000" b="0">
                <a:solidFill>
                  <a:srgbClr val="1A1A2E"/>
                </a:solidFill>
                <a:latin typeface="Malgun Gothic"/>
              </a:rPr>
              <a:t>• 기존 기계식 차일드 락 대체 → 비용 절감 + 안전성 향상</a:t>
            </a:r>
          </a:p>
          <a:p>
            <a:r>
              <a:rPr sz="1000" b="0">
                <a:solidFill>
                  <a:srgbClr val="1A1A2E"/>
                </a:solidFill>
                <a:latin typeface="Malgun Gothic"/>
              </a:rPr>
              <a:t>• ASIL B 인증으로 글로벌 완성차 OEM 납품 가능</a:t>
            </a:r>
          </a:p>
          <a:p>
            <a:r>
              <a:rPr sz="1000" b="0">
                <a:solidFill>
                  <a:srgbClr val="1A1A2E"/>
                </a:solidFill>
                <a:latin typeface="Malgun Gothic"/>
              </a:rPr>
              <a:t>• V2X 연동 확장 시 원격 잠금/해제 상업화 가능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4114800"/>
            <a:ext cx="5669280" cy="2194560"/>
          </a:xfrm>
          <a:prstGeom prst="roundRect">
            <a:avLst/>
          </a:prstGeom>
          <a:solidFill>
            <a:srgbClr val="F8F8FF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42062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</a:defRPr>
            </a:pPr>
            <a:r>
              <a:t>추가 개발 아이디어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466344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05BB5"/>
                </a:solidFill>
                <a:latin typeface="Malgun Gothic"/>
              </a:rPr>
              <a:t>💡 아이디어 1: BLE 스마트폰 앱 연동 강제 오버라이드</a:t>
            </a:r>
          </a:p>
          <a:p>
            <a:r>
              <a:rPr sz="1000" b="0">
                <a:solidFill>
                  <a:srgbClr val="1A1A2E"/>
                </a:solidFill>
                <a:latin typeface="Malgun Gothic"/>
              </a:rPr>
              <a:t>   • 부모 앱에서 원격 잠금/해제 + 긴급 해제 알림</a:t>
            </a:r>
          </a:p>
          <a:p>
            <a:r>
              <a:rPr sz="1100" b="1">
                <a:solidFill>
                  <a:srgbClr val="005BB5"/>
                </a:solidFill>
                <a:latin typeface="Malgun Gothic"/>
              </a:rPr>
              <a:t>💡 아이디어 2: AI 기반 영유아 방치 감지</a:t>
            </a:r>
          </a:p>
          <a:p>
            <a:r>
              <a:rPr sz="1000" b="0">
                <a:solidFill>
                  <a:srgbClr val="1A1A2E"/>
                </a:solidFill>
                <a:latin typeface="Malgun Gothic"/>
              </a:rPr>
              <a:t>   • 좌석 점유 + 온도 + 시간 복합 분석 → 방치 사고 예방</a:t>
            </a:r>
          </a:p>
          <a:p>
            <a:r>
              <a:rPr sz="1100" b="1">
                <a:solidFill>
                  <a:srgbClr val="005BB5"/>
                </a:solidFill>
                <a:latin typeface="Malgun Gothic"/>
              </a:rPr>
              <a:t>💡 아이디어 3: OTA 업데이트로 임계값 동적 조정</a:t>
            </a:r>
          </a:p>
          <a:p>
            <a:r>
              <a:rPr sz="1000" b="0">
                <a:solidFill>
                  <a:srgbClr val="1A1A2E"/>
                </a:solidFill>
                <a:latin typeface="Malgun Gothic"/>
              </a:rPr>
              <a:t>   • Safety Goal 변경 없이 파라미터($UNLOCK_INHIBIT_SPEED 등) 업데이트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583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</a:defRPr>
            </a:pPr>
            <a:r>
              <a:t>MOBIUS BOOTCAMP 1기 | PBL 결과발표 | 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0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3657600"/>
            <a:ext cx="4572000" cy="4572000"/>
          </a:xfrm>
          <a:prstGeom prst="ellipse">
            <a:avLst/>
          </a:prstGeom>
          <a:solidFill>
            <a:srgbClr val="00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286000"/>
            <a:ext cx="12188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Q &amp;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47472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B4C8DC"/>
                </a:solidFill>
              </a:defRPr>
            </a:pPr>
            <a:r>
              <a:t>질문과 답변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02920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전차 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48640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4C8DC"/>
                </a:solidFill>
              </a:defRPr>
            </a:pPr>
            <a:r>
              <a:t>감사합니다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21792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6AABE"/>
                </a:solidFill>
              </a:defRPr>
            </a:pPr>
            <a:r>
              <a:t>MOBIUS BOOTCAMP 1기 | 현대모비스 x LIKELION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